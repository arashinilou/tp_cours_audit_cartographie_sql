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t>Dernier passage Spark</a:t>
            </a:r>
          </a:p>
        </c:rich>
      </c:tx>
      <c:layout/>
      <c:overlay val="0"/>
    </c:title>
    <c:autoTitleDeleted val="0"/>
    <c:plotArea>
      <c:barChart>
        <c:barDir val="col"/>
        <c:grouping val="clustered"/>
        <c:ser>
          <c:idx val="0"/>
          <c:order val="0"/>
          <c:tx>
            <c:strRef>
              <c:f>Sheet1!$B$1</c:f>
              <c:strCache>
                <c:ptCount val="1"/>
                <c:pt idx="0">
                  <c:v>Dernier passage Spark</c:v>
                </c:pt>
              </c:strCache>
            </c:strRef>
          </c:tx>
          <c:spPr>
            <a:solidFill>
              <a:srgbClr val="2563EB"/>
            </a:solidFill>
          </c:spPr>
          <c:cat>
            <c:strRef>
              <c:f>Sheet1!$A$2:$A$4</c:f>
              <c:strCache>
                <c:ptCount val="3"/>
                <c:pt idx="0">
                  <c:v>Brutes</c:v>
                </c:pt>
                <c:pt idx="1">
                  <c:v>Propres</c:v>
                </c:pt>
                <c:pt idx="2">
                  <c:v>Rejetées</c:v>
                </c:pt>
              </c:strCache>
            </c:strRef>
          </c:cat>
          <c:val>
            <c:numRef>
              <c:f>Sheet1!$B$2:$B$4</c:f>
              <c:numCache>
                <c:formatCode>General</c:formatCode>
                <c:ptCount val="3"/>
                <c:pt idx="0">
                  <c:v>58</c:v>
                </c:pt>
                <c:pt idx="1">
                  <c:v>55</c:v>
                </c:pt>
                <c:pt idx="2">
                  <c:v>2</c:v>
                </c:pt>
              </c:numCache>
            </c:numRef>
          </c:val>
        </c:ser>
        <c:dLbls>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t>Offres par type de contrat</a:t>
            </a:r>
          </a:p>
        </c:rich>
      </c:tx>
      <c:layout/>
      <c:overlay val="0"/>
    </c:title>
    <c:autoTitleDeleted val="0"/>
    <c:plotArea>
      <c:barChart>
        <c:barDir val="col"/>
        <c:grouping val="clustered"/>
        <c:ser>
          <c:idx val="0"/>
          <c:order val="0"/>
          <c:tx>
            <c:strRef>
              <c:f>Sheet1!$B$1</c:f>
              <c:strCache>
                <c:ptCount val="1"/>
                <c:pt idx="0">
                  <c:v>Offres par type de contrat</c:v>
                </c:pt>
              </c:strCache>
            </c:strRef>
          </c:tx>
          <c:spPr>
            <a:solidFill>
              <a:srgbClr val="1E3A8A"/>
            </a:solidFill>
          </c:spPr>
          <c:cat>
            <c:strRef>
              <c:f>Sheet1!$A$2:$A$4</c:f>
              <c:strCache>
                <c:ptCount val="3"/>
                <c:pt idx="0">
                  <c:v>CDI</c:v>
                </c:pt>
                <c:pt idx="1">
                  <c:v>CDD</c:v>
                </c:pt>
                <c:pt idx="2">
                  <c:v>Intérim (MIS)</c:v>
                </c:pt>
              </c:strCache>
            </c:strRef>
          </c:cat>
          <c:val>
            <c:numRef>
              <c:f>Sheet1!$B$2:$B$4</c:f>
              <c:numCache>
                <c:formatCode>General</c:formatCode>
                <c:ptCount val="3"/>
                <c:pt idx="0">
                  <c:v>38</c:v>
                </c:pt>
                <c:pt idx="1">
                  <c:v>15</c:v>
                </c:pt>
                <c:pt idx="2">
                  <c:v>5</c:v>
                </c:pt>
              </c:numCache>
            </c:numRef>
          </c:val>
        </c:ser>
        <c:dLbls>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t>Compétences les plus demandées</a:t>
            </a:r>
          </a:p>
        </c:rich>
      </c:tx>
      <c:layout/>
      <c:overlay val="0"/>
    </c:title>
    <c:autoTitleDeleted val="0"/>
    <c:plotArea>
      <c:barChart>
        <c:barDir val="bar"/>
        <c:grouping val="clustered"/>
        <c:ser>
          <c:idx val="0"/>
          <c:order val="0"/>
          <c:tx>
            <c:strRef>
              <c:f>Sheet1!$B$1</c:f>
              <c:strCache>
                <c:ptCount val="1"/>
                <c:pt idx="0">
                  <c:v>Compétences les plus demandées</c:v>
                </c:pt>
              </c:strCache>
            </c:strRef>
          </c:tx>
          <c:spPr>
            <a:solidFill>
              <a:srgbClr val="16A34A"/>
            </a:solidFill>
          </c:spPr>
          <c:cat>
            <c:strRef>
              <c:f>Sheet1!$A$2:$A$7</c:f>
              <c:strCache>
                <c:ptCount val="6"/>
                <c:pt idx="0">
                  <c:v>Analyser, exploiter, structurer des données</c:v>
                </c:pt>
                <c:pt idx="1">
                  <c:v>Adapter les outils de traitement statistique</c:v>
                </c:pt>
                <c:pt idx="2">
                  <c:v>Définir et faire évoluer des procédés de traitement</c:v>
                </c:pt>
                <c:pt idx="3">
                  <c:v>Recueillir et analyser les besoins client</c:v>
                </c:pt>
                <c:pt idx="4">
                  <c:v>Communiquer les résultats des études</c:v>
                </c:pt>
                <c:pt idx="5">
                  <c:v>Langage SQL</c:v>
                </c:pt>
              </c:strCache>
            </c:strRef>
          </c:cat>
          <c:val>
            <c:numRef>
              <c:f>Sheet1!$B$2:$B$7</c:f>
              <c:numCache>
                <c:formatCode>General</c:formatCode>
                <c:ptCount val="6"/>
                <c:pt idx="0">
                  <c:v>17</c:v>
                </c:pt>
                <c:pt idx="1">
                  <c:v>15</c:v>
                </c:pt>
                <c:pt idx="2">
                  <c:v>9</c:v>
                </c:pt>
                <c:pt idx="3">
                  <c:v>6</c:v>
                </c:pt>
                <c:pt idx="4">
                  <c:v>6</c:v>
                </c:pt>
                <c:pt idx="5">
                  <c:v>3</c:v>
                </c:pt>
              </c:numCache>
            </c:numRef>
          </c:val>
        </c:ser>
        <c:dLbls>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vais vous présenter mes deux TP, qui forment un seul projet : partir des offres d'emploi publiées par France Travail pour savoir quelles compétences numériques sont les plus recherchées, et où. Le TP1 porte sur l'audit et la modélisation, le TP2 sur l'automatisation complète de la chaîne de données.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de départ est une question métier simple. Les offres d'emploi sont une mine d'information, mais elles arrivent en JSON imbriqué et hétérogène. Il faut donc les structurer pour pouvoir y répondre de façon fiable et à jour.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vais d'abord présenter le TP1, puis le TP2 qui le prolonge, avant une démonstration en direct et un bilan.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source est l'API officielle Offres d'emploi v2 de France Travail, accessible en OAuth2. Chaque offre est un JSON imbriqué qui contient déjà le métier ROME, la commune INSEE, l'entreprise, le salaire en texte libre et la liste des compétences.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L'audit a révélé plusieurs problèmes de qualité. Pour chacun, j'ai choisi une règle de traitement explicite, implémentée dans src/ingest.py puis réutilisée par Spark au TP2.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dictionnaire de données recense tous les champs retenus, avec leur type SQL, un exemple et leurs contraintes. Il aboutit à six entités, dont une table d'association pour la relation plusieurs-à-plusieurs entre offres et compétences.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modèle conceptuel. Une offre est localisée dans une seule commune, publiée par une seule entreprise et classée dans un seul métier ROME. En revanche, une offre porte plusieurs compétences et une compétence est demandée par plusieurs offres : c'est une relation N,N, portée par l'association EXIGENCE avec l'attribut statut_exigence.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modèle logique traduit le MCD en tables PostgreSQL. Chaque table a une clé primaire, les relations sont des clés étrangères avec des règles ON DELETE, et des contraintes CHECK garantissent la validité des codes INSEE, ROME et des types de contrat. Le modèle est en troisième forme normale : aucun attribut ne dépend d'autre chose que de la clé.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TP2 automatise toute la chaîne. L'API France Travail est interrogée en continu et les offres passent par Kafka. Elles sont agrégées avec le référentiel des communes, stockées brutes dans le Data Lake, nettoyées par PySpark, chargées dans PostgreSQL puis affichées dans Metabase et Plotly Dash. Prometheus et Grafana supervisent l'ensemble.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première source est l'API France Travail, interrogée toutes les 15 minutes par le producer, qui publie chaque offre dans Kafka. La seconde est l'API Géo du gouvernement, qui fournit le référentiel officiel des communes. Le lien métier entre les deux est le code INSEE : il permet de corriger le nom de la commune et d'obtenir ses coordonnées GPS officielles.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L'agrégateur lit Kafka, écrit d'abord l'offre brute sans jamais l'écraser, puis l'enrichit avec la commune et écrit la version agrégée. Il ne valide le message Kafka qu'après ces écritures : aucune offre n'est perdue. Le Data Lake est un volume Docker organisé en zones.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Toutes les 30 minutes, PySpark lit les données agrégées, contrôle les types, gère les valeurs manquantes et les doublons, écrit le Parquet propre et met les rejets en quarantaine. Il charge ensuite les tables du TP1. Chaque passage est tracé avec les compteurs brut, propre et rejeté : c'est l'indicateur Raw vs Clean.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L'ensemble de la plateforme est décrit dans docker-compose.yml. Une seule commande démarre les seize services. Les données sont conservées dans cinq volumes nommés, et les configurations sont versionnées dans le dépôt.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données propres sont exploitées dans deux outils branchés sur PostgreSQL : Metabase pour le dashboard métier, et une application Plotly Dash interactive avec filtres et carte. Les chiffres affichés ici sont les vrais résultats du pipeline : le CDI domine, et les compétences d'analyse et de structuration des données sont les plus demandées.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plateforme est observable. Prometheus collecte les métriques de tous les services et Grafana les affiche dans un dashboard provisionné automatiquement. On y suit l'infrastructure, PostgreSQL et surtout le volume de données brutes et propres, ce qui prouve que les données collectées sont bien traitées et chargées.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démonstration, je suis une seule offre sur toute la chaîne. Je la retrouve dans Kafka UI, puis en fichier brut dans le Data Lake, je lance un batch Spark, et je la retrouve dans PostgreSQL et dans les dashboards. Je termine par Grafana pour montrer qu'elle a bien été comptée dans l'indicateur Raw vs Clean.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 la plateforme est automatisée, reproductible et observable, et elle réutilise directement la modélisation du TP1. Les principales difficultés ont été techniques : le retrait des images Bitnami, la configuration de Spark et la garantie de l'idempotence. Parmi les améliorations possibles : Delta Lake, des alertes Grafana et une collecte plus large. Merci, je suis prêt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2.xml"/><Relationship Id="rId4"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246120"/>
            <a:ext cx="1463040" cy="73152"/>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515600" cy="1097280"/>
          </a:xfrm>
          <a:prstGeom prst="rect">
            <a:avLst/>
          </a:prstGeom>
          <a:noFill/>
        </p:spPr>
        <p:txBody>
          <a:bodyPr wrap="square" anchor="t" lIns="45720" rIns="45720">
            <a:spAutoFit/>
          </a:bodyPr>
          <a:lstStyle/>
          <a:p>
            <a:pPr algn="l"/>
            <a:r>
              <a:rPr sz="4400" b="1">
                <a:solidFill>
                  <a:srgbClr val="FFFFFF"/>
                </a:solidFill>
                <a:latin typeface="Segoe UI"/>
              </a:rPr>
              <a:t>Compétences numériques</a:t>
            </a:r>
          </a:p>
        </p:txBody>
      </p:sp>
      <p:sp>
        <p:nvSpPr>
          <p:cNvPr id="5" name="TextBox 4"/>
          <p:cNvSpPr txBox="1"/>
          <p:nvPr/>
        </p:nvSpPr>
        <p:spPr>
          <a:xfrm>
            <a:off x="731520" y="2240280"/>
            <a:ext cx="10515600" cy="914400"/>
          </a:xfrm>
          <a:prstGeom prst="rect">
            <a:avLst/>
          </a:prstGeom>
          <a:noFill/>
        </p:spPr>
        <p:txBody>
          <a:bodyPr wrap="square" anchor="t" lIns="45720" rIns="45720">
            <a:spAutoFit/>
          </a:bodyPr>
          <a:lstStyle/>
          <a:p>
            <a:pPr algn="l"/>
            <a:r>
              <a:rPr sz="2800" b="0">
                <a:solidFill>
                  <a:srgbClr val="BFDBFE"/>
                </a:solidFill>
                <a:latin typeface="Segoe UI"/>
              </a:rPr>
              <a:t>Du fichier brut à la plateforme data temps réel</a:t>
            </a:r>
          </a:p>
        </p:txBody>
      </p:sp>
      <p:sp>
        <p:nvSpPr>
          <p:cNvPr id="6" name="TextBox 5"/>
          <p:cNvSpPr txBox="1"/>
          <p:nvPr/>
        </p:nvSpPr>
        <p:spPr>
          <a:xfrm>
            <a:off x="731520" y="3566160"/>
            <a:ext cx="10515600" cy="1097280"/>
          </a:xfrm>
          <a:prstGeom prst="rect">
            <a:avLst/>
          </a:prstGeom>
          <a:noFill/>
        </p:spPr>
        <p:txBody>
          <a:bodyPr wrap="square" anchor="t" lIns="45720" rIns="45720">
            <a:spAutoFit/>
          </a:bodyPr>
          <a:lstStyle/>
          <a:p>
            <a:pPr algn="l"/>
            <a:r>
              <a:rPr sz="2000" b="0">
                <a:solidFill>
                  <a:srgbClr val="FFFFFF"/>
                </a:solidFill>
                <a:latin typeface="Segoe UI"/>
              </a:rPr>
              <a:t>TP1 — Audit, cartographie et modélisation des données</a:t>
            </a:r>
          </a:p>
          <a:p>
            <a:pPr algn="l"/>
            <a:r>
              <a:rPr sz="2000" b="0">
                <a:solidFill>
                  <a:srgbClr val="FFFFFF"/>
                </a:solidFill>
                <a:latin typeface="Segoe UI"/>
              </a:rPr>
              <a:t>TP2 — Pipeline data temps réel et plateforme observable</a:t>
            </a:r>
          </a:p>
        </p:txBody>
      </p:sp>
      <p:sp>
        <p:nvSpPr>
          <p:cNvPr id="7" name="TextBox 6"/>
          <p:cNvSpPr txBox="1"/>
          <p:nvPr/>
        </p:nvSpPr>
        <p:spPr>
          <a:xfrm>
            <a:off x="731520" y="5394960"/>
            <a:ext cx="10515600" cy="822960"/>
          </a:xfrm>
          <a:prstGeom prst="rect">
            <a:avLst/>
          </a:prstGeom>
          <a:noFill/>
        </p:spPr>
        <p:txBody>
          <a:bodyPr wrap="square" anchor="t" lIns="45720" rIns="45720">
            <a:spAutoFit/>
          </a:bodyPr>
          <a:lstStyle/>
          <a:p>
            <a:pPr algn="l"/>
            <a:r>
              <a:rPr sz="1400" b="0">
                <a:solidFill>
                  <a:srgbClr val="BFDBFE"/>
                </a:solidFill>
                <a:latin typeface="Segoe UI"/>
              </a:rPr>
              <a:t>[Votre nom]  •  [Nom du cours]  •  [Date]</a:t>
            </a:r>
          </a:p>
          <a:p>
            <a:pPr algn="l"/>
            <a:r>
              <a:rPr sz="1400" b="0">
                <a:solidFill>
                  <a:srgbClr val="BFDBFE"/>
                </a:solidFill>
                <a:latin typeface="Segoe UI"/>
              </a:rPr>
              <a:t>Dépôt : github.com/ArashiNilou/TP_Cours_Audit_Cartographie_SQL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Problématique</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Introduction</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2 / 17</a:t>
            </a:r>
          </a:p>
        </p:txBody>
      </p:sp>
      <p:sp>
        <p:nvSpPr>
          <p:cNvPr id="8" name="Rounded Rectangle 7"/>
          <p:cNvSpPr/>
          <p:nvPr/>
        </p:nvSpPr>
        <p:spPr>
          <a:xfrm>
            <a:off x="731520" y="1371600"/>
            <a:ext cx="10698480" cy="1371600"/>
          </a:xfrm>
          <a:prstGeom prst="roundRect">
            <a:avLst>
              <a:gd name="adj" fmla="val 8000"/>
            </a:avLst>
          </a:prstGeom>
          <a:solidFill>
            <a:srgbClr val="EFF6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2400" b="1">
                <a:solidFill>
                  <a:srgbClr val="1E3A8A"/>
                </a:solidFill>
                <a:latin typeface="Segoe UI"/>
              </a:rPr>
              <a:t>Quelles compétences numériques sont les plus recherchées, par type de contrat et par territoire ?</a:t>
            </a:r>
          </a:p>
        </p:txBody>
      </p:sp>
      <p:sp>
        <p:nvSpPr>
          <p:cNvPr id="9" name="Rounded Rectangle 8"/>
          <p:cNvSpPr/>
          <p:nvPr/>
        </p:nvSpPr>
        <p:spPr>
          <a:xfrm>
            <a:off x="731520" y="3200400"/>
            <a:ext cx="3383280" cy="2560320"/>
          </a:xfrm>
          <a:prstGeom prst="roundRect">
            <a:avLst>
              <a:gd name="adj" fmla="val 4285"/>
            </a:avLst>
          </a:prstGeom>
          <a:solidFill>
            <a:srgbClr val="FFFFFF"/>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383280"/>
            <a:ext cx="3017520" cy="548640"/>
          </a:xfrm>
          <a:prstGeom prst="rect">
            <a:avLst/>
          </a:prstGeom>
          <a:noFill/>
        </p:spPr>
        <p:txBody>
          <a:bodyPr wrap="square" anchor="t" lIns="45720" rIns="45720">
            <a:spAutoFit/>
          </a:bodyPr>
          <a:lstStyle/>
          <a:p>
            <a:pPr algn="ctr"/>
            <a:r>
              <a:rPr sz="2000" b="1">
                <a:solidFill>
                  <a:srgbClr val="2563EB"/>
                </a:solidFill>
                <a:latin typeface="Segoe UI"/>
              </a:rPr>
              <a:t>Opérateurs de l'emploi</a:t>
            </a:r>
          </a:p>
        </p:txBody>
      </p:sp>
      <p:sp>
        <p:nvSpPr>
          <p:cNvPr id="11" name="TextBox 10"/>
          <p:cNvSpPr txBox="1"/>
          <p:nvPr/>
        </p:nvSpPr>
        <p:spPr>
          <a:xfrm>
            <a:off x="914400" y="4114800"/>
            <a:ext cx="3017520" cy="1463040"/>
          </a:xfrm>
          <a:prstGeom prst="rect">
            <a:avLst/>
          </a:prstGeom>
          <a:noFill/>
        </p:spPr>
        <p:txBody>
          <a:bodyPr wrap="square" anchor="t" lIns="45720" rIns="45720">
            <a:spAutoFit/>
          </a:bodyPr>
          <a:lstStyle/>
          <a:p>
            <a:pPr algn="ctr"/>
            <a:r>
              <a:rPr sz="1600" b="0">
                <a:solidFill>
                  <a:srgbClr val="111827"/>
                </a:solidFill>
                <a:latin typeface="Segoe UI"/>
              </a:rPr>
              <a:t>Orienter les formations vers les compétences en tension</a:t>
            </a:r>
          </a:p>
        </p:txBody>
      </p:sp>
      <p:sp>
        <p:nvSpPr>
          <p:cNvPr id="12" name="Rounded Rectangle 11"/>
          <p:cNvSpPr/>
          <p:nvPr/>
        </p:nvSpPr>
        <p:spPr>
          <a:xfrm>
            <a:off x="4389120" y="3200400"/>
            <a:ext cx="3383280" cy="2560320"/>
          </a:xfrm>
          <a:prstGeom prst="roundRect">
            <a:avLst>
              <a:gd name="adj" fmla="val 4285"/>
            </a:avLst>
          </a:prstGeom>
          <a:solidFill>
            <a:srgbClr val="FFFFFF"/>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3383280"/>
            <a:ext cx="3017520" cy="548640"/>
          </a:xfrm>
          <a:prstGeom prst="rect">
            <a:avLst/>
          </a:prstGeom>
          <a:noFill/>
        </p:spPr>
        <p:txBody>
          <a:bodyPr wrap="square" anchor="t" lIns="45720" rIns="45720">
            <a:spAutoFit/>
          </a:bodyPr>
          <a:lstStyle/>
          <a:p>
            <a:pPr algn="ctr"/>
            <a:r>
              <a:rPr sz="2000" b="1">
                <a:solidFill>
                  <a:srgbClr val="2563EB"/>
                </a:solidFill>
                <a:latin typeface="Segoe UI"/>
              </a:rPr>
              <a:t>Collectivités</a:t>
            </a:r>
          </a:p>
        </p:txBody>
      </p:sp>
      <p:sp>
        <p:nvSpPr>
          <p:cNvPr id="14" name="TextBox 13"/>
          <p:cNvSpPr txBox="1"/>
          <p:nvPr/>
        </p:nvSpPr>
        <p:spPr>
          <a:xfrm>
            <a:off x="4572000" y="4114800"/>
            <a:ext cx="3017520" cy="1463040"/>
          </a:xfrm>
          <a:prstGeom prst="rect">
            <a:avLst/>
          </a:prstGeom>
          <a:noFill/>
        </p:spPr>
        <p:txBody>
          <a:bodyPr wrap="square" anchor="t" lIns="45720" rIns="45720">
            <a:spAutoFit/>
          </a:bodyPr>
          <a:lstStyle/>
          <a:p>
            <a:pPr algn="ctr"/>
            <a:r>
              <a:rPr sz="1600" b="0">
                <a:solidFill>
                  <a:srgbClr val="111827"/>
                </a:solidFill>
                <a:latin typeface="Segoe UI"/>
              </a:rPr>
              <a:t>Identifier les bassins d'emploi dynamiques</a:t>
            </a:r>
          </a:p>
        </p:txBody>
      </p:sp>
      <p:sp>
        <p:nvSpPr>
          <p:cNvPr id="15" name="Rounded Rectangle 14"/>
          <p:cNvSpPr/>
          <p:nvPr/>
        </p:nvSpPr>
        <p:spPr>
          <a:xfrm>
            <a:off x="8046720" y="3200400"/>
            <a:ext cx="3383280" cy="2560320"/>
          </a:xfrm>
          <a:prstGeom prst="roundRect">
            <a:avLst>
              <a:gd name="adj" fmla="val 4285"/>
            </a:avLst>
          </a:prstGeom>
          <a:solidFill>
            <a:srgbClr val="FFFFFF"/>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3383280"/>
            <a:ext cx="3017520" cy="548640"/>
          </a:xfrm>
          <a:prstGeom prst="rect">
            <a:avLst/>
          </a:prstGeom>
          <a:noFill/>
        </p:spPr>
        <p:txBody>
          <a:bodyPr wrap="square" anchor="t" lIns="45720" rIns="45720">
            <a:spAutoFit/>
          </a:bodyPr>
          <a:lstStyle/>
          <a:p>
            <a:pPr algn="ctr"/>
            <a:r>
              <a:rPr sz="2000" b="1">
                <a:solidFill>
                  <a:srgbClr val="2563EB"/>
                </a:solidFill>
                <a:latin typeface="Segoe UI"/>
              </a:rPr>
              <a:t>Recruteurs</a:t>
            </a:r>
          </a:p>
        </p:txBody>
      </p:sp>
      <p:sp>
        <p:nvSpPr>
          <p:cNvPr id="17" name="TextBox 16"/>
          <p:cNvSpPr txBox="1"/>
          <p:nvPr/>
        </p:nvSpPr>
        <p:spPr>
          <a:xfrm>
            <a:off x="8229600" y="4114800"/>
            <a:ext cx="3017520" cy="1463040"/>
          </a:xfrm>
          <a:prstGeom prst="rect">
            <a:avLst/>
          </a:prstGeom>
          <a:noFill/>
        </p:spPr>
        <p:txBody>
          <a:bodyPr wrap="square" anchor="t" lIns="45720" rIns="45720">
            <a:spAutoFit/>
          </a:bodyPr>
          <a:lstStyle/>
          <a:p>
            <a:pPr algn="ctr"/>
            <a:r>
              <a:rPr sz="1600" b="0">
                <a:solidFill>
                  <a:srgbClr val="111827"/>
                </a:solidFill>
                <a:latin typeface="Segoe UI"/>
              </a:rPr>
              <a:t>Adapter le sourcing et les salaires proposés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Plan de la présentation</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Introduction</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3 / 17</a:t>
            </a:r>
          </a:p>
        </p:txBody>
      </p:sp>
      <p:sp>
        <p:nvSpPr>
          <p:cNvPr id="8" name="Oval 7"/>
          <p:cNvSpPr/>
          <p:nvPr/>
        </p:nvSpPr>
        <p:spPr>
          <a:xfrm>
            <a:off x="1371600" y="1371600"/>
            <a:ext cx="1005840" cy="1005840"/>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2800" b="1">
                <a:solidFill>
                  <a:srgbClr val="FFFFFF"/>
                </a:solidFill>
                <a:latin typeface="Segoe UI"/>
              </a:rPr>
              <a:t>1</a:t>
            </a:r>
          </a:p>
        </p:txBody>
      </p:sp>
      <p:sp>
        <p:nvSpPr>
          <p:cNvPr id="9" name="TextBox 8"/>
          <p:cNvSpPr txBox="1"/>
          <p:nvPr/>
        </p:nvSpPr>
        <p:spPr>
          <a:xfrm>
            <a:off x="2743200" y="1417320"/>
            <a:ext cx="7772400" cy="502920"/>
          </a:xfrm>
          <a:prstGeom prst="rect">
            <a:avLst/>
          </a:prstGeom>
          <a:noFill/>
        </p:spPr>
        <p:txBody>
          <a:bodyPr wrap="square" anchor="t" lIns="45720" rIns="45720">
            <a:spAutoFit/>
          </a:bodyPr>
          <a:lstStyle/>
          <a:p>
            <a:pPr algn="l"/>
            <a:r>
              <a:rPr sz="2400" b="1">
                <a:solidFill>
                  <a:srgbClr val="1E3A8A"/>
                </a:solidFill>
                <a:latin typeface="Segoe UI"/>
              </a:rPr>
              <a:t>TP1</a:t>
            </a:r>
          </a:p>
        </p:txBody>
      </p:sp>
      <p:sp>
        <p:nvSpPr>
          <p:cNvPr id="10" name="TextBox 9"/>
          <p:cNvSpPr txBox="1"/>
          <p:nvPr/>
        </p:nvSpPr>
        <p:spPr>
          <a:xfrm>
            <a:off x="2743200" y="1874519"/>
            <a:ext cx="7772400" cy="457200"/>
          </a:xfrm>
          <a:prstGeom prst="rect">
            <a:avLst/>
          </a:prstGeom>
          <a:noFill/>
        </p:spPr>
        <p:txBody>
          <a:bodyPr wrap="square" anchor="t" lIns="45720" rIns="45720">
            <a:spAutoFit/>
          </a:bodyPr>
          <a:lstStyle/>
          <a:p>
            <a:pPr algn="l"/>
            <a:r>
              <a:rPr sz="1700" b="0">
                <a:solidFill>
                  <a:srgbClr val="6B7280"/>
                </a:solidFill>
                <a:latin typeface="Segoe UI"/>
              </a:rPr>
              <a:t>Audit, cartographie et modélisation 3NF</a:t>
            </a:r>
          </a:p>
        </p:txBody>
      </p:sp>
      <p:sp>
        <p:nvSpPr>
          <p:cNvPr id="11" name="Oval 10"/>
          <p:cNvSpPr/>
          <p:nvPr/>
        </p:nvSpPr>
        <p:spPr>
          <a:xfrm>
            <a:off x="1371600" y="2606040"/>
            <a:ext cx="1005840" cy="100584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2800" b="1">
                <a:solidFill>
                  <a:srgbClr val="FFFFFF"/>
                </a:solidFill>
                <a:latin typeface="Segoe UI"/>
              </a:rPr>
              <a:t>2</a:t>
            </a:r>
          </a:p>
        </p:txBody>
      </p:sp>
      <p:sp>
        <p:nvSpPr>
          <p:cNvPr id="12" name="TextBox 11"/>
          <p:cNvSpPr txBox="1"/>
          <p:nvPr/>
        </p:nvSpPr>
        <p:spPr>
          <a:xfrm>
            <a:off x="2743200" y="2651760"/>
            <a:ext cx="7772400" cy="502920"/>
          </a:xfrm>
          <a:prstGeom prst="rect">
            <a:avLst/>
          </a:prstGeom>
          <a:noFill/>
        </p:spPr>
        <p:txBody>
          <a:bodyPr wrap="square" anchor="t" lIns="45720" rIns="45720">
            <a:spAutoFit/>
          </a:bodyPr>
          <a:lstStyle/>
          <a:p>
            <a:pPr algn="l"/>
            <a:r>
              <a:rPr sz="2400" b="1">
                <a:solidFill>
                  <a:srgbClr val="2563EB"/>
                </a:solidFill>
                <a:latin typeface="Segoe UI"/>
              </a:rPr>
              <a:t>TP2</a:t>
            </a:r>
          </a:p>
        </p:txBody>
      </p:sp>
      <p:sp>
        <p:nvSpPr>
          <p:cNvPr id="13" name="TextBox 12"/>
          <p:cNvSpPr txBox="1"/>
          <p:nvPr/>
        </p:nvSpPr>
        <p:spPr>
          <a:xfrm>
            <a:off x="2743200" y="3108960"/>
            <a:ext cx="7772400" cy="457200"/>
          </a:xfrm>
          <a:prstGeom prst="rect">
            <a:avLst/>
          </a:prstGeom>
          <a:noFill/>
        </p:spPr>
        <p:txBody>
          <a:bodyPr wrap="square" anchor="t" lIns="45720" rIns="45720">
            <a:spAutoFit/>
          </a:bodyPr>
          <a:lstStyle/>
          <a:p>
            <a:pPr algn="l"/>
            <a:r>
              <a:rPr sz="1700" b="0">
                <a:solidFill>
                  <a:srgbClr val="6B7280"/>
                </a:solidFill>
                <a:latin typeface="Segoe UI"/>
              </a:rPr>
              <a:t>Plateforme data temps réel automatisée</a:t>
            </a:r>
          </a:p>
        </p:txBody>
      </p:sp>
      <p:sp>
        <p:nvSpPr>
          <p:cNvPr id="14" name="Oval 13"/>
          <p:cNvSpPr/>
          <p:nvPr/>
        </p:nvSpPr>
        <p:spPr>
          <a:xfrm>
            <a:off x="1371600" y="3840480"/>
            <a:ext cx="1005840" cy="1005840"/>
          </a:xfrm>
          <a:prstGeom prst="ellipse">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2800" b="1">
                <a:solidFill>
                  <a:srgbClr val="FFFFFF"/>
                </a:solidFill>
                <a:latin typeface="Segoe UI"/>
              </a:rPr>
              <a:t>3</a:t>
            </a:r>
          </a:p>
        </p:txBody>
      </p:sp>
      <p:sp>
        <p:nvSpPr>
          <p:cNvPr id="15" name="TextBox 14"/>
          <p:cNvSpPr txBox="1"/>
          <p:nvPr/>
        </p:nvSpPr>
        <p:spPr>
          <a:xfrm>
            <a:off x="2743200" y="3886200"/>
            <a:ext cx="7772400" cy="502920"/>
          </a:xfrm>
          <a:prstGeom prst="rect">
            <a:avLst/>
          </a:prstGeom>
          <a:noFill/>
        </p:spPr>
        <p:txBody>
          <a:bodyPr wrap="square" anchor="t" lIns="45720" rIns="45720">
            <a:spAutoFit/>
          </a:bodyPr>
          <a:lstStyle/>
          <a:p>
            <a:pPr algn="l"/>
            <a:r>
              <a:rPr sz="2400" b="1">
                <a:solidFill>
                  <a:srgbClr val="16A34A"/>
                </a:solidFill>
                <a:latin typeface="Segoe UI"/>
              </a:rPr>
              <a:t>Démo</a:t>
            </a:r>
          </a:p>
        </p:txBody>
      </p:sp>
      <p:sp>
        <p:nvSpPr>
          <p:cNvPr id="16" name="TextBox 15"/>
          <p:cNvSpPr txBox="1"/>
          <p:nvPr/>
        </p:nvSpPr>
        <p:spPr>
          <a:xfrm>
            <a:off x="2743200" y="4343400"/>
            <a:ext cx="7772400" cy="457200"/>
          </a:xfrm>
          <a:prstGeom prst="rect">
            <a:avLst/>
          </a:prstGeom>
          <a:noFill/>
        </p:spPr>
        <p:txBody>
          <a:bodyPr wrap="square" anchor="t" lIns="45720" rIns="45720">
            <a:spAutoFit/>
          </a:bodyPr>
          <a:lstStyle/>
          <a:p>
            <a:pPr algn="l"/>
            <a:r>
              <a:rPr sz="1700" b="0">
                <a:solidFill>
                  <a:srgbClr val="6B7280"/>
                </a:solidFill>
                <a:latin typeface="Segoe UI"/>
              </a:rPr>
              <a:t>D'une offre collectée à sa visualisation</a:t>
            </a:r>
          </a:p>
        </p:txBody>
      </p:sp>
      <p:sp>
        <p:nvSpPr>
          <p:cNvPr id="17" name="Oval 16"/>
          <p:cNvSpPr/>
          <p:nvPr/>
        </p:nvSpPr>
        <p:spPr>
          <a:xfrm>
            <a:off x="1371600" y="5074920"/>
            <a:ext cx="1005840" cy="100584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2800" b="1">
                <a:solidFill>
                  <a:srgbClr val="FFFFFF"/>
                </a:solidFill>
                <a:latin typeface="Segoe UI"/>
              </a:rPr>
              <a:t>4</a:t>
            </a:r>
          </a:p>
        </p:txBody>
      </p:sp>
      <p:sp>
        <p:nvSpPr>
          <p:cNvPr id="18" name="TextBox 17"/>
          <p:cNvSpPr txBox="1"/>
          <p:nvPr/>
        </p:nvSpPr>
        <p:spPr>
          <a:xfrm>
            <a:off x="2743200" y="5120640"/>
            <a:ext cx="7772400" cy="502920"/>
          </a:xfrm>
          <a:prstGeom prst="rect">
            <a:avLst/>
          </a:prstGeom>
          <a:noFill/>
        </p:spPr>
        <p:txBody>
          <a:bodyPr wrap="square" anchor="t" lIns="45720" rIns="45720">
            <a:spAutoFit/>
          </a:bodyPr>
          <a:lstStyle/>
          <a:p>
            <a:pPr algn="l"/>
            <a:r>
              <a:rPr sz="2400" b="1">
                <a:solidFill>
                  <a:srgbClr val="EA580C"/>
                </a:solidFill>
                <a:latin typeface="Segoe UI"/>
              </a:rPr>
              <a:t>Bilan</a:t>
            </a:r>
          </a:p>
        </p:txBody>
      </p:sp>
      <p:sp>
        <p:nvSpPr>
          <p:cNvPr id="19" name="TextBox 18"/>
          <p:cNvSpPr txBox="1"/>
          <p:nvPr/>
        </p:nvSpPr>
        <p:spPr>
          <a:xfrm>
            <a:off x="2743200" y="5577840"/>
            <a:ext cx="7772400" cy="457200"/>
          </a:xfrm>
          <a:prstGeom prst="rect">
            <a:avLst/>
          </a:prstGeom>
          <a:noFill/>
        </p:spPr>
        <p:txBody>
          <a:bodyPr wrap="square" anchor="t" lIns="45720" rIns="45720">
            <a:spAutoFit/>
          </a:bodyPr>
          <a:lstStyle/>
          <a:p>
            <a:pPr algn="l"/>
            <a:r>
              <a:rPr sz="1700" b="0">
                <a:solidFill>
                  <a:srgbClr val="6B7280"/>
                </a:solidFill>
                <a:latin typeface="Segoe UI"/>
              </a:rPr>
              <a:t>Réussites, difficultés, améliorations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Source de données : API France Travail</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TP1 — Audit</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4 / 17</a:t>
            </a:r>
          </a:p>
        </p:txBody>
      </p:sp>
      <p:graphicFrame>
        <p:nvGraphicFramePr>
          <p:cNvPr id="8" name="Table 7"/>
          <p:cNvGraphicFramePr>
            <a:graphicFrameLocks noGrp="1"/>
          </p:cNvGraphicFramePr>
          <p:nvPr/>
        </p:nvGraphicFramePr>
        <p:xfrm>
          <a:off x="457200" y="1280160"/>
          <a:ext cx="5760720" cy="3840480"/>
        </p:xfrm>
        <a:graphic>
          <a:graphicData uri="http://schemas.openxmlformats.org/drawingml/2006/table">
            <a:tbl>
              <a:tblPr firstRow="1" bandRow="1">
                <a:tableStyleId>{5C22544A-7EE6-4342-B048-85BDC9FD1C3A}</a:tableStyleId>
              </a:tblPr>
              <a:tblGrid>
                <a:gridCol w="1828800"/>
                <a:gridCol w="3931920"/>
              </a:tblGrid>
              <a:tr h="548640">
                <a:tc>
                  <a:txBody>
                    <a:bodyPr/>
                    <a:lstStyle/>
                    <a:p>
                      <a:r>
                        <a:rPr sz="1400" b="1">
                          <a:solidFill>
                            <a:srgbClr val="FFFFFF"/>
                          </a:solidFill>
                          <a:latin typeface="Segoe UI"/>
                        </a:rPr>
                        <a:t>Caractéristique</a:t>
                      </a:r>
                    </a:p>
                  </a:txBody>
                  <a:tcPr marL="73152" marR="73152" anchor="ctr">
                    <a:solidFill>
                      <a:srgbClr val="1E3A8A"/>
                    </a:solidFill>
                  </a:tcPr>
                </a:tc>
                <a:tc>
                  <a:txBody>
                    <a:bodyPr/>
                    <a:lstStyle/>
                    <a:p>
                      <a:r>
                        <a:rPr sz="1400" b="1">
                          <a:solidFill>
                            <a:srgbClr val="FFFFFF"/>
                          </a:solidFill>
                          <a:latin typeface="Segoe UI"/>
                        </a:rPr>
                        <a:t>Valeur</a:t>
                      </a:r>
                    </a:p>
                  </a:txBody>
                  <a:tcPr marL="73152" marR="73152" anchor="ctr">
                    <a:solidFill>
                      <a:srgbClr val="1E3A8A"/>
                    </a:solidFill>
                  </a:tcPr>
                </a:tc>
              </a:tr>
              <a:tr h="548640">
                <a:tc>
                  <a:txBody>
                    <a:bodyPr/>
                    <a:lstStyle/>
                    <a:p>
                      <a:r>
                        <a:rPr sz="1400">
                          <a:solidFill>
                            <a:srgbClr val="111827"/>
                          </a:solidFill>
                          <a:latin typeface="Segoe UI"/>
                        </a:rPr>
                        <a:t>Organisation</a:t>
                      </a:r>
                    </a:p>
                  </a:txBody>
                  <a:tcPr marL="73152" marR="73152" anchor="ctr">
                    <a:solidFill>
                      <a:srgbClr val="EFF6FF"/>
                    </a:solidFill>
                  </a:tcPr>
                </a:tc>
                <a:tc>
                  <a:txBody>
                    <a:bodyPr/>
                    <a:lstStyle/>
                    <a:p>
                      <a:r>
                        <a:rPr sz="1400">
                          <a:solidFill>
                            <a:srgbClr val="111827"/>
                          </a:solidFill>
                          <a:latin typeface="Segoe UI"/>
                        </a:rPr>
                        <a:t>France Travail</a:t>
                      </a:r>
                    </a:p>
                  </a:txBody>
                  <a:tcPr marL="73152" marR="73152" anchor="ctr">
                    <a:solidFill>
                      <a:srgbClr val="EFF6FF"/>
                    </a:solidFill>
                  </a:tcPr>
                </a:tc>
              </a:tr>
              <a:tr h="548640">
                <a:tc>
                  <a:txBody>
                    <a:bodyPr/>
                    <a:lstStyle/>
                    <a:p>
                      <a:r>
                        <a:rPr sz="1400">
                          <a:solidFill>
                            <a:srgbClr val="111827"/>
                          </a:solidFill>
                          <a:latin typeface="Segoe UI"/>
                        </a:rPr>
                        <a:t>API</a:t>
                      </a:r>
                    </a:p>
                  </a:txBody>
                  <a:tcPr marL="73152" marR="73152" anchor="ctr">
                    <a:solidFill>
                      <a:srgbClr val="FFFFFF"/>
                    </a:solidFill>
                  </a:tcPr>
                </a:tc>
                <a:tc>
                  <a:txBody>
                    <a:bodyPr/>
                    <a:lstStyle/>
                    <a:p>
                      <a:r>
                        <a:rPr sz="1400">
                          <a:solidFill>
                            <a:srgbClr val="111827"/>
                          </a:solidFill>
                          <a:latin typeface="Segoe UI"/>
                        </a:rPr>
                        <a:t>Offres d'emploi v2</a:t>
                      </a:r>
                    </a:p>
                  </a:txBody>
                  <a:tcPr marL="73152" marR="73152" anchor="ctr">
                    <a:solidFill>
                      <a:srgbClr val="FFFFFF"/>
                    </a:solidFill>
                  </a:tcPr>
                </a:tc>
              </a:tr>
              <a:tr h="548640">
                <a:tc>
                  <a:txBody>
                    <a:bodyPr/>
                    <a:lstStyle/>
                    <a:p>
                      <a:r>
                        <a:rPr sz="1400">
                          <a:solidFill>
                            <a:srgbClr val="111827"/>
                          </a:solidFill>
                          <a:latin typeface="Segoe UI"/>
                        </a:rPr>
                        <a:t>Accès</a:t>
                      </a:r>
                    </a:p>
                  </a:txBody>
                  <a:tcPr marL="73152" marR="73152" anchor="ctr">
                    <a:solidFill>
                      <a:srgbClr val="EFF6FF"/>
                    </a:solidFill>
                  </a:tcPr>
                </a:tc>
                <a:tc>
                  <a:txBody>
                    <a:bodyPr/>
                    <a:lstStyle/>
                    <a:p>
                      <a:r>
                        <a:rPr sz="1400">
                          <a:solidFill>
                            <a:srgbClr val="111827"/>
                          </a:solidFill>
                          <a:latin typeface="Segoe UI"/>
                        </a:rPr>
                        <a:t>OAuth2 client credentials</a:t>
                      </a:r>
                    </a:p>
                  </a:txBody>
                  <a:tcPr marL="73152" marR="73152" anchor="ctr">
                    <a:solidFill>
                      <a:srgbClr val="EFF6FF"/>
                    </a:solidFill>
                  </a:tcPr>
                </a:tc>
              </a:tr>
              <a:tr h="548640">
                <a:tc>
                  <a:txBody>
                    <a:bodyPr/>
                    <a:lstStyle/>
                    <a:p>
                      <a:r>
                        <a:rPr sz="1400">
                          <a:solidFill>
                            <a:srgbClr val="111827"/>
                          </a:solidFill>
                          <a:latin typeface="Segoe UI"/>
                        </a:rPr>
                        <a:t>Format</a:t>
                      </a:r>
                    </a:p>
                  </a:txBody>
                  <a:tcPr marL="73152" marR="73152" anchor="ctr">
                    <a:solidFill>
                      <a:srgbClr val="FFFFFF"/>
                    </a:solidFill>
                  </a:tcPr>
                </a:tc>
                <a:tc>
                  <a:txBody>
                    <a:bodyPr/>
                    <a:lstStyle/>
                    <a:p>
                      <a:r>
                        <a:rPr sz="1400">
                          <a:solidFill>
                            <a:srgbClr val="111827"/>
                          </a:solidFill>
                          <a:latin typeface="Segoe UI"/>
                        </a:rPr>
                        <a:t>JSON</a:t>
                      </a:r>
                    </a:p>
                  </a:txBody>
                  <a:tcPr marL="73152" marR="73152" anchor="ctr">
                    <a:solidFill>
                      <a:srgbClr val="FFFFFF"/>
                    </a:solidFill>
                  </a:tcPr>
                </a:tc>
              </a:tr>
              <a:tr h="548640">
                <a:tc>
                  <a:txBody>
                    <a:bodyPr/>
                    <a:lstStyle/>
                    <a:p>
                      <a:r>
                        <a:rPr sz="1400">
                          <a:solidFill>
                            <a:srgbClr val="111827"/>
                          </a:solidFill>
                          <a:latin typeface="Segoe UI"/>
                        </a:rPr>
                        <a:t>Nature</a:t>
                      </a:r>
                    </a:p>
                  </a:txBody>
                  <a:tcPr marL="73152" marR="73152" anchor="ctr">
                    <a:solidFill>
                      <a:srgbClr val="EFF6FF"/>
                    </a:solidFill>
                  </a:tcPr>
                </a:tc>
                <a:tc>
                  <a:txBody>
                    <a:bodyPr/>
                    <a:lstStyle/>
                    <a:p>
                      <a:r>
                        <a:rPr sz="1400">
                          <a:solidFill>
                            <a:srgbClr val="111827"/>
                          </a:solidFill>
                          <a:latin typeface="Segoe UI"/>
                        </a:rPr>
                        <a:t>Semi-structurée, objets imbriqués</a:t>
                      </a:r>
                    </a:p>
                  </a:txBody>
                  <a:tcPr marL="73152" marR="73152" anchor="ctr">
                    <a:solidFill>
                      <a:srgbClr val="EFF6FF"/>
                    </a:solidFill>
                  </a:tcPr>
                </a:tc>
              </a:tr>
              <a:tr h="548640">
                <a:tc>
                  <a:txBody>
                    <a:bodyPr/>
                    <a:lstStyle/>
                    <a:p>
                      <a:r>
                        <a:rPr sz="1400">
                          <a:solidFill>
                            <a:srgbClr val="111827"/>
                          </a:solidFill>
                          <a:latin typeface="Segoe UI"/>
                        </a:rPr>
                        <a:t>Contenu</a:t>
                      </a:r>
                    </a:p>
                  </a:txBody>
                  <a:tcPr marL="73152" marR="73152" anchor="ctr">
                    <a:solidFill>
                      <a:srgbClr val="FFFFFF"/>
                    </a:solidFill>
                  </a:tcPr>
                </a:tc>
                <a:tc>
                  <a:txBody>
                    <a:bodyPr/>
                    <a:lstStyle/>
                    <a:p>
                      <a:r>
                        <a:rPr sz="1400">
                          <a:solidFill>
                            <a:srgbClr val="111827"/>
                          </a:solidFill>
                          <a:latin typeface="Segoe UI"/>
                        </a:rPr>
                        <a:t>Offre, entreprise, commune, métier ROME, compétences, salaire</a:t>
                      </a:r>
                    </a:p>
                  </a:txBody>
                  <a:tcPr marL="73152" marR="73152" anchor="ctr">
                    <a:solidFill>
                      <a:srgbClr val="FFFFFF"/>
                    </a:solidFill>
                  </a:tcPr>
                </a:tc>
              </a:tr>
            </a:tbl>
          </a:graphicData>
        </a:graphic>
      </p:graphicFrame>
      <p:sp>
        <p:nvSpPr>
          <p:cNvPr id="9" name="Rounded Rectangle 8"/>
          <p:cNvSpPr/>
          <p:nvPr/>
        </p:nvSpPr>
        <p:spPr>
          <a:xfrm>
            <a:off x="6583680" y="1280160"/>
            <a:ext cx="5120640" cy="5029200"/>
          </a:xfrm>
          <a:prstGeom prst="roundRect">
            <a:avLst>
              <a:gd name="adj" fmla="val 2181"/>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1417320"/>
            <a:ext cx="4754880" cy="4754880"/>
          </a:xfrm>
          <a:prstGeom prst="rect">
            <a:avLst/>
          </a:prstGeom>
          <a:noFill/>
        </p:spPr>
        <p:txBody>
          <a:bodyPr wrap="square" anchor="t" lIns="45720" rIns="45720">
            <a:spAutoFit/>
          </a:bodyPr>
          <a:lstStyle/>
          <a:p>
            <a:pPr algn="l"/>
            <a:r>
              <a:rPr sz="1300" b="0">
                <a:solidFill>
                  <a:srgbClr val="A7F3D0"/>
                </a:solidFill>
                <a:latin typeface="Consolas"/>
              </a:rPr>
              <a:t>{</a:t>
            </a:r>
          </a:p>
          <a:p>
            <a:pPr algn="l"/>
            <a:r>
              <a:rPr sz="1300" b="0">
                <a:solidFill>
                  <a:srgbClr val="A7F3D0"/>
                </a:solidFill>
                <a:latin typeface="Consolas"/>
              </a:rPr>
              <a:t>  "id": "214JMGC",</a:t>
            </a:r>
          </a:p>
          <a:p>
            <a:pPr algn="l"/>
            <a:r>
              <a:rPr sz="1300" b="0">
                <a:solidFill>
                  <a:srgbClr val="A7F3D0"/>
                </a:solidFill>
                <a:latin typeface="Consolas"/>
              </a:rPr>
              <a:t>  "intitule": "Data Engineer H/F",</a:t>
            </a:r>
          </a:p>
          <a:p>
            <a:pPr algn="l"/>
            <a:r>
              <a:rPr sz="1300" b="0">
                <a:solidFill>
                  <a:srgbClr val="A7F3D0"/>
                </a:solidFill>
                <a:latin typeface="Consolas"/>
              </a:rPr>
              <a:t>  "typeContrat": "CDI",</a:t>
            </a:r>
          </a:p>
          <a:p>
            <a:pPr algn="l"/>
            <a:r>
              <a:rPr sz="1300" b="0">
                <a:solidFill>
                  <a:srgbClr val="A7F3D0"/>
                </a:solidFill>
                <a:latin typeface="Consolas"/>
              </a:rPr>
              <a:t>  "romeCode": "M1805",</a:t>
            </a:r>
          </a:p>
          <a:p>
            <a:pPr algn="l"/>
            <a:r>
              <a:rPr sz="1300" b="0">
                <a:solidFill>
                  <a:srgbClr val="A7F3D0"/>
                </a:solidFill>
                <a:latin typeface="Consolas"/>
              </a:rPr>
              <a:t>  "lieuTravail": {</a:t>
            </a:r>
          </a:p>
          <a:p>
            <a:pPr algn="l"/>
            <a:r>
              <a:rPr sz="1300" b="0">
                <a:solidFill>
                  <a:srgbClr val="A7F3D0"/>
                </a:solidFill>
                <a:latin typeface="Consolas"/>
              </a:rPr>
              <a:t>    "commune": "44109",</a:t>
            </a:r>
          </a:p>
          <a:p>
            <a:pPr algn="l"/>
            <a:r>
              <a:rPr sz="1300" b="0">
                <a:solidFill>
                  <a:srgbClr val="A7F3D0"/>
                </a:solidFill>
                <a:latin typeface="Consolas"/>
              </a:rPr>
              <a:t>    "latitude": 47.21, ...</a:t>
            </a:r>
          </a:p>
          <a:p>
            <a:pPr algn="l"/>
            <a:r>
              <a:rPr sz="1300" b="0">
                <a:solidFill>
                  <a:srgbClr val="A7F3D0"/>
                </a:solidFill>
                <a:latin typeface="Consolas"/>
              </a:rPr>
              <a:t>  },</a:t>
            </a:r>
          </a:p>
          <a:p>
            <a:pPr algn="l"/>
            <a:r>
              <a:rPr sz="1300" b="0">
                <a:solidFill>
                  <a:srgbClr val="A7F3D0"/>
                </a:solidFill>
                <a:latin typeface="Consolas"/>
              </a:rPr>
              <a:t>  "entreprise": { "nom": "..." },</a:t>
            </a:r>
          </a:p>
          <a:p>
            <a:pPr algn="l"/>
            <a:r>
              <a:rPr sz="1300" b="0">
                <a:solidFill>
                  <a:srgbClr val="A7F3D0"/>
                </a:solidFill>
                <a:latin typeface="Consolas"/>
              </a:rPr>
              <a:t>  "salaire": { "libelle":</a:t>
            </a:r>
          </a:p>
          <a:p>
            <a:pPr algn="l"/>
            <a:r>
              <a:rPr sz="1300" b="0">
                <a:solidFill>
                  <a:srgbClr val="A7F3D0"/>
                </a:solidFill>
                <a:latin typeface="Consolas"/>
              </a:rPr>
              <a:t>    "Annuel de 38000 à 45000 Euros" },</a:t>
            </a:r>
          </a:p>
          <a:p>
            <a:pPr algn="l"/>
            <a:r>
              <a:rPr sz="1300" b="0">
                <a:solidFill>
                  <a:srgbClr val="A7F3D0"/>
                </a:solidFill>
                <a:latin typeface="Consolas"/>
              </a:rPr>
              <a:t>  "competences": [</a:t>
            </a:r>
          </a:p>
          <a:p>
            <a:pPr algn="l"/>
            <a:r>
              <a:rPr sz="1300" b="0">
                <a:solidFill>
                  <a:srgbClr val="A7F3D0"/>
                </a:solidFill>
                <a:latin typeface="Consolas"/>
              </a:rPr>
              <a:t>    { "libelle": "Langage SQL",</a:t>
            </a:r>
          </a:p>
          <a:p>
            <a:pPr algn="l"/>
            <a:r>
              <a:rPr sz="1300" b="0">
                <a:solidFill>
                  <a:srgbClr val="A7F3D0"/>
                </a:solidFill>
                <a:latin typeface="Consolas"/>
              </a:rPr>
              <a:t>      "exigence": "E" } ]</a:t>
            </a:r>
          </a:p>
          <a:p>
            <a:pPr algn="l"/>
            <a:r>
              <a:rPr sz="1300" b="0">
                <a:solidFill>
                  <a:srgbClr val="A7F3D0"/>
                </a:solidFill>
                <a:latin typeface="Consolas"/>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Audit qualité : problèmes et solutions</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TP1 — Audit</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5 / 17</a:t>
            </a:r>
          </a:p>
        </p:txBody>
      </p:sp>
      <p:graphicFrame>
        <p:nvGraphicFramePr>
          <p:cNvPr id="8" name="Table 7"/>
          <p:cNvGraphicFramePr>
            <a:graphicFrameLocks noGrp="1"/>
          </p:cNvGraphicFramePr>
          <p:nvPr/>
        </p:nvGraphicFramePr>
        <p:xfrm>
          <a:off x="457200" y="1280160"/>
          <a:ext cx="11247120" cy="4480559"/>
        </p:xfrm>
        <a:graphic>
          <a:graphicData uri="http://schemas.openxmlformats.org/drawingml/2006/table">
            <a:tbl>
              <a:tblPr firstRow="1" bandRow="1">
                <a:tableStyleId>{5C22544A-7EE6-4342-B048-85BDC9FD1C3A}</a:tableStyleId>
              </a:tblPr>
              <a:tblGrid>
                <a:gridCol w="5486400"/>
                <a:gridCol w="5760720"/>
              </a:tblGrid>
              <a:tr h="640079">
                <a:tc>
                  <a:txBody>
                    <a:bodyPr/>
                    <a:lstStyle/>
                    <a:p>
                      <a:r>
                        <a:rPr sz="1500" b="1">
                          <a:solidFill>
                            <a:srgbClr val="FFFFFF"/>
                          </a:solidFill>
                          <a:latin typeface="Segoe UI"/>
                        </a:rPr>
                        <a:t>Problème constaté</a:t>
                      </a:r>
                    </a:p>
                  </a:txBody>
                  <a:tcPr marL="73152" marR="73152" anchor="ctr">
                    <a:solidFill>
                      <a:srgbClr val="1E3A8A"/>
                    </a:solidFill>
                  </a:tcPr>
                </a:tc>
                <a:tc>
                  <a:txBody>
                    <a:bodyPr/>
                    <a:lstStyle/>
                    <a:p>
                      <a:r>
                        <a:rPr sz="1500" b="1">
                          <a:solidFill>
                            <a:srgbClr val="FFFFFF"/>
                          </a:solidFill>
                          <a:latin typeface="Segoe UI"/>
                        </a:rPr>
                        <a:t>Solution retenue</a:t>
                      </a:r>
                    </a:p>
                  </a:txBody>
                  <a:tcPr marL="73152" marR="73152" anchor="ctr">
                    <a:solidFill>
                      <a:srgbClr val="1E3A8A"/>
                    </a:solidFill>
                  </a:tcPr>
                </a:tc>
              </a:tr>
              <a:tr h="640079">
                <a:tc>
                  <a:txBody>
                    <a:bodyPr/>
                    <a:lstStyle/>
                    <a:p>
                      <a:r>
                        <a:rPr sz="1500">
                          <a:solidFill>
                            <a:srgbClr val="111827"/>
                          </a:solidFill>
                          <a:latin typeface="Segoe UI"/>
                        </a:rPr>
                        <a:t>Salaire en texte libre (« Annuel de 38000 à 45000 Euros »)</a:t>
                      </a:r>
                    </a:p>
                  </a:txBody>
                  <a:tcPr marL="73152" marR="73152" anchor="ctr">
                    <a:solidFill>
                      <a:srgbClr val="EFF6FF"/>
                    </a:solidFill>
                  </a:tcPr>
                </a:tc>
                <a:tc>
                  <a:txBody>
                    <a:bodyPr/>
                    <a:lstStyle/>
                    <a:p>
                      <a:r>
                        <a:rPr sz="1500">
                          <a:solidFill>
                            <a:srgbClr val="111827"/>
                          </a:solidFill>
                          <a:latin typeface="Segoe UI"/>
                        </a:rPr>
                        <a:t>Extraction par expression régulière → salaire annuel estimé</a:t>
                      </a:r>
                    </a:p>
                  </a:txBody>
                  <a:tcPr marL="73152" marR="73152" anchor="ctr">
                    <a:solidFill>
                      <a:srgbClr val="EFF6FF"/>
                    </a:solidFill>
                  </a:tcPr>
                </a:tc>
              </a:tr>
              <a:tr h="640079">
                <a:tc>
                  <a:txBody>
                    <a:bodyPr/>
                    <a:lstStyle/>
                    <a:p>
                      <a:r>
                        <a:rPr sz="1500">
                          <a:solidFill>
                            <a:srgbClr val="111827"/>
                          </a:solidFill>
                          <a:latin typeface="Segoe UI"/>
                        </a:rPr>
                        <a:t>Entreprise absente ou confidentielle</a:t>
                      </a:r>
                    </a:p>
                  </a:txBody>
                  <a:tcPr marL="73152" marR="73152" anchor="ctr">
                    <a:solidFill>
                      <a:srgbClr val="FFFFFF"/>
                    </a:solidFill>
                  </a:tcPr>
                </a:tc>
                <a:tc>
                  <a:txBody>
                    <a:bodyPr/>
                    <a:lstStyle/>
                    <a:p>
                      <a:r>
                        <a:rPr sz="1500">
                          <a:solidFill>
                            <a:srgbClr val="111827"/>
                          </a:solidFill>
                          <a:latin typeface="Segoe UI"/>
                        </a:rPr>
                        <a:t>Entreprise anonyme unique, marquée entreprise_anonyme = TRUE</a:t>
                      </a:r>
                    </a:p>
                  </a:txBody>
                  <a:tcPr marL="73152" marR="73152" anchor="ctr">
                    <a:solidFill>
                      <a:srgbClr val="FFFFFF"/>
                    </a:solidFill>
                  </a:tcPr>
                </a:tc>
              </a:tr>
              <a:tr h="640079">
                <a:tc>
                  <a:txBody>
                    <a:bodyPr/>
                    <a:lstStyle/>
                    <a:p>
                      <a:r>
                        <a:rPr sz="1500">
                          <a:solidFill>
                            <a:srgbClr val="111827"/>
                          </a:solidFill>
                          <a:latin typeface="Segoe UI"/>
                        </a:rPr>
                        <a:t>Compétences en double ou tableau vide</a:t>
                      </a:r>
                    </a:p>
                  </a:txBody>
                  <a:tcPr marL="73152" marR="73152" anchor="ctr">
                    <a:solidFill>
                      <a:srgbClr val="EFF6FF"/>
                    </a:solidFill>
                  </a:tcPr>
                </a:tc>
                <a:tc>
                  <a:txBody>
                    <a:bodyPr/>
                    <a:lstStyle/>
                    <a:p>
                      <a:r>
                        <a:rPr sz="1500">
                          <a:solidFill>
                            <a:srgbClr val="111827"/>
                          </a:solidFill>
                          <a:latin typeface="Segoe UI"/>
                        </a:rPr>
                        <a:t>Dédoublonnage + table de référence competence</a:t>
                      </a:r>
                    </a:p>
                  </a:txBody>
                  <a:tcPr marL="73152" marR="73152" anchor="ctr">
                    <a:solidFill>
                      <a:srgbClr val="EFF6FF"/>
                    </a:solidFill>
                  </a:tcPr>
                </a:tc>
              </a:tr>
              <a:tr h="640079">
                <a:tc>
                  <a:txBody>
                    <a:bodyPr/>
                    <a:lstStyle/>
                    <a:p>
                      <a:r>
                        <a:rPr sz="1500">
                          <a:solidFill>
                            <a:srgbClr val="111827"/>
                          </a:solidFill>
                          <a:latin typeface="Segoe UI"/>
                        </a:rPr>
                        <a:t>Code postal peu fiable (plusieurs par commune)</a:t>
                      </a:r>
                    </a:p>
                  </a:txBody>
                  <a:tcPr marL="73152" marR="73152" anchor="ctr">
                    <a:solidFill>
                      <a:srgbClr val="FFFFFF"/>
                    </a:solidFill>
                  </a:tcPr>
                </a:tc>
                <a:tc>
                  <a:txBody>
                    <a:bodyPr/>
                    <a:lstStyle/>
                    <a:p>
                      <a:r>
                        <a:rPr sz="1500">
                          <a:solidFill>
                            <a:srgbClr val="111827"/>
                          </a:solidFill>
                          <a:latin typeface="Segoe UI"/>
                        </a:rPr>
                        <a:t>Clé géographique = code INSEE</a:t>
                      </a:r>
                    </a:p>
                  </a:txBody>
                  <a:tcPr marL="73152" marR="73152" anchor="ctr">
                    <a:solidFill>
                      <a:srgbClr val="FFFFFF"/>
                    </a:solidFill>
                  </a:tcPr>
                </a:tc>
              </a:tr>
              <a:tr h="640079">
                <a:tc>
                  <a:txBody>
                    <a:bodyPr/>
                    <a:lstStyle/>
                    <a:p>
                      <a:r>
                        <a:rPr sz="1500">
                          <a:solidFill>
                            <a:srgbClr val="111827"/>
                          </a:solidFill>
                          <a:latin typeface="Segoe UI"/>
                        </a:rPr>
                        <a:t>Domaine professionnel non fourni</a:t>
                      </a:r>
                    </a:p>
                  </a:txBody>
                  <a:tcPr marL="73152" marR="73152" anchor="ctr">
                    <a:solidFill>
                      <a:srgbClr val="EFF6FF"/>
                    </a:solidFill>
                  </a:tcPr>
                </a:tc>
                <a:tc>
                  <a:txBody>
                    <a:bodyPr/>
                    <a:lstStyle/>
                    <a:p>
                      <a:r>
                        <a:rPr sz="1500">
                          <a:solidFill>
                            <a:srgbClr val="111827"/>
                          </a:solidFill>
                          <a:latin typeface="Segoe UI"/>
                        </a:rPr>
                        <a:t>Déduit de la 1re lettre du code ROME (14 domaines)</a:t>
                      </a:r>
                    </a:p>
                  </a:txBody>
                  <a:tcPr marL="73152" marR="73152" anchor="ctr">
                    <a:solidFill>
                      <a:srgbClr val="EFF6FF"/>
                    </a:solidFill>
                  </a:tcPr>
                </a:tc>
              </a:tr>
              <a:tr h="640085">
                <a:tc>
                  <a:txBody>
                    <a:bodyPr/>
                    <a:lstStyle/>
                    <a:p>
                      <a:r>
                        <a:rPr sz="1500">
                          <a:solidFill>
                            <a:srgbClr val="111827"/>
                          </a:solidFill>
                          <a:latin typeface="Segoe UI"/>
                        </a:rPr>
                        <a:t>Champs obligatoires manquants</a:t>
                      </a:r>
                    </a:p>
                  </a:txBody>
                  <a:tcPr marL="73152" marR="73152" anchor="ctr">
                    <a:solidFill>
                      <a:srgbClr val="FFFFFF"/>
                    </a:solidFill>
                  </a:tcPr>
                </a:tc>
                <a:tc>
                  <a:txBody>
                    <a:bodyPr/>
                    <a:lstStyle/>
                    <a:p>
                      <a:r>
                        <a:rPr sz="1500">
                          <a:solidFill>
                            <a:srgbClr val="111827"/>
                          </a:solidFill>
                          <a:latin typeface="Segoe UI"/>
                        </a:rPr>
                        <a:t>Offre rejetée et journalisée (puis quarantaine au TP2)</a:t>
                      </a:r>
                    </a:p>
                  </a:txBody>
                  <a:tcPr marL="73152" marR="73152"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Dictionnaire de données et entités</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TP1 — Modélisation</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6 / 17</a:t>
            </a:r>
          </a:p>
        </p:txBody>
      </p:sp>
      <p:sp>
        <p:nvSpPr>
          <p:cNvPr id="8" name="Rounded Rectangle 7"/>
          <p:cNvSpPr/>
          <p:nvPr/>
        </p:nvSpPr>
        <p:spPr>
          <a:xfrm>
            <a:off x="548640" y="1371600"/>
            <a:ext cx="3474720" cy="2103120"/>
          </a:xfrm>
          <a:prstGeom prst="roundRect">
            <a:avLst>
              <a:gd name="adj" fmla="val 5217"/>
            </a:avLst>
          </a:prstGeom>
          <a:solidFill>
            <a:srgbClr val="FFFFFF"/>
          </a:solidFill>
          <a:ln w="15875">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371600"/>
            <a:ext cx="3474720" cy="640080"/>
          </a:xfrm>
          <a:prstGeom prst="roundRect">
            <a:avLst>
              <a:gd name="adj" fmla="val 17142"/>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FFFFFF"/>
                </a:solidFill>
                <a:latin typeface="Segoe UI"/>
              </a:rPr>
              <a:t>offre</a:t>
            </a:r>
          </a:p>
        </p:txBody>
      </p:sp>
      <p:sp>
        <p:nvSpPr>
          <p:cNvPr id="10" name="TextBox 9"/>
          <p:cNvSpPr txBox="1"/>
          <p:nvPr/>
        </p:nvSpPr>
        <p:spPr>
          <a:xfrm>
            <a:off x="731520" y="2194560"/>
            <a:ext cx="3108960" cy="1188720"/>
          </a:xfrm>
          <a:prstGeom prst="rect">
            <a:avLst/>
          </a:prstGeom>
          <a:noFill/>
        </p:spPr>
        <p:txBody>
          <a:bodyPr wrap="square" anchor="t" lIns="45720" rIns="45720">
            <a:spAutoFit/>
          </a:bodyPr>
          <a:lstStyle/>
          <a:p>
            <a:pPr algn="ctr"/>
            <a:r>
              <a:rPr sz="1500" b="0">
                <a:solidFill>
                  <a:srgbClr val="111827"/>
                </a:solidFill>
                <a:latin typeface="Segoe UI"/>
              </a:rPr>
              <a:t>Fait central : poste, contrat, salaire, date</a:t>
            </a:r>
          </a:p>
        </p:txBody>
      </p:sp>
      <p:sp>
        <p:nvSpPr>
          <p:cNvPr id="11" name="Rounded Rectangle 10"/>
          <p:cNvSpPr/>
          <p:nvPr/>
        </p:nvSpPr>
        <p:spPr>
          <a:xfrm>
            <a:off x="4297679" y="1371600"/>
            <a:ext cx="3474720" cy="2103120"/>
          </a:xfrm>
          <a:prstGeom prst="roundRect">
            <a:avLst>
              <a:gd name="adj" fmla="val 5217"/>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97679" y="1371600"/>
            <a:ext cx="3474720" cy="640080"/>
          </a:xfrm>
          <a:prstGeom prst="roundRect">
            <a:avLst>
              <a:gd name="adj" fmla="val 17142"/>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FFFFFF"/>
                </a:solidFill>
                <a:latin typeface="Segoe UI"/>
              </a:rPr>
              <a:t>entreprise</a:t>
            </a:r>
          </a:p>
        </p:txBody>
      </p:sp>
      <p:sp>
        <p:nvSpPr>
          <p:cNvPr id="13" name="TextBox 12"/>
          <p:cNvSpPr txBox="1"/>
          <p:nvPr/>
        </p:nvSpPr>
        <p:spPr>
          <a:xfrm>
            <a:off x="4480559" y="2194560"/>
            <a:ext cx="3108960" cy="1188720"/>
          </a:xfrm>
          <a:prstGeom prst="rect">
            <a:avLst/>
          </a:prstGeom>
          <a:noFill/>
        </p:spPr>
        <p:txBody>
          <a:bodyPr wrap="square" anchor="t" lIns="45720" rIns="45720">
            <a:spAutoFit/>
          </a:bodyPr>
          <a:lstStyle/>
          <a:p>
            <a:pPr algn="ctr"/>
            <a:r>
              <a:rPr sz="1500" b="0">
                <a:solidFill>
                  <a:srgbClr val="111827"/>
                </a:solidFill>
                <a:latin typeface="Segoe UI"/>
              </a:rPr>
              <a:t>Raison sociale, anonymat</a:t>
            </a:r>
          </a:p>
        </p:txBody>
      </p:sp>
      <p:sp>
        <p:nvSpPr>
          <p:cNvPr id="14" name="Rounded Rectangle 13"/>
          <p:cNvSpPr/>
          <p:nvPr/>
        </p:nvSpPr>
        <p:spPr>
          <a:xfrm>
            <a:off x="8046719" y="1371600"/>
            <a:ext cx="3474720" cy="2103120"/>
          </a:xfrm>
          <a:prstGeom prst="roundRect">
            <a:avLst>
              <a:gd name="adj" fmla="val 5217"/>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19" y="1371600"/>
            <a:ext cx="3474720" cy="640080"/>
          </a:xfrm>
          <a:prstGeom prst="roundRect">
            <a:avLst>
              <a:gd name="adj" fmla="val 17142"/>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FFFFFF"/>
                </a:solidFill>
                <a:latin typeface="Segoe UI"/>
              </a:rPr>
              <a:t>commune</a:t>
            </a:r>
          </a:p>
        </p:txBody>
      </p:sp>
      <p:sp>
        <p:nvSpPr>
          <p:cNvPr id="16" name="TextBox 15"/>
          <p:cNvSpPr txBox="1"/>
          <p:nvPr/>
        </p:nvSpPr>
        <p:spPr>
          <a:xfrm>
            <a:off x="8229599" y="2194560"/>
            <a:ext cx="3108960" cy="1188720"/>
          </a:xfrm>
          <a:prstGeom prst="rect">
            <a:avLst/>
          </a:prstGeom>
          <a:noFill/>
        </p:spPr>
        <p:txBody>
          <a:bodyPr wrap="square" anchor="t" lIns="45720" rIns="45720">
            <a:spAutoFit/>
          </a:bodyPr>
          <a:lstStyle/>
          <a:p>
            <a:pPr algn="ctr"/>
            <a:r>
              <a:rPr sz="1500" b="0">
                <a:solidFill>
                  <a:srgbClr val="111827"/>
                </a:solidFill>
                <a:latin typeface="Segoe UI"/>
              </a:rPr>
              <a:t>Code INSEE, nom, GPS</a:t>
            </a:r>
          </a:p>
        </p:txBody>
      </p:sp>
      <p:sp>
        <p:nvSpPr>
          <p:cNvPr id="17" name="Rounded Rectangle 16"/>
          <p:cNvSpPr/>
          <p:nvPr/>
        </p:nvSpPr>
        <p:spPr>
          <a:xfrm>
            <a:off x="548640" y="3749039"/>
            <a:ext cx="3474720" cy="2103120"/>
          </a:xfrm>
          <a:prstGeom prst="roundRect">
            <a:avLst>
              <a:gd name="adj" fmla="val 5217"/>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3749039"/>
            <a:ext cx="3474720" cy="640080"/>
          </a:xfrm>
          <a:prstGeom prst="roundRect">
            <a:avLst>
              <a:gd name="adj" fmla="val 17142"/>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FFFFFF"/>
                </a:solidFill>
                <a:latin typeface="Segoe UI"/>
              </a:rPr>
              <a:t>metier_rome</a:t>
            </a:r>
          </a:p>
        </p:txBody>
      </p:sp>
      <p:sp>
        <p:nvSpPr>
          <p:cNvPr id="19" name="TextBox 18"/>
          <p:cNvSpPr txBox="1"/>
          <p:nvPr/>
        </p:nvSpPr>
        <p:spPr>
          <a:xfrm>
            <a:off x="731520" y="4572000"/>
            <a:ext cx="3108960" cy="1188720"/>
          </a:xfrm>
          <a:prstGeom prst="rect">
            <a:avLst/>
          </a:prstGeom>
          <a:noFill/>
        </p:spPr>
        <p:txBody>
          <a:bodyPr wrap="square" anchor="t" lIns="45720" rIns="45720">
            <a:spAutoFit/>
          </a:bodyPr>
          <a:lstStyle/>
          <a:p>
            <a:pPr algn="ctr"/>
            <a:r>
              <a:rPr sz="1500" b="0">
                <a:solidFill>
                  <a:srgbClr val="111827"/>
                </a:solidFill>
                <a:latin typeface="Segoe UI"/>
              </a:rPr>
              <a:t>Code ROME, métier, domaine</a:t>
            </a:r>
          </a:p>
        </p:txBody>
      </p:sp>
      <p:sp>
        <p:nvSpPr>
          <p:cNvPr id="20" name="Rounded Rectangle 19"/>
          <p:cNvSpPr/>
          <p:nvPr/>
        </p:nvSpPr>
        <p:spPr>
          <a:xfrm>
            <a:off x="4297679" y="3749039"/>
            <a:ext cx="3474720" cy="2103120"/>
          </a:xfrm>
          <a:prstGeom prst="roundRect">
            <a:avLst>
              <a:gd name="adj" fmla="val 5217"/>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297679" y="3749039"/>
            <a:ext cx="3474720" cy="640080"/>
          </a:xfrm>
          <a:prstGeom prst="roundRect">
            <a:avLst>
              <a:gd name="adj" fmla="val 17142"/>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FFFFFF"/>
                </a:solidFill>
                <a:latin typeface="Segoe UI"/>
              </a:rPr>
              <a:t>competence</a:t>
            </a:r>
          </a:p>
        </p:txBody>
      </p:sp>
      <p:sp>
        <p:nvSpPr>
          <p:cNvPr id="22" name="TextBox 21"/>
          <p:cNvSpPr txBox="1"/>
          <p:nvPr/>
        </p:nvSpPr>
        <p:spPr>
          <a:xfrm>
            <a:off x="4480559" y="4572000"/>
            <a:ext cx="3108960" cy="1188720"/>
          </a:xfrm>
          <a:prstGeom prst="rect">
            <a:avLst/>
          </a:prstGeom>
          <a:noFill/>
        </p:spPr>
        <p:txBody>
          <a:bodyPr wrap="square" anchor="t" lIns="45720" rIns="45720">
            <a:spAutoFit/>
          </a:bodyPr>
          <a:lstStyle/>
          <a:p>
            <a:pPr algn="ctr"/>
            <a:r>
              <a:rPr sz="1500" b="0">
                <a:solidFill>
                  <a:srgbClr val="111827"/>
                </a:solidFill>
                <a:latin typeface="Segoe UI"/>
              </a:rPr>
              <a:t>Libellé, savoir-faire / savoir-être</a:t>
            </a:r>
          </a:p>
        </p:txBody>
      </p:sp>
      <p:sp>
        <p:nvSpPr>
          <p:cNvPr id="23" name="Rounded Rectangle 22"/>
          <p:cNvSpPr/>
          <p:nvPr/>
        </p:nvSpPr>
        <p:spPr>
          <a:xfrm>
            <a:off x="8046719" y="3749039"/>
            <a:ext cx="3474720" cy="2103120"/>
          </a:xfrm>
          <a:prstGeom prst="roundRect">
            <a:avLst>
              <a:gd name="adj" fmla="val 5217"/>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46719" y="3749039"/>
            <a:ext cx="3474720" cy="640080"/>
          </a:xfrm>
          <a:prstGeom prst="roundRect">
            <a:avLst>
              <a:gd name="adj" fmla="val 17142"/>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FFFFFF"/>
                </a:solidFill>
                <a:latin typeface="Segoe UI"/>
              </a:rPr>
              <a:t>exigence_offre</a:t>
            </a:r>
          </a:p>
        </p:txBody>
      </p:sp>
      <p:sp>
        <p:nvSpPr>
          <p:cNvPr id="25" name="TextBox 24"/>
          <p:cNvSpPr txBox="1"/>
          <p:nvPr/>
        </p:nvSpPr>
        <p:spPr>
          <a:xfrm>
            <a:off x="8229599" y="4572000"/>
            <a:ext cx="3108960" cy="1188720"/>
          </a:xfrm>
          <a:prstGeom prst="rect">
            <a:avLst/>
          </a:prstGeom>
          <a:noFill/>
        </p:spPr>
        <p:txBody>
          <a:bodyPr wrap="square" anchor="t" lIns="45720" rIns="45720">
            <a:spAutoFit/>
          </a:bodyPr>
          <a:lstStyle/>
          <a:p>
            <a:pPr algn="ctr"/>
            <a:r>
              <a:rPr sz="1500" b="0">
                <a:solidFill>
                  <a:srgbClr val="111827"/>
                </a:solidFill>
                <a:latin typeface="Segoe UI"/>
              </a:rPr>
              <a:t>Offre ↔ compétence, exigée / souhaitée</a:t>
            </a:r>
          </a:p>
        </p:txBody>
      </p:sp>
      <p:sp>
        <p:nvSpPr>
          <p:cNvPr id="26" name="TextBox 25"/>
          <p:cNvSpPr txBox="1"/>
          <p:nvPr/>
        </p:nvSpPr>
        <p:spPr>
          <a:xfrm>
            <a:off x="548640" y="6126480"/>
            <a:ext cx="10972800" cy="365760"/>
          </a:xfrm>
          <a:prstGeom prst="rect">
            <a:avLst/>
          </a:prstGeom>
          <a:noFill/>
        </p:spPr>
        <p:txBody>
          <a:bodyPr wrap="square" anchor="t" lIns="45720" rIns="45720">
            <a:spAutoFit/>
          </a:bodyPr>
          <a:lstStyle/>
          <a:p>
            <a:pPr algn="l"/>
            <a:r>
              <a:rPr sz="1300" b="0">
                <a:solidFill>
                  <a:srgbClr val="6B7280"/>
                </a:solidFill>
                <a:latin typeface="Segoe UI"/>
              </a:rPr>
              <a:t>Dictionnaire complet : docs/dictionnaire_donnees.md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MCD : relations et cardinalités</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TP1 — Modélisation</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7 / 17</a:t>
            </a:r>
          </a:p>
        </p:txBody>
      </p:sp>
      <p:sp>
        <p:nvSpPr>
          <p:cNvPr id="8" name="Rounded Rectangle 7"/>
          <p:cNvSpPr/>
          <p:nvPr/>
        </p:nvSpPr>
        <p:spPr>
          <a:xfrm>
            <a:off x="640080" y="1371600"/>
            <a:ext cx="1828800" cy="1005840"/>
          </a:xfrm>
          <a:prstGeom prst="roundRect">
            <a:avLst>
              <a:gd name="adj" fmla="val 10909"/>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Segoe UI"/>
              </a:rPr>
              <a:t>COMMUNE</a:t>
            </a:r>
          </a:p>
        </p:txBody>
      </p:sp>
      <p:sp>
        <p:nvSpPr>
          <p:cNvPr id="9" name="Rounded Rectangle 8"/>
          <p:cNvSpPr/>
          <p:nvPr/>
        </p:nvSpPr>
        <p:spPr>
          <a:xfrm>
            <a:off x="640080" y="3246120"/>
            <a:ext cx="1828800" cy="1005840"/>
          </a:xfrm>
          <a:prstGeom prst="roundRect">
            <a:avLst>
              <a:gd name="adj" fmla="val 10909"/>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Segoe UI"/>
              </a:rPr>
              <a:t>ENTREPRISE</a:t>
            </a:r>
          </a:p>
        </p:txBody>
      </p:sp>
      <p:sp>
        <p:nvSpPr>
          <p:cNvPr id="10" name="Rounded Rectangle 9"/>
          <p:cNvSpPr/>
          <p:nvPr/>
        </p:nvSpPr>
        <p:spPr>
          <a:xfrm>
            <a:off x="640080" y="5120640"/>
            <a:ext cx="1828800" cy="1005840"/>
          </a:xfrm>
          <a:prstGeom prst="roundRect">
            <a:avLst>
              <a:gd name="adj" fmla="val 10909"/>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Segoe UI"/>
              </a:rPr>
              <a:t>METIER_ROME</a:t>
            </a:r>
          </a:p>
        </p:txBody>
      </p:sp>
      <p:sp>
        <p:nvSpPr>
          <p:cNvPr id="11" name="Rounded Rectangle 10"/>
          <p:cNvSpPr/>
          <p:nvPr/>
        </p:nvSpPr>
        <p:spPr>
          <a:xfrm>
            <a:off x="4937760" y="3246120"/>
            <a:ext cx="1828800" cy="1005840"/>
          </a:xfrm>
          <a:prstGeom prst="roundRect">
            <a:avLst>
              <a:gd name="adj" fmla="val 10909"/>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Segoe UI"/>
              </a:rPr>
              <a:t>OFFRE</a:t>
            </a:r>
          </a:p>
        </p:txBody>
      </p:sp>
      <p:sp>
        <p:nvSpPr>
          <p:cNvPr id="12" name="Oval 11"/>
          <p:cNvSpPr/>
          <p:nvPr/>
        </p:nvSpPr>
        <p:spPr>
          <a:xfrm>
            <a:off x="7589520" y="3246120"/>
            <a:ext cx="1828800" cy="1005840"/>
          </a:xfrm>
          <a:prstGeom prst="ellipse">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Segoe UI"/>
              </a:rPr>
              <a:t>EXIGENCE</a:t>
            </a:r>
          </a:p>
        </p:txBody>
      </p:sp>
      <p:sp>
        <p:nvSpPr>
          <p:cNvPr id="13" name="Rounded Rectangle 12"/>
          <p:cNvSpPr/>
          <p:nvPr/>
        </p:nvSpPr>
        <p:spPr>
          <a:xfrm>
            <a:off x="9966960" y="3246120"/>
            <a:ext cx="1828800" cy="1005840"/>
          </a:xfrm>
          <a:prstGeom prst="roundRect">
            <a:avLst>
              <a:gd name="adj" fmla="val 10909"/>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Segoe UI"/>
              </a:rPr>
              <a:t>COMPETENCE</a:t>
            </a:r>
          </a:p>
        </p:txBody>
      </p:sp>
      <p:cxnSp>
        <p:nvCxnSpPr>
          <p:cNvPr id="14" name="Connector 13"/>
          <p:cNvCxnSpPr/>
          <p:nvPr/>
        </p:nvCxnSpPr>
        <p:spPr>
          <a:xfrm>
            <a:off x="2468880" y="1874519"/>
            <a:ext cx="2468880" cy="187452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377439" y="1325880"/>
            <a:ext cx="2743200" cy="365760"/>
          </a:xfrm>
          <a:prstGeom prst="rect">
            <a:avLst/>
          </a:prstGeom>
          <a:noFill/>
        </p:spPr>
        <p:txBody>
          <a:bodyPr wrap="square" anchor="t" lIns="45720" rIns="45720">
            <a:spAutoFit/>
          </a:bodyPr>
          <a:lstStyle/>
          <a:p>
            <a:pPr algn="ctr"/>
            <a:r>
              <a:rPr sz="1200" b="1">
                <a:solidFill>
                  <a:srgbClr val="111827"/>
                </a:solidFill>
                <a:latin typeface="Segoe UI"/>
              </a:rPr>
              <a:t>localise  (1,1 — 0,N)</a:t>
            </a:r>
          </a:p>
        </p:txBody>
      </p:sp>
      <p:cxnSp>
        <p:nvCxnSpPr>
          <p:cNvPr id="16" name="Connector 15"/>
          <p:cNvCxnSpPr/>
          <p:nvPr/>
        </p:nvCxnSpPr>
        <p:spPr>
          <a:xfrm>
            <a:off x="2468880" y="3749039"/>
            <a:ext cx="2468880"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77439" y="3200400"/>
            <a:ext cx="2743200" cy="365760"/>
          </a:xfrm>
          <a:prstGeom prst="rect">
            <a:avLst/>
          </a:prstGeom>
          <a:noFill/>
        </p:spPr>
        <p:txBody>
          <a:bodyPr wrap="square" anchor="t" lIns="45720" rIns="45720">
            <a:spAutoFit/>
          </a:bodyPr>
          <a:lstStyle/>
          <a:p>
            <a:pPr algn="ctr"/>
            <a:r>
              <a:rPr sz="1200" b="1">
                <a:solidFill>
                  <a:srgbClr val="111827"/>
                </a:solidFill>
                <a:latin typeface="Segoe UI"/>
              </a:rPr>
              <a:t>publie  (1,1 — 0,N)</a:t>
            </a:r>
          </a:p>
        </p:txBody>
      </p:sp>
      <p:cxnSp>
        <p:nvCxnSpPr>
          <p:cNvPr id="18" name="Connector 17"/>
          <p:cNvCxnSpPr/>
          <p:nvPr/>
        </p:nvCxnSpPr>
        <p:spPr>
          <a:xfrm flipV="1">
            <a:off x="2468880" y="3749039"/>
            <a:ext cx="2468880" cy="187452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377439" y="6172200"/>
            <a:ext cx="2743200" cy="365760"/>
          </a:xfrm>
          <a:prstGeom prst="rect">
            <a:avLst/>
          </a:prstGeom>
          <a:noFill/>
        </p:spPr>
        <p:txBody>
          <a:bodyPr wrap="square" anchor="t" lIns="45720" rIns="45720">
            <a:spAutoFit/>
          </a:bodyPr>
          <a:lstStyle/>
          <a:p>
            <a:pPr algn="ctr"/>
            <a:r>
              <a:rPr sz="1200" b="1">
                <a:solidFill>
                  <a:srgbClr val="111827"/>
                </a:solidFill>
                <a:latin typeface="Segoe UI"/>
              </a:rPr>
              <a:t>catégorise  (1,1 — 0,N)</a:t>
            </a:r>
          </a:p>
        </p:txBody>
      </p:sp>
      <p:cxnSp>
        <p:nvCxnSpPr>
          <p:cNvPr id="20" name="Connector 19"/>
          <p:cNvCxnSpPr/>
          <p:nvPr/>
        </p:nvCxnSpPr>
        <p:spPr>
          <a:xfrm>
            <a:off x="6766560" y="3749039"/>
            <a:ext cx="822960"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418320" y="3749039"/>
            <a:ext cx="548640"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00800" y="3931920"/>
            <a:ext cx="1645920" cy="365760"/>
          </a:xfrm>
          <a:prstGeom prst="rect">
            <a:avLst/>
          </a:prstGeom>
          <a:noFill/>
        </p:spPr>
        <p:txBody>
          <a:bodyPr wrap="square" anchor="t" lIns="45720" rIns="45720">
            <a:spAutoFit/>
          </a:bodyPr>
          <a:lstStyle/>
          <a:p>
            <a:pPr algn="ctr"/>
            <a:r>
              <a:rPr sz="1300" b="1">
                <a:solidFill>
                  <a:srgbClr val="111827"/>
                </a:solidFill>
                <a:latin typeface="Segoe UI"/>
              </a:rPr>
              <a:t>0,N</a:t>
            </a:r>
          </a:p>
        </p:txBody>
      </p:sp>
      <p:sp>
        <p:nvSpPr>
          <p:cNvPr id="23" name="TextBox 22"/>
          <p:cNvSpPr txBox="1"/>
          <p:nvPr/>
        </p:nvSpPr>
        <p:spPr>
          <a:xfrm>
            <a:off x="9144000" y="3931920"/>
            <a:ext cx="1097280" cy="365760"/>
          </a:xfrm>
          <a:prstGeom prst="rect">
            <a:avLst/>
          </a:prstGeom>
          <a:noFill/>
        </p:spPr>
        <p:txBody>
          <a:bodyPr wrap="square" anchor="t" lIns="45720" rIns="45720">
            <a:spAutoFit/>
          </a:bodyPr>
          <a:lstStyle/>
          <a:p>
            <a:pPr algn="ctr"/>
            <a:r>
              <a:rPr sz="1300" b="1">
                <a:solidFill>
                  <a:srgbClr val="111827"/>
                </a:solidFill>
                <a:latin typeface="Segoe UI"/>
              </a:rPr>
              <a:t>0,N</a:t>
            </a:r>
          </a:p>
        </p:txBody>
      </p:sp>
      <p:sp>
        <p:nvSpPr>
          <p:cNvPr id="24" name="TextBox 23"/>
          <p:cNvSpPr txBox="1"/>
          <p:nvPr/>
        </p:nvSpPr>
        <p:spPr>
          <a:xfrm>
            <a:off x="7132320" y="4572000"/>
            <a:ext cx="4572000" cy="1645920"/>
          </a:xfrm>
          <a:prstGeom prst="rect">
            <a:avLst/>
          </a:prstGeom>
          <a:noFill/>
        </p:spPr>
        <p:txBody>
          <a:bodyPr wrap="square" anchor="t" lIns="45720" rIns="45720">
            <a:spAutoFit/>
          </a:bodyPr>
          <a:lstStyle/>
          <a:p>
            <a:pPr algn="l"/>
            <a:r>
              <a:rPr sz="1400" b="0">
                <a:solidFill>
                  <a:srgbClr val="6B7280"/>
                </a:solidFill>
                <a:latin typeface="Segoe UI"/>
              </a:rPr>
              <a:t>Une offre porte 0 à N compétences,</a:t>
            </a:r>
          </a:p>
          <a:p>
            <a:pPr algn="l"/>
            <a:r>
              <a:rPr sz="1400" b="0">
                <a:solidFill>
                  <a:srgbClr val="6B7280"/>
                </a:solidFill>
                <a:latin typeface="Segoe UI"/>
              </a:rPr>
              <a:t>une compétence est requise par 0 à N offres (contrôle ETL)</a:t>
            </a:r>
          </a:p>
          <a:p>
            <a:pPr algn="l"/>
            <a:r>
              <a:rPr sz="1400" b="0">
                <a:solidFill>
                  <a:srgbClr val="6B7280"/>
                </a:solidFill>
                <a:latin typeface="Segoe UI"/>
              </a:rPr>
              <a:t>→ relation N,N avec l'attribut statut_exigence (E / 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MLD et implémentation PostgreSQL (3NF)</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TP1 — Modélisation</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8 / 17</a:t>
            </a:r>
          </a:p>
        </p:txBody>
      </p:sp>
      <p:pic>
        <p:nvPicPr>
          <p:cNvPr id="8" name="Picture 7" descr="Shcema.png"/>
          <p:cNvPicPr>
            <a:picLocks noChangeAspect="1"/>
          </p:cNvPicPr>
          <p:nvPr/>
        </p:nvPicPr>
        <p:blipFill>
          <a:blip r:embed="rId3"/>
          <a:stretch>
            <a:fillRect/>
          </a:stretch>
        </p:blipFill>
        <p:spPr>
          <a:xfrm>
            <a:off x="365760" y="1143000"/>
            <a:ext cx="7589520" cy="3943713"/>
          </a:xfrm>
          <a:prstGeom prst="rect">
            <a:avLst/>
          </a:prstGeom>
        </p:spPr>
      </p:pic>
      <p:sp>
        <p:nvSpPr>
          <p:cNvPr id="9" name="TextBox 8"/>
          <p:cNvSpPr txBox="1"/>
          <p:nvPr/>
        </p:nvSpPr>
        <p:spPr>
          <a:xfrm>
            <a:off x="8138160" y="1280160"/>
            <a:ext cx="3840480" cy="5120640"/>
          </a:xfrm>
          <a:prstGeom prst="rect">
            <a:avLst/>
          </a:prstGeom>
          <a:noFill/>
        </p:spPr>
        <p:txBody>
          <a:bodyPr wrap="square">
            <a:spAutoFit/>
          </a:bodyPr>
          <a:lstStyle/>
          <a:p>
            <a:pPr>
              <a:spcAft>
                <a:spcPts val="800"/>
              </a:spcAft>
            </a:pPr>
            <a:r>
              <a:rPr sz="1600">
                <a:solidFill>
                  <a:srgbClr val="111827"/>
                </a:solidFill>
                <a:latin typeface="Segoe UI"/>
              </a:rPr>
              <a:t>•  6 tables, clés primaires et étrangères</a:t>
            </a:r>
          </a:p>
          <a:p>
            <a:pPr>
              <a:spcAft>
                <a:spcPts val="800"/>
              </a:spcAft>
            </a:pPr>
            <a:r>
              <a:rPr sz="1600">
                <a:solidFill>
                  <a:srgbClr val="111827"/>
                </a:solidFill>
                <a:latin typeface="Segoe UI"/>
              </a:rPr>
              <a:t>•  Contraintes CHECK : format INSEE, ROME, contrat</a:t>
            </a:r>
          </a:p>
          <a:p>
            <a:pPr>
              <a:spcAft>
                <a:spcPts val="800"/>
              </a:spcAft>
            </a:pPr>
            <a:r>
              <a:rPr sz="1600">
                <a:solidFill>
                  <a:srgbClr val="111827"/>
                </a:solidFill>
                <a:latin typeface="Segoe UI"/>
              </a:rPr>
              <a:t>•  ON DELETE RESTRICT / CASCADE</a:t>
            </a:r>
          </a:p>
          <a:p>
            <a:pPr>
              <a:spcAft>
                <a:spcPts val="800"/>
              </a:spcAft>
            </a:pPr>
            <a:r>
              <a:rPr sz="1600">
                <a:solidFill>
                  <a:srgbClr val="111827"/>
                </a:solidFill>
                <a:latin typeface="Segoe UI"/>
              </a:rPr>
              <a:t>•  Index sur les clés de jointure et les filtres</a:t>
            </a:r>
          </a:p>
          <a:p>
            <a:pPr>
              <a:spcAft>
                <a:spcPts val="800"/>
              </a:spcAft>
            </a:pPr>
            <a:r>
              <a:rPr sz="1600">
                <a:solidFill>
                  <a:srgbClr val="111827"/>
                </a:solidFill>
                <a:latin typeface="Segoe UI"/>
              </a:rPr>
              <a:t>•  3NF : pas de dépendance transitive</a:t>
            </a:r>
          </a:p>
          <a:p>
            <a:pPr>
              <a:spcAft>
                <a:spcPts val="800"/>
              </a:spcAft>
            </a:pPr>
            <a:r>
              <a:rPr sz="1600">
                <a:solidFill>
                  <a:srgbClr val="111827"/>
                </a:solidFill>
                <a:latin typeface="Segoe UI"/>
              </a:rPr>
              <a:t>•  Scripts : sql/01_schema.sql, 02_seed.sql, 03_queries.sql</a:t>
            </a:r>
          </a:p>
          <a:p>
            <a:pPr>
              <a:spcAft>
                <a:spcPts val="800"/>
              </a:spcAft>
            </a:pPr>
            <a:r>
              <a:rPr sz="1600">
                <a:solidFill>
                  <a:srgbClr val="111827"/>
                </a:solidFill>
                <a:latin typeface="Segoe UI"/>
              </a:rPr>
              <a:t>•  Modèle DBML : docs/model.dbml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TP2 : architecture de la plateforme</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TP2 — Architecture</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9 / 17</a:t>
            </a:r>
          </a:p>
        </p:txBody>
      </p:sp>
      <p:sp>
        <p:nvSpPr>
          <p:cNvPr id="8" name="Rounded Rectangle 7"/>
          <p:cNvSpPr/>
          <p:nvPr/>
        </p:nvSpPr>
        <p:spPr>
          <a:xfrm>
            <a:off x="457200" y="1371600"/>
            <a:ext cx="1920240" cy="822960"/>
          </a:xfrm>
          <a:prstGeom prst="roundRect">
            <a:avLst>
              <a:gd name="adj" fmla="val 13333"/>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Segoe UI"/>
              </a:rPr>
              <a:t>API France Travail</a:t>
            </a:r>
          </a:p>
          <a:p>
            <a:pPr algn="ctr"/>
            <a:r>
              <a:rPr sz="1000" b="0">
                <a:solidFill>
                  <a:srgbClr val="FFFFFF"/>
                </a:solidFill>
                <a:latin typeface="Segoe UI"/>
              </a:rPr>
              <a:t>toutes les 15 min</a:t>
            </a:r>
          </a:p>
        </p:txBody>
      </p:sp>
      <p:sp>
        <p:nvSpPr>
          <p:cNvPr id="9" name="Rounded Rectangle 8"/>
          <p:cNvSpPr/>
          <p:nvPr/>
        </p:nvSpPr>
        <p:spPr>
          <a:xfrm>
            <a:off x="2743200" y="1371600"/>
            <a:ext cx="1554480" cy="822960"/>
          </a:xfrm>
          <a:prstGeom prst="roundRect">
            <a:avLst>
              <a:gd name="adj" fmla="val 13333"/>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Segoe UI"/>
              </a:rPr>
              <a:t>Producer</a:t>
            </a:r>
          </a:p>
          <a:p>
            <a:pPr algn="ctr"/>
            <a:r>
              <a:rPr sz="1000" b="0">
                <a:solidFill>
                  <a:srgbClr val="FFFFFF"/>
                </a:solidFill>
                <a:latin typeface="Segoe UI"/>
              </a:rPr>
              <a:t>Python</a:t>
            </a:r>
          </a:p>
        </p:txBody>
      </p:sp>
      <p:sp>
        <p:nvSpPr>
          <p:cNvPr id="10" name="Rounded Rectangle 9"/>
          <p:cNvSpPr/>
          <p:nvPr/>
        </p:nvSpPr>
        <p:spPr>
          <a:xfrm>
            <a:off x="4663440" y="1371600"/>
            <a:ext cx="1554480" cy="822960"/>
          </a:xfrm>
          <a:prstGeom prst="roundRect">
            <a:avLst>
              <a:gd name="adj" fmla="val 13333"/>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Segoe UI"/>
              </a:rPr>
              <a:t>Kafka</a:t>
            </a:r>
          </a:p>
          <a:p>
            <a:pPr algn="ctr"/>
            <a:r>
              <a:rPr sz="1000" b="0">
                <a:solidFill>
                  <a:srgbClr val="FFFFFF"/>
                </a:solidFill>
                <a:latin typeface="Segoe UI"/>
              </a:rPr>
              <a:t>topic offres</a:t>
            </a:r>
          </a:p>
        </p:txBody>
      </p:sp>
      <p:sp>
        <p:nvSpPr>
          <p:cNvPr id="11" name="Rounded Rectangle 10"/>
          <p:cNvSpPr/>
          <p:nvPr/>
        </p:nvSpPr>
        <p:spPr>
          <a:xfrm>
            <a:off x="457200" y="2834640"/>
            <a:ext cx="1920240" cy="822960"/>
          </a:xfrm>
          <a:prstGeom prst="roundRect">
            <a:avLst>
              <a:gd name="adj" fmla="val 13333"/>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Segoe UI"/>
              </a:rPr>
              <a:t>API Géo</a:t>
            </a:r>
          </a:p>
          <a:p>
            <a:pPr algn="ctr"/>
            <a:r>
              <a:rPr sz="1000" b="0">
                <a:solidFill>
                  <a:srgbClr val="FFFFFF"/>
                </a:solidFill>
                <a:latin typeface="Segoe UI"/>
              </a:rPr>
              <a:t>1 fois / jour</a:t>
            </a:r>
          </a:p>
        </p:txBody>
      </p:sp>
      <p:sp>
        <p:nvSpPr>
          <p:cNvPr id="12" name="Rounded Rectangle 11"/>
          <p:cNvSpPr/>
          <p:nvPr/>
        </p:nvSpPr>
        <p:spPr>
          <a:xfrm>
            <a:off x="2743200" y="2834640"/>
            <a:ext cx="3474720" cy="822960"/>
          </a:xfrm>
          <a:prstGeom prst="roundRect">
            <a:avLst>
              <a:gd name="adj" fmla="val 13333"/>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Segoe UI"/>
              </a:rPr>
              <a:t>Collecteur communes</a:t>
            </a:r>
          </a:p>
          <a:p>
            <a:pPr algn="ctr"/>
            <a:r>
              <a:rPr sz="1000" b="0">
                <a:solidFill>
                  <a:srgbClr val="FFFFFF"/>
                </a:solidFill>
                <a:latin typeface="Segoe UI"/>
              </a:rPr>
              <a:t>Python</a:t>
            </a:r>
          </a:p>
        </p:txBody>
      </p:sp>
      <p:cxnSp>
        <p:nvCxnSpPr>
          <p:cNvPr id="13" name="Connector 12"/>
          <p:cNvCxnSpPr/>
          <p:nvPr/>
        </p:nvCxnSpPr>
        <p:spPr>
          <a:xfrm>
            <a:off x="2377440" y="1783080"/>
            <a:ext cx="365760"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97680" y="1783080"/>
            <a:ext cx="365760"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377440" y="3246120"/>
            <a:ext cx="365760"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675120" y="2103120"/>
            <a:ext cx="1737360" cy="914400"/>
          </a:xfrm>
          <a:prstGeom prst="roundRect">
            <a:avLst>
              <a:gd name="adj" fmla="val 12000"/>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Segoe UI"/>
              </a:rPr>
              <a:t>Agrégation</a:t>
            </a:r>
          </a:p>
          <a:p>
            <a:pPr algn="ctr"/>
            <a:r>
              <a:rPr sz="1000" b="0">
                <a:solidFill>
                  <a:srgbClr val="FFFFFF"/>
                </a:solidFill>
                <a:latin typeface="Segoe UI"/>
              </a:rPr>
              <a:t>jointure code INSEE</a:t>
            </a:r>
          </a:p>
        </p:txBody>
      </p:sp>
      <p:cxnSp>
        <p:nvCxnSpPr>
          <p:cNvPr id="17" name="Connector 16"/>
          <p:cNvCxnSpPr/>
          <p:nvPr/>
        </p:nvCxnSpPr>
        <p:spPr>
          <a:xfrm>
            <a:off x="6217920" y="1783080"/>
            <a:ext cx="457200" cy="59436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217920" y="2743200"/>
            <a:ext cx="457200" cy="50292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Can 18"/>
          <p:cNvSpPr/>
          <p:nvPr/>
        </p:nvSpPr>
        <p:spPr>
          <a:xfrm>
            <a:off x="8869680" y="2103120"/>
            <a:ext cx="1371600" cy="914400"/>
          </a:xfrm>
          <a:prstGeom prst="can">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Segoe UI"/>
              </a:rPr>
              <a:t>Data Lake</a:t>
            </a:r>
          </a:p>
          <a:p>
            <a:pPr algn="ctr"/>
            <a:r>
              <a:rPr sz="1000" b="0">
                <a:solidFill>
                  <a:srgbClr val="FFFFFF"/>
                </a:solidFill>
                <a:latin typeface="Segoe UI"/>
              </a:rPr>
              <a:t>volume</a:t>
            </a:r>
          </a:p>
        </p:txBody>
      </p:sp>
      <p:cxnSp>
        <p:nvCxnSpPr>
          <p:cNvPr id="20" name="Connector 19"/>
          <p:cNvCxnSpPr/>
          <p:nvPr/>
        </p:nvCxnSpPr>
        <p:spPr>
          <a:xfrm>
            <a:off x="8412480" y="2560320"/>
            <a:ext cx="457200"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607040" y="2103120"/>
            <a:ext cx="1188720" cy="914400"/>
          </a:xfrm>
          <a:prstGeom prst="roundRect">
            <a:avLst>
              <a:gd name="adj" fmla="val 12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Segoe UI"/>
              </a:rPr>
              <a:t>PySpark</a:t>
            </a:r>
          </a:p>
          <a:p>
            <a:pPr algn="ctr"/>
            <a:r>
              <a:rPr sz="1000" b="0">
                <a:solidFill>
                  <a:srgbClr val="FFFFFF"/>
                </a:solidFill>
                <a:latin typeface="Segoe UI"/>
              </a:rPr>
              <a:t>30 min</a:t>
            </a:r>
          </a:p>
        </p:txBody>
      </p:sp>
      <p:cxnSp>
        <p:nvCxnSpPr>
          <p:cNvPr id="22" name="Connector 21"/>
          <p:cNvCxnSpPr/>
          <p:nvPr/>
        </p:nvCxnSpPr>
        <p:spPr>
          <a:xfrm>
            <a:off x="10241280" y="2560320"/>
            <a:ext cx="365760"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Can 22"/>
          <p:cNvSpPr/>
          <p:nvPr/>
        </p:nvSpPr>
        <p:spPr>
          <a:xfrm>
            <a:off x="10332720" y="3931920"/>
            <a:ext cx="1737360" cy="914400"/>
          </a:xfrm>
          <a:prstGeom prst="can">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Segoe UI"/>
              </a:rPr>
              <a:t>PostgreSQL</a:t>
            </a:r>
          </a:p>
          <a:p>
            <a:pPr algn="ctr"/>
            <a:r>
              <a:rPr sz="1000" b="0">
                <a:solidFill>
                  <a:srgbClr val="FFFFFF"/>
                </a:solidFill>
                <a:latin typeface="Segoe UI"/>
              </a:rPr>
              <a:t>3NF TP1</a:t>
            </a:r>
          </a:p>
        </p:txBody>
      </p:sp>
      <p:cxnSp>
        <p:nvCxnSpPr>
          <p:cNvPr id="24" name="Connector 23"/>
          <p:cNvCxnSpPr/>
          <p:nvPr/>
        </p:nvCxnSpPr>
        <p:spPr>
          <a:xfrm>
            <a:off x="11201400" y="3017520"/>
            <a:ext cx="0" cy="91440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863840" y="3657600"/>
            <a:ext cx="2011680" cy="640080"/>
          </a:xfrm>
          <a:prstGeom prst="roundRect">
            <a:avLst>
              <a:gd name="adj" fmla="val 17142"/>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Segoe UI"/>
              </a:rPr>
              <a:t>Metabase</a:t>
            </a:r>
          </a:p>
        </p:txBody>
      </p:sp>
      <p:sp>
        <p:nvSpPr>
          <p:cNvPr id="26" name="Rounded Rectangle 25"/>
          <p:cNvSpPr/>
          <p:nvPr/>
        </p:nvSpPr>
        <p:spPr>
          <a:xfrm>
            <a:off x="7863840" y="4480560"/>
            <a:ext cx="2011680" cy="640080"/>
          </a:xfrm>
          <a:prstGeom prst="roundRect">
            <a:avLst>
              <a:gd name="adj" fmla="val 17142"/>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Segoe UI"/>
              </a:rPr>
              <a:t>Plotly Dash</a:t>
            </a:r>
          </a:p>
        </p:txBody>
      </p:sp>
      <p:cxnSp>
        <p:nvCxnSpPr>
          <p:cNvPr id="27" name="Connector 26"/>
          <p:cNvCxnSpPr/>
          <p:nvPr/>
        </p:nvCxnSpPr>
        <p:spPr>
          <a:xfrm flipH="1" flipV="1">
            <a:off x="9875520" y="3977639"/>
            <a:ext cx="457200" cy="228601"/>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9875520" y="4572000"/>
            <a:ext cx="457200" cy="22860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57200" y="4297680"/>
            <a:ext cx="6949440" cy="1737360"/>
          </a:xfrm>
          <a:prstGeom prst="roundRect">
            <a:avLst>
              <a:gd name="adj" fmla="val 6315"/>
            </a:avLst>
          </a:prstGeom>
          <a:solidFill>
            <a:srgbClr val="EFF6FF"/>
          </a:solidFill>
          <a:ln w="1587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343400"/>
            <a:ext cx="6583680" cy="365760"/>
          </a:xfrm>
          <a:prstGeom prst="rect">
            <a:avLst/>
          </a:prstGeom>
          <a:noFill/>
        </p:spPr>
        <p:txBody>
          <a:bodyPr wrap="square" anchor="t" lIns="45720" rIns="45720">
            <a:spAutoFit/>
          </a:bodyPr>
          <a:lstStyle/>
          <a:p>
            <a:pPr algn="l"/>
            <a:r>
              <a:rPr sz="1500" b="1">
                <a:solidFill>
                  <a:srgbClr val="1E3A8A"/>
                </a:solidFill>
                <a:latin typeface="Segoe UI"/>
              </a:rPr>
              <a:t>Supervision</a:t>
            </a:r>
          </a:p>
        </p:txBody>
      </p:sp>
      <p:sp>
        <p:nvSpPr>
          <p:cNvPr id="31" name="Rounded Rectangle 30"/>
          <p:cNvSpPr/>
          <p:nvPr/>
        </p:nvSpPr>
        <p:spPr>
          <a:xfrm>
            <a:off x="731520" y="4800600"/>
            <a:ext cx="2011680" cy="822960"/>
          </a:xfrm>
          <a:prstGeom prst="roundRect">
            <a:avLst>
              <a:gd name="adj" fmla="val 13333"/>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Segoe UI"/>
              </a:rPr>
              <a:t>Prometheus</a:t>
            </a:r>
          </a:p>
          <a:p>
            <a:pPr algn="ctr"/>
            <a:r>
              <a:rPr sz="1000" b="0">
                <a:solidFill>
                  <a:srgbClr val="FFFFFF"/>
                </a:solidFill>
                <a:latin typeface="Segoe UI"/>
              </a:rPr>
              <a:t>collecte métriques</a:t>
            </a:r>
          </a:p>
        </p:txBody>
      </p:sp>
      <p:sp>
        <p:nvSpPr>
          <p:cNvPr id="32" name="Rounded Rectangle 31"/>
          <p:cNvSpPr/>
          <p:nvPr/>
        </p:nvSpPr>
        <p:spPr>
          <a:xfrm>
            <a:off x="3200400" y="4800600"/>
            <a:ext cx="1828800" cy="822960"/>
          </a:xfrm>
          <a:prstGeom prst="roundRect">
            <a:avLst>
              <a:gd name="adj" fmla="val 13333"/>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Segoe UI"/>
              </a:rPr>
              <a:t>Grafana</a:t>
            </a:r>
          </a:p>
          <a:p>
            <a:pPr algn="ctr"/>
            <a:r>
              <a:rPr sz="1000" b="0">
                <a:solidFill>
                  <a:srgbClr val="FFFFFF"/>
                </a:solidFill>
                <a:latin typeface="Segoe UI"/>
              </a:rPr>
              <a:t>dashboard</a:t>
            </a:r>
          </a:p>
        </p:txBody>
      </p:sp>
      <p:cxnSp>
        <p:nvCxnSpPr>
          <p:cNvPr id="33" name="Connector 32"/>
          <p:cNvCxnSpPr/>
          <p:nvPr/>
        </p:nvCxnSpPr>
        <p:spPr>
          <a:xfrm>
            <a:off x="2743200" y="5212080"/>
            <a:ext cx="457200"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212080" y="4754880"/>
            <a:ext cx="2103120" cy="1005840"/>
          </a:xfrm>
          <a:prstGeom prst="rect">
            <a:avLst/>
          </a:prstGeom>
          <a:noFill/>
        </p:spPr>
        <p:txBody>
          <a:bodyPr wrap="square" anchor="t" lIns="45720" rIns="45720">
            <a:spAutoFit/>
          </a:bodyPr>
          <a:lstStyle/>
          <a:p>
            <a:pPr algn="l"/>
            <a:r>
              <a:rPr sz="1200" b="0">
                <a:solidFill>
                  <a:srgbClr val="6B7280"/>
                </a:solidFill>
                <a:latin typeface="Segoe UI"/>
              </a:rPr>
              <a:t>exporters PostgreSQL,</a:t>
            </a:r>
          </a:p>
          <a:p>
            <a:pPr algn="l"/>
            <a:r>
              <a:rPr sz="1200" b="0">
                <a:solidFill>
                  <a:srgbClr val="6B7280"/>
                </a:solidFill>
                <a:latin typeface="Segoe UI"/>
              </a:rPr>
              <a:t>Kafka, cAdvisor,</a:t>
            </a:r>
          </a:p>
          <a:p>
            <a:pPr algn="l"/>
            <a:r>
              <a:rPr sz="1200" b="0">
                <a:solidFill>
                  <a:srgbClr val="6B7280"/>
                </a:solidFill>
                <a:latin typeface="Segoe UI"/>
              </a:rPr>
              <a:t>services Python</a:t>
            </a:r>
          </a:p>
        </p:txBody>
      </p:sp>
      <p:sp>
        <p:nvSpPr>
          <p:cNvPr id="35" name="TextBox 34"/>
          <p:cNvSpPr txBox="1"/>
          <p:nvPr/>
        </p:nvSpPr>
        <p:spPr>
          <a:xfrm>
            <a:off x="457200" y="6172200"/>
            <a:ext cx="11247120" cy="365760"/>
          </a:xfrm>
          <a:prstGeom prst="rect">
            <a:avLst/>
          </a:prstGeom>
          <a:noFill/>
        </p:spPr>
        <p:txBody>
          <a:bodyPr wrap="square" anchor="t" lIns="45720" rIns="45720">
            <a:spAutoFit/>
          </a:bodyPr>
          <a:lstStyle/>
          <a:p>
            <a:pPr algn="l"/>
            <a:r>
              <a:rPr sz="1400" b="1">
                <a:solidFill>
                  <a:srgbClr val="1E3A8A"/>
                </a:solidFill>
                <a:latin typeface="Segoe UI"/>
              </a:rPr>
              <a:t>Tout est orchestré par Docker Compose : docker compose up -d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Les deux sources complémentaires</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TP2 — Collecte</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10 / 17</a:t>
            </a:r>
          </a:p>
        </p:txBody>
      </p:sp>
      <p:sp>
        <p:nvSpPr>
          <p:cNvPr id="8" name="Rounded Rectangle 7"/>
          <p:cNvSpPr/>
          <p:nvPr/>
        </p:nvSpPr>
        <p:spPr>
          <a:xfrm>
            <a:off x="548640" y="1371600"/>
            <a:ext cx="4206240" cy="731520"/>
          </a:xfrm>
          <a:prstGeom prst="roundRect">
            <a:avLst>
              <a:gd name="adj" fmla="val 15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1">
                <a:solidFill>
                  <a:srgbClr val="FFFFFF"/>
                </a:solidFill>
                <a:latin typeface="Segoe UI"/>
              </a:rPr>
              <a:t>Source 1 — API France Travail</a:t>
            </a:r>
          </a:p>
        </p:txBody>
      </p:sp>
      <p:sp>
        <p:nvSpPr>
          <p:cNvPr id="9" name="TextBox 8"/>
          <p:cNvSpPr txBox="1"/>
          <p:nvPr/>
        </p:nvSpPr>
        <p:spPr>
          <a:xfrm>
            <a:off x="731520" y="2286000"/>
            <a:ext cx="4023360" cy="2743200"/>
          </a:xfrm>
          <a:prstGeom prst="rect">
            <a:avLst/>
          </a:prstGeom>
          <a:noFill/>
        </p:spPr>
        <p:txBody>
          <a:bodyPr wrap="square">
            <a:spAutoFit/>
          </a:bodyPr>
          <a:lstStyle/>
          <a:p>
            <a:pPr>
              <a:spcAft>
                <a:spcPts val="800"/>
              </a:spcAft>
            </a:pPr>
            <a:r>
              <a:rPr sz="1700">
                <a:solidFill>
                  <a:srgbClr val="111827"/>
                </a:solidFill>
                <a:latin typeface="Segoe UI"/>
              </a:rPr>
              <a:t>•  Offres d'emploi v2 (JSON)</a:t>
            </a:r>
          </a:p>
          <a:p>
            <a:pPr>
              <a:spcAft>
                <a:spcPts val="800"/>
              </a:spcAft>
            </a:pPr>
            <a:r>
              <a:rPr sz="1700">
                <a:solidFill>
                  <a:srgbClr val="111827"/>
                </a:solidFill>
                <a:latin typeface="Segoe UI"/>
              </a:rPr>
              <a:t>•  OAuth2</a:t>
            </a:r>
          </a:p>
          <a:p>
            <a:pPr>
              <a:spcAft>
                <a:spcPts val="800"/>
              </a:spcAft>
            </a:pPr>
            <a:r>
              <a:rPr sz="1700">
                <a:solidFill>
                  <a:srgbClr val="111827"/>
                </a:solidFill>
                <a:latin typeface="Segoe UI"/>
              </a:rPr>
              <a:t>•  Producer → Kafka</a:t>
            </a:r>
          </a:p>
          <a:p>
            <a:pPr>
              <a:spcAft>
                <a:spcPts val="800"/>
              </a:spcAft>
            </a:pPr>
            <a:r>
              <a:rPr sz="1700">
                <a:solidFill>
                  <a:srgbClr val="111827"/>
                </a:solidFill>
                <a:latin typeface="Segoe UI"/>
              </a:rPr>
              <a:t>•  topic france-travail.offres.raw</a:t>
            </a:r>
          </a:p>
          <a:p>
            <a:pPr>
              <a:spcAft>
                <a:spcPts val="800"/>
              </a:spcAft>
            </a:pPr>
            <a:r>
              <a:rPr sz="1700">
                <a:solidFill>
                  <a:srgbClr val="111827"/>
                </a:solidFill>
                <a:latin typeface="Segoe UI"/>
              </a:rPr>
              <a:t>•  toutes les 15 minutes</a:t>
            </a:r>
          </a:p>
        </p:txBody>
      </p:sp>
      <p:sp>
        <p:nvSpPr>
          <p:cNvPr id="10" name="Rounded Rectangle 9"/>
          <p:cNvSpPr/>
          <p:nvPr/>
        </p:nvSpPr>
        <p:spPr>
          <a:xfrm>
            <a:off x="7406640" y="1371600"/>
            <a:ext cx="4206240" cy="731520"/>
          </a:xfrm>
          <a:prstGeom prst="roundRect">
            <a:avLst>
              <a:gd name="adj" fmla="val 15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1">
                <a:solidFill>
                  <a:srgbClr val="FFFFFF"/>
                </a:solidFill>
                <a:latin typeface="Segoe UI"/>
              </a:rPr>
              <a:t>Source 2 — API Géo (geo.api.gouv.fr)</a:t>
            </a:r>
          </a:p>
        </p:txBody>
      </p:sp>
      <p:sp>
        <p:nvSpPr>
          <p:cNvPr id="11" name="TextBox 10"/>
          <p:cNvSpPr txBox="1"/>
          <p:nvPr/>
        </p:nvSpPr>
        <p:spPr>
          <a:xfrm>
            <a:off x="7589519" y="2286000"/>
            <a:ext cx="4023360" cy="2743200"/>
          </a:xfrm>
          <a:prstGeom prst="rect">
            <a:avLst/>
          </a:prstGeom>
          <a:noFill/>
        </p:spPr>
        <p:txBody>
          <a:bodyPr wrap="square">
            <a:spAutoFit/>
          </a:bodyPr>
          <a:lstStyle/>
          <a:p>
            <a:pPr>
              <a:spcAft>
                <a:spcPts val="800"/>
              </a:spcAft>
            </a:pPr>
            <a:r>
              <a:rPr sz="1700">
                <a:solidFill>
                  <a:srgbClr val="111827"/>
                </a:solidFill>
                <a:latin typeface="Segoe UI"/>
              </a:rPr>
              <a:t>•  Référentiel des communes (JSON)</a:t>
            </a:r>
          </a:p>
          <a:p>
            <a:pPr>
              <a:spcAft>
                <a:spcPts val="800"/>
              </a:spcAft>
            </a:pPr>
            <a:r>
              <a:rPr sz="1700">
                <a:solidFill>
                  <a:srgbClr val="111827"/>
                </a:solidFill>
                <a:latin typeface="Segoe UI"/>
              </a:rPr>
              <a:t>•  Sans authentification</a:t>
            </a:r>
          </a:p>
          <a:p>
            <a:pPr>
              <a:spcAft>
                <a:spcPts val="800"/>
              </a:spcAft>
            </a:pPr>
            <a:r>
              <a:rPr sz="1700">
                <a:solidFill>
                  <a:srgbClr val="111827"/>
                </a:solidFill>
                <a:latin typeface="Segoe UI"/>
              </a:rPr>
              <a:t>•  Collecteur → Data Lake</a:t>
            </a:r>
          </a:p>
          <a:p>
            <a:pPr>
              <a:spcAft>
                <a:spcPts val="800"/>
              </a:spcAft>
            </a:pPr>
            <a:r>
              <a:rPr sz="1700">
                <a:solidFill>
                  <a:srgbClr val="111827"/>
                </a:solidFill>
                <a:latin typeface="Segoe UI"/>
              </a:rPr>
              <a:t>•  raw/communes/</a:t>
            </a:r>
          </a:p>
          <a:p>
            <a:pPr>
              <a:spcAft>
                <a:spcPts val="800"/>
              </a:spcAft>
            </a:pPr>
            <a:r>
              <a:rPr sz="1700">
                <a:solidFill>
                  <a:srgbClr val="111827"/>
                </a:solidFill>
                <a:latin typeface="Segoe UI"/>
              </a:rPr>
              <a:t>•  1 fois par jour</a:t>
            </a:r>
          </a:p>
        </p:txBody>
      </p:sp>
      <p:sp>
        <p:nvSpPr>
          <p:cNvPr id="12" name="Left-Right Arrow 11"/>
          <p:cNvSpPr/>
          <p:nvPr/>
        </p:nvSpPr>
        <p:spPr>
          <a:xfrm>
            <a:off x="4983480" y="2651760"/>
            <a:ext cx="2194560" cy="1005840"/>
          </a:xfrm>
          <a:prstGeom prst="leftRightArrow">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FFFFFF"/>
                </a:solidFill>
                <a:latin typeface="Segoe UI"/>
              </a:rPr>
              <a:t>code INSEE</a:t>
            </a:r>
          </a:p>
        </p:txBody>
      </p:sp>
      <p:sp>
        <p:nvSpPr>
          <p:cNvPr id="13" name="Rounded Rectangle 12"/>
          <p:cNvSpPr/>
          <p:nvPr/>
        </p:nvSpPr>
        <p:spPr>
          <a:xfrm>
            <a:off x="1828800" y="5029200"/>
            <a:ext cx="8503920" cy="1097280"/>
          </a:xfrm>
          <a:prstGeom prst="roundRect">
            <a:avLst>
              <a:gd name="adj" fmla="val 10000"/>
            </a:avLst>
          </a:prstGeom>
          <a:solidFill>
            <a:srgbClr val="EFF6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700" b="1">
                <a:solidFill>
                  <a:srgbClr val="111827"/>
                </a:solidFill>
                <a:latin typeface="Segoe UI"/>
              </a:rPr>
              <a:t>Résultat réel : 50 offres sur 55 reliées à une commune officielle</a:t>
            </a:r>
          </a:p>
          <a:p>
            <a:pPr algn="ctr"/>
            <a:r>
              <a:rPr sz="1400" b="0">
                <a:solidFill>
                  <a:srgbClr val="111827"/>
                </a:solidFill>
                <a:latin typeface="Segoe UI"/>
              </a:rPr>
              <a:t>nom et coordonnées GPS corrigés, statut de jointure tracé dans tp2_offre_enrichment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Kafka, agrégation et Data Lake</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TP2 — Stockage</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11 / 17</a:t>
            </a:r>
          </a:p>
        </p:txBody>
      </p:sp>
      <p:graphicFrame>
        <p:nvGraphicFramePr>
          <p:cNvPr id="8" name="Table 7"/>
          <p:cNvGraphicFramePr>
            <a:graphicFrameLocks noGrp="1"/>
          </p:cNvGraphicFramePr>
          <p:nvPr/>
        </p:nvGraphicFramePr>
        <p:xfrm>
          <a:off x="457200" y="1280160"/>
          <a:ext cx="11247120" cy="3401568"/>
        </p:xfrm>
        <a:graphic>
          <a:graphicData uri="http://schemas.openxmlformats.org/drawingml/2006/table">
            <a:tbl>
              <a:tblPr firstRow="1" bandRow="1">
                <a:tableStyleId>{5C22544A-7EE6-4342-B048-85BDC9FD1C3A}</a:tableStyleId>
              </a:tblPr>
              <a:tblGrid>
                <a:gridCol w="2743200"/>
                <a:gridCol w="2468880"/>
                <a:gridCol w="3840480"/>
                <a:gridCol w="2194560"/>
              </a:tblGrid>
              <a:tr h="566928">
                <a:tc>
                  <a:txBody>
                    <a:bodyPr/>
                    <a:lstStyle/>
                    <a:p>
                      <a:r>
                        <a:rPr sz="1500" b="1">
                          <a:solidFill>
                            <a:srgbClr val="FFFFFF"/>
                          </a:solidFill>
                          <a:latin typeface="Segoe UI"/>
                        </a:rPr>
                        <a:t>Zone du Data Lake</a:t>
                      </a:r>
                    </a:p>
                  </a:txBody>
                  <a:tcPr marL="73152" marR="73152" anchor="ctr">
                    <a:solidFill>
                      <a:srgbClr val="1E3A8A"/>
                    </a:solidFill>
                  </a:tcPr>
                </a:tc>
                <a:tc>
                  <a:txBody>
                    <a:bodyPr/>
                    <a:lstStyle/>
                    <a:p>
                      <a:r>
                        <a:rPr sz="1500" b="1">
                          <a:solidFill>
                            <a:srgbClr val="FFFFFF"/>
                          </a:solidFill>
                          <a:latin typeface="Segoe UI"/>
                        </a:rPr>
                        <a:t>Format</a:t>
                      </a:r>
                    </a:p>
                  </a:txBody>
                  <a:tcPr marL="73152" marR="73152" anchor="ctr">
                    <a:solidFill>
                      <a:srgbClr val="1E3A8A"/>
                    </a:solidFill>
                  </a:tcPr>
                </a:tc>
                <a:tc>
                  <a:txBody>
                    <a:bodyPr/>
                    <a:lstStyle/>
                    <a:p>
                      <a:r>
                        <a:rPr sz="1500" b="1">
                          <a:solidFill>
                            <a:srgbClr val="FFFFFF"/>
                          </a:solidFill>
                          <a:latin typeface="Segoe UI"/>
                        </a:rPr>
                        <a:t>Contenu</a:t>
                      </a:r>
                    </a:p>
                  </a:txBody>
                  <a:tcPr marL="73152" marR="73152" anchor="ctr">
                    <a:solidFill>
                      <a:srgbClr val="1E3A8A"/>
                    </a:solidFill>
                  </a:tcPr>
                </a:tc>
                <a:tc>
                  <a:txBody>
                    <a:bodyPr/>
                    <a:lstStyle/>
                    <a:p>
                      <a:r>
                        <a:rPr sz="1500" b="1">
                          <a:solidFill>
                            <a:srgbClr val="FFFFFF"/>
                          </a:solidFill>
                          <a:latin typeface="Segoe UI"/>
                        </a:rPr>
                        <a:t>Écrit par</a:t>
                      </a:r>
                    </a:p>
                  </a:txBody>
                  <a:tcPr marL="73152" marR="73152" anchor="ctr">
                    <a:solidFill>
                      <a:srgbClr val="1E3A8A"/>
                    </a:solidFill>
                  </a:tcPr>
                </a:tc>
              </a:tr>
              <a:tr h="566928">
                <a:tc>
                  <a:txBody>
                    <a:bodyPr/>
                    <a:lstStyle/>
                    <a:p>
                      <a:r>
                        <a:rPr sz="1500">
                          <a:solidFill>
                            <a:srgbClr val="111827"/>
                          </a:solidFill>
                          <a:latin typeface="Segoe UI"/>
                        </a:rPr>
                        <a:t>raw/france_travail/</a:t>
                      </a:r>
                    </a:p>
                  </a:txBody>
                  <a:tcPr marL="73152" marR="73152" anchor="ctr">
                    <a:solidFill>
                      <a:srgbClr val="EFF6FF"/>
                    </a:solidFill>
                  </a:tcPr>
                </a:tc>
                <a:tc>
                  <a:txBody>
                    <a:bodyPr/>
                    <a:lstStyle/>
                    <a:p>
                      <a:r>
                        <a:rPr sz="1500">
                          <a:solidFill>
                            <a:srgbClr val="111827"/>
                          </a:solidFill>
                          <a:latin typeface="Segoe UI"/>
                        </a:rPr>
                        <a:t>JSON (1 fichier / offre)</a:t>
                      </a:r>
                    </a:p>
                  </a:txBody>
                  <a:tcPr marL="73152" marR="73152" anchor="ctr">
                    <a:solidFill>
                      <a:srgbClr val="EFF6FF"/>
                    </a:solidFill>
                  </a:tcPr>
                </a:tc>
                <a:tc>
                  <a:txBody>
                    <a:bodyPr/>
                    <a:lstStyle/>
                    <a:p>
                      <a:r>
                        <a:rPr sz="1500">
                          <a:solidFill>
                            <a:srgbClr val="111827"/>
                          </a:solidFill>
                          <a:latin typeface="Segoe UI"/>
                        </a:rPr>
                        <a:t>Offre brute, telle que reçue de Kafka</a:t>
                      </a:r>
                    </a:p>
                  </a:txBody>
                  <a:tcPr marL="73152" marR="73152" anchor="ctr">
                    <a:solidFill>
                      <a:srgbClr val="EFF6FF"/>
                    </a:solidFill>
                  </a:tcPr>
                </a:tc>
                <a:tc>
                  <a:txBody>
                    <a:bodyPr/>
                    <a:lstStyle/>
                    <a:p>
                      <a:r>
                        <a:rPr sz="1500">
                          <a:solidFill>
                            <a:srgbClr val="111827"/>
                          </a:solidFill>
                          <a:latin typeface="Segoe UI"/>
                        </a:rPr>
                        <a:t>Agrégateur</a:t>
                      </a:r>
                    </a:p>
                  </a:txBody>
                  <a:tcPr marL="73152" marR="73152" anchor="ctr">
                    <a:solidFill>
                      <a:srgbClr val="EFF6FF"/>
                    </a:solidFill>
                  </a:tcPr>
                </a:tc>
              </a:tr>
              <a:tr h="566928">
                <a:tc>
                  <a:txBody>
                    <a:bodyPr/>
                    <a:lstStyle/>
                    <a:p>
                      <a:r>
                        <a:rPr sz="1500">
                          <a:solidFill>
                            <a:srgbClr val="111827"/>
                          </a:solidFill>
                          <a:latin typeface="Segoe UI"/>
                        </a:rPr>
                        <a:t>raw/communes/</a:t>
                      </a:r>
                    </a:p>
                  </a:txBody>
                  <a:tcPr marL="73152" marR="73152" anchor="ctr">
                    <a:solidFill>
                      <a:srgbClr val="FFFFFF"/>
                    </a:solidFill>
                  </a:tcPr>
                </a:tc>
                <a:tc>
                  <a:txBody>
                    <a:bodyPr/>
                    <a:lstStyle/>
                    <a:p>
                      <a:r>
                        <a:rPr sz="1500">
                          <a:solidFill>
                            <a:srgbClr val="111827"/>
                          </a:solidFill>
                          <a:latin typeface="Segoe UI"/>
                        </a:rPr>
                        <a:t>JSON</a:t>
                      </a:r>
                    </a:p>
                  </a:txBody>
                  <a:tcPr marL="73152" marR="73152" anchor="ctr">
                    <a:solidFill>
                      <a:srgbClr val="FFFFFF"/>
                    </a:solidFill>
                  </a:tcPr>
                </a:tc>
                <a:tc>
                  <a:txBody>
                    <a:bodyPr/>
                    <a:lstStyle/>
                    <a:p>
                      <a:r>
                        <a:rPr sz="1500">
                          <a:solidFill>
                            <a:srgbClr val="111827"/>
                          </a:solidFill>
                          <a:latin typeface="Segoe UI"/>
                        </a:rPr>
                        <a:t>Référentiel officiel des communes</a:t>
                      </a:r>
                    </a:p>
                  </a:txBody>
                  <a:tcPr marL="73152" marR="73152" anchor="ctr">
                    <a:solidFill>
                      <a:srgbClr val="FFFFFF"/>
                    </a:solidFill>
                  </a:tcPr>
                </a:tc>
                <a:tc>
                  <a:txBody>
                    <a:bodyPr/>
                    <a:lstStyle/>
                    <a:p>
                      <a:r>
                        <a:rPr sz="1500">
                          <a:solidFill>
                            <a:srgbClr val="111827"/>
                          </a:solidFill>
                          <a:latin typeface="Segoe UI"/>
                        </a:rPr>
                        <a:t>Collecteur communes</a:t>
                      </a:r>
                    </a:p>
                  </a:txBody>
                  <a:tcPr marL="73152" marR="73152" anchor="ctr">
                    <a:solidFill>
                      <a:srgbClr val="FFFFFF"/>
                    </a:solidFill>
                  </a:tcPr>
                </a:tc>
              </a:tr>
              <a:tr h="566928">
                <a:tc>
                  <a:txBody>
                    <a:bodyPr/>
                    <a:lstStyle/>
                    <a:p>
                      <a:r>
                        <a:rPr sz="1500">
                          <a:solidFill>
                            <a:srgbClr val="111827"/>
                          </a:solidFill>
                          <a:latin typeface="Segoe UI"/>
                        </a:rPr>
                        <a:t>aggregated/offres/</a:t>
                      </a:r>
                    </a:p>
                  </a:txBody>
                  <a:tcPr marL="73152" marR="73152" anchor="ctr">
                    <a:solidFill>
                      <a:srgbClr val="EFF6FF"/>
                    </a:solidFill>
                  </a:tcPr>
                </a:tc>
                <a:tc>
                  <a:txBody>
                    <a:bodyPr/>
                    <a:lstStyle/>
                    <a:p>
                      <a:r>
                        <a:rPr sz="1500">
                          <a:solidFill>
                            <a:srgbClr val="111827"/>
                          </a:solidFill>
                          <a:latin typeface="Segoe UI"/>
                        </a:rPr>
                        <a:t>JSONL</a:t>
                      </a:r>
                    </a:p>
                  </a:txBody>
                  <a:tcPr marL="73152" marR="73152" anchor="ctr">
                    <a:solidFill>
                      <a:srgbClr val="EFF6FF"/>
                    </a:solidFill>
                  </a:tcPr>
                </a:tc>
                <a:tc>
                  <a:txBody>
                    <a:bodyPr/>
                    <a:lstStyle/>
                    <a:p>
                      <a:r>
                        <a:rPr sz="1500">
                          <a:solidFill>
                            <a:srgbClr val="111827"/>
                          </a:solidFill>
                          <a:latin typeface="Segoe UI"/>
                        </a:rPr>
                        <a:t>Offre + fiche commune officielle</a:t>
                      </a:r>
                    </a:p>
                  </a:txBody>
                  <a:tcPr marL="73152" marR="73152" anchor="ctr">
                    <a:solidFill>
                      <a:srgbClr val="EFF6FF"/>
                    </a:solidFill>
                  </a:tcPr>
                </a:tc>
                <a:tc>
                  <a:txBody>
                    <a:bodyPr/>
                    <a:lstStyle/>
                    <a:p>
                      <a:r>
                        <a:rPr sz="1500">
                          <a:solidFill>
                            <a:srgbClr val="111827"/>
                          </a:solidFill>
                          <a:latin typeface="Segoe UI"/>
                        </a:rPr>
                        <a:t>Agrégateur</a:t>
                      </a:r>
                    </a:p>
                  </a:txBody>
                  <a:tcPr marL="73152" marR="73152" anchor="ctr">
                    <a:solidFill>
                      <a:srgbClr val="EFF6FF"/>
                    </a:solidFill>
                  </a:tcPr>
                </a:tc>
              </a:tr>
              <a:tr h="566928">
                <a:tc>
                  <a:txBody>
                    <a:bodyPr/>
                    <a:lstStyle/>
                    <a:p>
                      <a:r>
                        <a:rPr sz="1500">
                          <a:solidFill>
                            <a:srgbClr val="111827"/>
                          </a:solidFill>
                          <a:latin typeface="Segoe UI"/>
                        </a:rPr>
                        <a:t>curated/offres/</a:t>
                      </a:r>
                    </a:p>
                  </a:txBody>
                  <a:tcPr marL="73152" marR="73152" anchor="ctr">
                    <a:solidFill>
                      <a:srgbClr val="FFFFFF"/>
                    </a:solidFill>
                  </a:tcPr>
                </a:tc>
                <a:tc>
                  <a:txBody>
                    <a:bodyPr/>
                    <a:lstStyle/>
                    <a:p>
                      <a:r>
                        <a:rPr sz="1500">
                          <a:solidFill>
                            <a:srgbClr val="111827"/>
                          </a:solidFill>
                          <a:latin typeface="Segoe UI"/>
                        </a:rPr>
                        <a:t>Parquet (Snappy)</a:t>
                      </a:r>
                    </a:p>
                  </a:txBody>
                  <a:tcPr marL="73152" marR="73152" anchor="ctr">
                    <a:solidFill>
                      <a:srgbClr val="FFFFFF"/>
                    </a:solidFill>
                  </a:tcPr>
                </a:tc>
                <a:tc>
                  <a:txBody>
                    <a:bodyPr/>
                    <a:lstStyle/>
                    <a:p>
                      <a:r>
                        <a:rPr sz="1500">
                          <a:solidFill>
                            <a:srgbClr val="111827"/>
                          </a:solidFill>
                          <a:latin typeface="Segoe UI"/>
                        </a:rPr>
                        <a:t>Offres nettoyées et typées</a:t>
                      </a:r>
                    </a:p>
                  </a:txBody>
                  <a:tcPr marL="73152" marR="73152" anchor="ctr">
                    <a:solidFill>
                      <a:srgbClr val="FFFFFF"/>
                    </a:solidFill>
                  </a:tcPr>
                </a:tc>
                <a:tc>
                  <a:txBody>
                    <a:bodyPr/>
                    <a:lstStyle/>
                    <a:p>
                      <a:r>
                        <a:rPr sz="1500">
                          <a:solidFill>
                            <a:srgbClr val="111827"/>
                          </a:solidFill>
                          <a:latin typeface="Segoe UI"/>
                        </a:rPr>
                        <a:t>PySpark</a:t>
                      </a:r>
                    </a:p>
                  </a:txBody>
                  <a:tcPr marL="73152" marR="73152" anchor="ctr">
                    <a:solidFill>
                      <a:srgbClr val="FFFFFF"/>
                    </a:solidFill>
                  </a:tcPr>
                </a:tc>
              </a:tr>
              <a:tr h="566928">
                <a:tc>
                  <a:txBody>
                    <a:bodyPr/>
                    <a:lstStyle/>
                    <a:p>
                      <a:r>
                        <a:rPr sz="1500">
                          <a:solidFill>
                            <a:srgbClr val="111827"/>
                          </a:solidFill>
                          <a:latin typeface="Segoe UI"/>
                        </a:rPr>
                        <a:t>quarantine/spark/</a:t>
                      </a:r>
                    </a:p>
                  </a:txBody>
                  <a:tcPr marL="73152" marR="73152" anchor="ctr">
                    <a:solidFill>
                      <a:srgbClr val="EFF6FF"/>
                    </a:solidFill>
                  </a:tcPr>
                </a:tc>
                <a:tc>
                  <a:txBody>
                    <a:bodyPr/>
                    <a:lstStyle/>
                    <a:p>
                      <a:r>
                        <a:rPr sz="1500">
                          <a:solidFill>
                            <a:srgbClr val="111827"/>
                          </a:solidFill>
                          <a:latin typeface="Segoe UI"/>
                        </a:rPr>
                        <a:t>JSON Lines</a:t>
                      </a:r>
                    </a:p>
                  </a:txBody>
                  <a:tcPr marL="73152" marR="73152" anchor="ctr">
                    <a:solidFill>
                      <a:srgbClr val="EFF6FF"/>
                    </a:solidFill>
                  </a:tcPr>
                </a:tc>
                <a:tc>
                  <a:txBody>
                    <a:bodyPr/>
                    <a:lstStyle/>
                    <a:p>
                      <a:r>
                        <a:rPr sz="1500">
                          <a:solidFill>
                            <a:srgbClr val="111827"/>
                          </a:solidFill>
                          <a:latin typeface="Segoe UI"/>
                        </a:rPr>
                        <a:t>Offres rejetées + raison du rejet</a:t>
                      </a:r>
                    </a:p>
                  </a:txBody>
                  <a:tcPr marL="73152" marR="73152" anchor="ctr">
                    <a:solidFill>
                      <a:srgbClr val="EFF6FF"/>
                    </a:solidFill>
                  </a:tcPr>
                </a:tc>
                <a:tc>
                  <a:txBody>
                    <a:bodyPr/>
                    <a:lstStyle/>
                    <a:p>
                      <a:r>
                        <a:rPr sz="1500">
                          <a:solidFill>
                            <a:srgbClr val="111827"/>
                          </a:solidFill>
                          <a:latin typeface="Segoe UI"/>
                        </a:rPr>
                        <a:t>PySpark</a:t>
                      </a:r>
                    </a:p>
                  </a:txBody>
                  <a:tcPr marL="73152" marR="73152" anchor="ctr">
                    <a:solidFill>
                      <a:srgbClr val="EFF6FF"/>
                    </a:solidFill>
                  </a:tcPr>
                </a:tc>
              </a:tr>
            </a:tbl>
          </a:graphicData>
        </a:graphic>
      </p:graphicFrame>
      <p:sp>
        <p:nvSpPr>
          <p:cNvPr id="9" name="TextBox 8"/>
          <p:cNvSpPr txBox="1"/>
          <p:nvPr/>
        </p:nvSpPr>
        <p:spPr>
          <a:xfrm>
            <a:off x="548640" y="4892040"/>
            <a:ext cx="10972800" cy="1554480"/>
          </a:xfrm>
          <a:prstGeom prst="rect">
            <a:avLst/>
          </a:prstGeom>
          <a:noFill/>
        </p:spPr>
        <p:txBody>
          <a:bodyPr wrap="square">
            <a:spAutoFit/>
          </a:bodyPr>
          <a:lstStyle/>
          <a:p>
            <a:pPr>
              <a:spcAft>
                <a:spcPts val="800"/>
              </a:spcAft>
            </a:pPr>
            <a:r>
              <a:rPr sz="1500">
                <a:solidFill>
                  <a:srgbClr val="111827"/>
                </a:solidFill>
                <a:latin typeface="Segoe UI"/>
              </a:rPr>
              <a:t>•  Volume Docker : tp_cours_audit_cartographie_sql_data_lake, monté sur /data-lake</a:t>
            </a:r>
          </a:p>
          <a:p>
            <a:pPr>
              <a:spcAft>
                <a:spcPts val="800"/>
              </a:spcAft>
            </a:pPr>
            <a:r>
              <a:rPr sz="1500">
                <a:solidFill>
                  <a:srgbClr val="111827"/>
                </a:solidFill>
                <a:latin typeface="Segoe UI"/>
              </a:rPr>
              <a:t>•  Partitionnement par date d'ingestion (ingestion_date=…) et par passage Spark (run_id=…)</a:t>
            </a:r>
          </a:p>
          <a:p>
            <a:pPr>
              <a:spcAft>
                <a:spcPts val="800"/>
              </a:spcAft>
            </a:pPr>
            <a:r>
              <a:rPr sz="1500">
                <a:solidFill>
                  <a:srgbClr val="111827"/>
                </a:solidFill>
                <a:latin typeface="Segoe UI"/>
              </a:rPr>
              <a:t>•  Identifiant d'événement déterministe : une même offre n'est jamais stockée deux fois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PySpark : du brut au propre</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TP2 — Transformation</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12 / 17</a:t>
            </a:r>
          </a:p>
        </p:txBody>
      </p:sp>
      <p:sp>
        <p:nvSpPr>
          <p:cNvPr id="8" name="Rounded Rectangle 7"/>
          <p:cNvSpPr/>
          <p:nvPr/>
        </p:nvSpPr>
        <p:spPr>
          <a:xfrm>
            <a:off x="457200" y="1371600"/>
            <a:ext cx="1993392" cy="1097280"/>
          </a:xfrm>
          <a:prstGeom prst="roundRect">
            <a:avLst>
              <a:gd name="adj" fmla="val 1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Segoe UI"/>
              </a:rPr>
              <a:t>Lecture</a:t>
            </a:r>
          </a:p>
          <a:p>
            <a:pPr algn="ctr"/>
            <a:r>
              <a:rPr sz="1100" b="0">
                <a:solidFill>
                  <a:srgbClr val="FFFFFF"/>
                </a:solidFill>
                <a:latin typeface="Segoe UI"/>
              </a:rPr>
              <a:t>aggregated JSONL</a:t>
            </a:r>
          </a:p>
        </p:txBody>
      </p:sp>
      <p:sp>
        <p:nvSpPr>
          <p:cNvPr id="9" name="Rounded Rectangle 8"/>
          <p:cNvSpPr/>
          <p:nvPr/>
        </p:nvSpPr>
        <p:spPr>
          <a:xfrm>
            <a:off x="2770632" y="1371600"/>
            <a:ext cx="1993392" cy="1097280"/>
          </a:xfrm>
          <a:prstGeom prst="roundRect">
            <a:avLst>
              <a:gd name="adj" fmla="val 1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Segoe UI"/>
              </a:rPr>
              <a:t>Contrôle</a:t>
            </a:r>
          </a:p>
          <a:p>
            <a:pPr algn="ctr"/>
            <a:r>
              <a:rPr sz="1100" b="0">
                <a:solidFill>
                  <a:srgbClr val="FFFFFF"/>
                </a:solidFill>
                <a:latin typeface="Segoe UI"/>
              </a:rPr>
              <a:t>types + champs obligatoires</a:t>
            </a:r>
          </a:p>
        </p:txBody>
      </p:sp>
      <p:cxnSp>
        <p:nvCxnSpPr>
          <p:cNvPr id="10" name="Connector 9"/>
          <p:cNvCxnSpPr/>
          <p:nvPr/>
        </p:nvCxnSpPr>
        <p:spPr>
          <a:xfrm>
            <a:off x="2468880" y="1920240"/>
            <a:ext cx="28346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371600"/>
            <a:ext cx="1993392" cy="1097280"/>
          </a:xfrm>
          <a:prstGeom prst="roundRect">
            <a:avLst>
              <a:gd name="adj" fmla="val 1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Segoe UI"/>
              </a:rPr>
              <a:t>Dédoublonnage</a:t>
            </a:r>
          </a:p>
          <a:p>
            <a:pPr algn="ctr"/>
            <a:r>
              <a:rPr sz="1100" b="0">
                <a:solidFill>
                  <a:srgbClr val="FFFFFF"/>
                </a:solidFill>
                <a:latin typeface="Segoe UI"/>
              </a:rPr>
              <a:t>par identifiant d'offre</a:t>
            </a:r>
          </a:p>
        </p:txBody>
      </p:sp>
      <p:cxnSp>
        <p:nvCxnSpPr>
          <p:cNvPr id="12" name="Connector 11"/>
          <p:cNvCxnSpPr/>
          <p:nvPr/>
        </p:nvCxnSpPr>
        <p:spPr>
          <a:xfrm>
            <a:off x="4782312" y="1920240"/>
            <a:ext cx="28346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97496" y="1371600"/>
            <a:ext cx="1993392" cy="1097280"/>
          </a:xfrm>
          <a:prstGeom prst="roundRect">
            <a:avLst>
              <a:gd name="adj" fmla="val 10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Segoe UI"/>
              </a:rPr>
              <a:t>Écriture</a:t>
            </a:r>
          </a:p>
          <a:p>
            <a:pPr algn="ctr"/>
            <a:r>
              <a:rPr sz="1100" b="0">
                <a:solidFill>
                  <a:srgbClr val="FFFFFF"/>
                </a:solidFill>
                <a:latin typeface="Segoe UI"/>
              </a:rPr>
              <a:t>Parquet + quarantaine</a:t>
            </a:r>
          </a:p>
        </p:txBody>
      </p:sp>
      <p:cxnSp>
        <p:nvCxnSpPr>
          <p:cNvPr id="14" name="Connector 13"/>
          <p:cNvCxnSpPr/>
          <p:nvPr/>
        </p:nvCxnSpPr>
        <p:spPr>
          <a:xfrm>
            <a:off x="7095744" y="1920240"/>
            <a:ext cx="28346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710928" y="1371600"/>
            <a:ext cx="1993392" cy="1097280"/>
          </a:xfrm>
          <a:prstGeom prst="roundRect">
            <a:avLst>
              <a:gd name="adj" fmla="val 10000"/>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Segoe UI"/>
              </a:rPr>
              <a:t>Chargement</a:t>
            </a:r>
          </a:p>
          <a:p>
            <a:pPr algn="ctr"/>
            <a:r>
              <a:rPr sz="1100" b="0">
                <a:solidFill>
                  <a:srgbClr val="FFFFFF"/>
                </a:solidFill>
                <a:latin typeface="Segoe UI"/>
              </a:rPr>
              <a:t>PostgreSQL 3NF</a:t>
            </a:r>
          </a:p>
        </p:txBody>
      </p:sp>
      <p:cxnSp>
        <p:nvCxnSpPr>
          <p:cNvPr id="16" name="Connector 15"/>
          <p:cNvCxnSpPr/>
          <p:nvPr/>
        </p:nvCxnSpPr>
        <p:spPr>
          <a:xfrm>
            <a:off x="9409176" y="1920240"/>
            <a:ext cx="28346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17" name="Chart 16"/>
          <p:cNvGraphicFramePr>
            <a:graphicFrameLocks noGrp="1"/>
          </p:cNvGraphicFramePr>
          <p:nvPr/>
        </p:nvGraphicFramePr>
        <p:xfrm>
          <a:off x="548640" y="2834640"/>
          <a:ext cx="5120640" cy="3566160"/>
        </p:xfrm>
        <a:graphic>
          <a:graphicData uri="http://schemas.openxmlformats.org/drawingml/2006/chart">
            <c:chart xmlns:c="http://schemas.openxmlformats.org/drawingml/2006/chart" r:id="rId3"/>
          </a:graphicData>
        </a:graphic>
      </p:graphicFrame>
      <p:sp>
        <p:nvSpPr>
          <p:cNvPr id="18" name="TextBox 17"/>
          <p:cNvSpPr txBox="1"/>
          <p:nvPr/>
        </p:nvSpPr>
        <p:spPr>
          <a:xfrm>
            <a:off x="6035040" y="2926080"/>
            <a:ext cx="5760720" cy="3474720"/>
          </a:xfrm>
          <a:prstGeom prst="rect">
            <a:avLst/>
          </a:prstGeom>
          <a:noFill/>
        </p:spPr>
        <p:txBody>
          <a:bodyPr wrap="square">
            <a:spAutoFit/>
          </a:bodyPr>
          <a:lstStyle/>
          <a:p>
            <a:pPr>
              <a:spcAft>
                <a:spcPts val="800"/>
              </a:spcAft>
            </a:pPr>
            <a:r>
              <a:rPr sz="1600">
                <a:solidFill>
                  <a:srgbClr val="111827"/>
                </a:solidFill>
                <a:latin typeface="Segoe UI"/>
              </a:rPr>
              <a:t>•  Chargement idempotent : rejouer un batch ne crée pas de doublon</a:t>
            </a:r>
          </a:p>
          <a:p>
            <a:pPr>
              <a:spcAft>
                <a:spcPts val="800"/>
              </a:spcAft>
            </a:pPr>
            <a:r>
              <a:rPr sz="1600">
                <a:solidFill>
                  <a:srgbClr val="111827"/>
                </a:solidFill>
                <a:latin typeface="Segoe UI"/>
              </a:rPr>
              <a:t>•  Une transaction (SAVEPOINT) par offre : une erreur n'annule pas le lot</a:t>
            </a:r>
          </a:p>
          <a:p>
            <a:pPr>
              <a:spcAft>
                <a:spcPts val="800"/>
              </a:spcAft>
            </a:pPr>
            <a:r>
              <a:rPr sz="1600">
                <a:solidFill>
                  <a:srgbClr val="111827"/>
                </a:solidFill>
                <a:latin typeface="Segoe UI"/>
              </a:rPr>
              <a:t>•  Journal : table tp2_pipeline_run (raw_count, clean_count, rejected_count)</a:t>
            </a:r>
          </a:p>
          <a:p>
            <a:pPr>
              <a:spcAft>
                <a:spcPts val="800"/>
              </a:spcAft>
            </a:pPr>
            <a:r>
              <a:rPr sz="1600">
                <a:solidFill>
                  <a:srgbClr val="111827"/>
                </a:solidFill>
                <a:latin typeface="Segoe UI"/>
              </a:rPr>
              <a:t>•  Vues BI : tp2_dashboard_offres, tp2_pipeline_latest_counts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Dockerisation : une seule commande</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TP2 — Déploiement</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13 / 17</a:t>
            </a:r>
          </a:p>
        </p:txBody>
      </p:sp>
      <p:graphicFrame>
        <p:nvGraphicFramePr>
          <p:cNvPr id="8" name="Table 7"/>
          <p:cNvGraphicFramePr>
            <a:graphicFrameLocks noGrp="1"/>
          </p:cNvGraphicFramePr>
          <p:nvPr/>
        </p:nvGraphicFramePr>
        <p:xfrm>
          <a:off x="457200" y="1280160"/>
          <a:ext cx="6766560" cy="4389120"/>
        </p:xfrm>
        <a:graphic>
          <a:graphicData uri="http://schemas.openxmlformats.org/drawingml/2006/table">
            <a:tbl>
              <a:tblPr firstRow="1" bandRow="1">
                <a:tableStyleId>{5C22544A-7EE6-4342-B048-85BDC9FD1C3A}</a:tableStyleId>
              </a:tblPr>
              <a:tblGrid>
                <a:gridCol w="1828800"/>
                <a:gridCol w="4937760"/>
              </a:tblGrid>
              <a:tr h="548640">
                <a:tc>
                  <a:txBody>
                    <a:bodyPr/>
                    <a:lstStyle/>
                    <a:p>
                      <a:r>
                        <a:rPr sz="1400" b="1">
                          <a:solidFill>
                            <a:srgbClr val="FFFFFF"/>
                          </a:solidFill>
                          <a:latin typeface="Segoe UI"/>
                        </a:rPr>
                        <a:t>Couche</a:t>
                      </a:r>
                    </a:p>
                  </a:txBody>
                  <a:tcPr marL="73152" marR="73152" anchor="ctr">
                    <a:solidFill>
                      <a:srgbClr val="1E3A8A"/>
                    </a:solidFill>
                  </a:tcPr>
                </a:tc>
                <a:tc>
                  <a:txBody>
                    <a:bodyPr/>
                    <a:lstStyle/>
                    <a:p>
                      <a:r>
                        <a:rPr sz="1400" b="1">
                          <a:solidFill>
                            <a:srgbClr val="FFFFFF"/>
                          </a:solidFill>
                          <a:latin typeface="Segoe UI"/>
                        </a:rPr>
                        <a:t>Conteneurs</a:t>
                      </a:r>
                    </a:p>
                  </a:txBody>
                  <a:tcPr marL="73152" marR="73152" anchor="ctr">
                    <a:solidFill>
                      <a:srgbClr val="1E3A8A"/>
                    </a:solidFill>
                  </a:tcPr>
                </a:tc>
              </a:tr>
              <a:tr h="548640">
                <a:tc>
                  <a:txBody>
                    <a:bodyPr/>
                    <a:lstStyle/>
                    <a:p>
                      <a:r>
                        <a:rPr sz="1400">
                          <a:solidFill>
                            <a:srgbClr val="111827"/>
                          </a:solidFill>
                          <a:latin typeface="Segoe UI"/>
                        </a:rPr>
                        <a:t>Collecte</a:t>
                      </a:r>
                    </a:p>
                  </a:txBody>
                  <a:tcPr marL="73152" marR="73152" anchor="ctr">
                    <a:solidFill>
                      <a:srgbClr val="EFF6FF"/>
                    </a:solidFill>
                  </a:tcPr>
                </a:tc>
                <a:tc>
                  <a:txBody>
                    <a:bodyPr/>
                    <a:lstStyle/>
                    <a:p>
                      <a:r>
                        <a:rPr sz="1400">
                          <a:solidFill>
                            <a:srgbClr val="111827"/>
                          </a:solidFill>
                          <a:latin typeface="Segoe UI"/>
                        </a:rPr>
                        <a:t>ft_producer_tp2, communes_collector_tp2</a:t>
                      </a:r>
                    </a:p>
                  </a:txBody>
                  <a:tcPr marL="73152" marR="73152" anchor="ctr">
                    <a:solidFill>
                      <a:srgbClr val="EFF6FF"/>
                    </a:solidFill>
                  </a:tcPr>
                </a:tc>
              </a:tr>
              <a:tr h="548640">
                <a:tc>
                  <a:txBody>
                    <a:bodyPr/>
                    <a:lstStyle/>
                    <a:p>
                      <a:r>
                        <a:rPr sz="1400">
                          <a:solidFill>
                            <a:srgbClr val="111827"/>
                          </a:solidFill>
                          <a:latin typeface="Segoe UI"/>
                        </a:rPr>
                        <a:t>Transport</a:t>
                      </a:r>
                    </a:p>
                  </a:txBody>
                  <a:tcPr marL="73152" marR="73152" anchor="ctr">
                    <a:solidFill>
                      <a:srgbClr val="FFFFFF"/>
                    </a:solidFill>
                  </a:tcPr>
                </a:tc>
                <a:tc>
                  <a:txBody>
                    <a:bodyPr/>
                    <a:lstStyle/>
                    <a:p>
                      <a:r>
                        <a:rPr sz="1400">
                          <a:solidFill>
                            <a:srgbClr val="111827"/>
                          </a:solidFill>
                          <a:latin typeface="Segoe UI"/>
                        </a:rPr>
                        <a:t>kafka_tp2, kafka_ui_tp2</a:t>
                      </a:r>
                    </a:p>
                  </a:txBody>
                  <a:tcPr marL="73152" marR="73152" anchor="ctr">
                    <a:solidFill>
                      <a:srgbClr val="FFFFFF"/>
                    </a:solidFill>
                  </a:tcPr>
                </a:tc>
              </a:tr>
              <a:tr h="548640">
                <a:tc>
                  <a:txBody>
                    <a:bodyPr/>
                    <a:lstStyle/>
                    <a:p>
                      <a:r>
                        <a:rPr sz="1400">
                          <a:solidFill>
                            <a:srgbClr val="111827"/>
                          </a:solidFill>
                          <a:latin typeface="Segoe UI"/>
                        </a:rPr>
                        <a:t>Agrégation</a:t>
                      </a:r>
                    </a:p>
                  </a:txBody>
                  <a:tcPr marL="73152" marR="73152" anchor="ctr">
                    <a:solidFill>
                      <a:srgbClr val="EFF6FF"/>
                    </a:solidFill>
                  </a:tcPr>
                </a:tc>
                <a:tc>
                  <a:txBody>
                    <a:bodyPr/>
                    <a:lstStyle/>
                    <a:p>
                      <a:r>
                        <a:rPr sz="1400">
                          <a:solidFill>
                            <a:srgbClr val="111827"/>
                          </a:solidFill>
                          <a:latin typeface="Segoe UI"/>
                        </a:rPr>
                        <a:t>raw_aggregator_tp2</a:t>
                      </a:r>
                    </a:p>
                  </a:txBody>
                  <a:tcPr marL="73152" marR="73152" anchor="ctr">
                    <a:solidFill>
                      <a:srgbClr val="EFF6FF"/>
                    </a:solidFill>
                  </a:tcPr>
                </a:tc>
              </a:tr>
              <a:tr h="548640">
                <a:tc>
                  <a:txBody>
                    <a:bodyPr/>
                    <a:lstStyle/>
                    <a:p>
                      <a:r>
                        <a:rPr sz="1400">
                          <a:solidFill>
                            <a:srgbClr val="111827"/>
                          </a:solidFill>
                          <a:latin typeface="Segoe UI"/>
                        </a:rPr>
                        <a:t>Traitement</a:t>
                      </a:r>
                    </a:p>
                  </a:txBody>
                  <a:tcPr marL="73152" marR="73152" anchor="ctr">
                    <a:solidFill>
                      <a:srgbClr val="FFFFFF"/>
                    </a:solidFill>
                  </a:tcPr>
                </a:tc>
                <a:tc>
                  <a:txBody>
                    <a:bodyPr/>
                    <a:lstStyle/>
                    <a:p>
                      <a:r>
                        <a:rPr sz="1400">
                          <a:solidFill>
                            <a:srgbClr val="111827"/>
                          </a:solidFill>
                          <a:latin typeface="Segoe UI"/>
                        </a:rPr>
                        <a:t>spark_batch_tp2</a:t>
                      </a:r>
                    </a:p>
                  </a:txBody>
                  <a:tcPr marL="73152" marR="73152" anchor="ctr">
                    <a:solidFill>
                      <a:srgbClr val="FFFFFF"/>
                    </a:solidFill>
                  </a:tcPr>
                </a:tc>
              </a:tr>
              <a:tr h="548640">
                <a:tc>
                  <a:txBody>
                    <a:bodyPr/>
                    <a:lstStyle/>
                    <a:p>
                      <a:r>
                        <a:rPr sz="1400">
                          <a:solidFill>
                            <a:srgbClr val="111827"/>
                          </a:solidFill>
                          <a:latin typeface="Segoe UI"/>
                        </a:rPr>
                        <a:t>Stockage</a:t>
                      </a:r>
                    </a:p>
                  </a:txBody>
                  <a:tcPr marL="73152" marR="73152" anchor="ctr">
                    <a:solidFill>
                      <a:srgbClr val="EFF6FF"/>
                    </a:solidFill>
                  </a:tcPr>
                </a:tc>
                <a:tc>
                  <a:txBody>
                    <a:bodyPr/>
                    <a:lstStyle/>
                    <a:p>
                      <a:r>
                        <a:rPr sz="1400">
                          <a:solidFill>
                            <a:srgbClr val="111827"/>
                          </a:solidFill>
                          <a:latin typeface="Segoe UI"/>
                        </a:rPr>
                        <a:t>postgres_emploi</a:t>
                      </a:r>
                    </a:p>
                  </a:txBody>
                  <a:tcPr marL="73152" marR="73152" anchor="ctr">
                    <a:solidFill>
                      <a:srgbClr val="EFF6FF"/>
                    </a:solidFill>
                  </a:tcPr>
                </a:tc>
              </a:tr>
              <a:tr h="548640">
                <a:tc>
                  <a:txBody>
                    <a:bodyPr/>
                    <a:lstStyle/>
                    <a:p>
                      <a:r>
                        <a:rPr sz="1400">
                          <a:solidFill>
                            <a:srgbClr val="111827"/>
                          </a:solidFill>
                          <a:latin typeface="Segoe UI"/>
                        </a:rPr>
                        <a:t>Data Viz</a:t>
                      </a:r>
                    </a:p>
                  </a:txBody>
                  <a:tcPr marL="73152" marR="73152" anchor="ctr">
                    <a:solidFill>
                      <a:srgbClr val="FFFFFF"/>
                    </a:solidFill>
                  </a:tcPr>
                </a:tc>
                <a:tc>
                  <a:txBody>
                    <a:bodyPr/>
                    <a:lstStyle/>
                    <a:p>
                      <a:r>
                        <a:rPr sz="1400">
                          <a:solidFill>
                            <a:srgbClr val="111827"/>
                          </a:solidFill>
                          <a:latin typeface="Segoe UI"/>
                        </a:rPr>
                        <a:t>metabase_tp2, dataviz_plotly_tp2</a:t>
                      </a:r>
                    </a:p>
                  </a:txBody>
                  <a:tcPr marL="73152" marR="73152" anchor="ctr">
                    <a:solidFill>
                      <a:srgbClr val="FFFFFF"/>
                    </a:solidFill>
                  </a:tcPr>
                </a:tc>
              </a:tr>
              <a:tr h="548640">
                <a:tc>
                  <a:txBody>
                    <a:bodyPr/>
                    <a:lstStyle/>
                    <a:p>
                      <a:r>
                        <a:rPr sz="1400">
                          <a:solidFill>
                            <a:srgbClr val="111827"/>
                          </a:solidFill>
                          <a:latin typeface="Segoe UI"/>
                        </a:rPr>
                        <a:t>Supervision</a:t>
                      </a:r>
                    </a:p>
                  </a:txBody>
                  <a:tcPr marL="73152" marR="73152" anchor="ctr">
                    <a:solidFill>
                      <a:srgbClr val="EFF6FF"/>
                    </a:solidFill>
                  </a:tcPr>
                </a:tc>
                <a:tc>
                  <a:txBody>
                    <a:bodyPr/>
                    <a:lstStyle/>
                    <a:p>
                      <a:r>
                        <a:rPr sz="1400">
                          <a:solidFill>
                            <a:srgbClr val="111827"/>
                          </a:solidFill>
                          <a:latin typeface="Segoe UI"/>
                        </a:rPr>
                        <a:t>prometheus_tp2, grafana_tp2, cadvisor_tp2, exporters</a:t>
                      </a:r>
                    </a:p>
                  </a:txBody>
                  <a:tcPr marL="73152" marR="73152" anchor="ctr">
                    <a:solidFill>
                      <a:srgbClr val="EFF6FF"/>
                    </a:solidFill>
                  </a:tcPr>
                </a:tc>
              </a:tr>
            </a:tbl>
          </a:graphicData>
        </a:graphic>
      </p:graphicFrame>
      <p:sp>
        <p:nvSpPr>
          <p:cNvPr id="9" name="Rounded Rectangle 8"/>
          <p:cNvSpPr/>
          <p:nvPr/>
        </p:nvSpPr>
        <p:spPr>
          <a:xfrm>
            <a:off x="7589520" y="1280160"/>
            <a:ext cx="4206240" cy="1005840"/>
          </a:xfrm>
          <a:prstGeom prst="roundRect">
            <a:avLst>
              <a:gd name="adj" fmla="val 10909"/>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931920" cy="914400"/>
          </a:xfrm>
          <a:prstGeom prst="rect">
            <a:avLst/>
          </a:prstGeom>
          <a:noFill/>
        </p:spPr>
        <p:txBody>
          <a:bodyPr wrap="square" anchor="ctr" lIns="45720" rIns="45720">
            <a:spAutoFit/>
          </a:bodyPr>
          <a:lstStyle/>
          <a:p>
            <a:pPr algn="ctr"/>
            <a:r>
              <a:rPr sz="2200" b="0">
                <a:solidFill>
                  <a:srgbClr val="A7F3D0"/>
                </a:solidFill>
                <a:latin typeface="Consolas"/>
              </a:rPr>
              <a:t>docker compose up -d</a:t>
            </a:r>
          </a:p>
        </p:txBody>
      </p:sp>
      <p:sp>
        <p:nvSpPr>
          <p:cNvPr id="11" name="TextBox 10"/>
          <p:cNvSpPr txBox="1"/>
          <p:nvPr/>
        </p:nvSpPr>
        <p:spPr>
          <a:xfrm>
            <a:off x="7589520" y="2560320"/>
            <a:ext cx="4206240" cy="457200"/>
          </a:xfrm>
          <a:prstGeom prst="rect">
            <a:avLst/>
          </a:prstGeom>
          <a:noFill/>
        </p:spPr>
        <p:txBody>
          <a:bodyPr wrap="square" anchor="t" lIns="45720" rIns="45720">
            <a:spAutoFit/>
          </a:bodyPr>
          <a:lstStyle/>
          <a:p>
            <a:pPr algn="l"/>
            <a:r>
              <a:rPr sz="1700" b="1">
                <a:solidFill>
                  <a:srgbClr val="1E3A8A"/>
                </a:solidFill>
                <a:latin typeface="Segoe UI"/>
              </a:rPr>
              <a:t>5 volumes persistants</a:t>
            </a:r>
          </a:p>
        </p:txBody>
      </p:sp>
      <p:sp>
        <p:nvSpPr>
          <p:cNvPr id="12" name="TextBox 11"/>
          <p:cNvSpPr txBox="1"/>
          <p:nvPr/>
        </p:nvSpPr>
        <p:spPr>
          <a:xfrm>
            <a:off x="7589520" y="3017520"/>
            <a:ext cx="4389120" cy="3291840"/>
          </a:xfrm>
          <a:prstGeom prst="rect">
            <a:avLst/>
          </a:prstGeom>
          <a:noFill/>
        </p:spPr>
        <p:txBody>
          <a:bodyPr wrap="square">
            <a:spAutoFit/>
          </a:bodyPr>
          <a:lstStyle/>
          <a:p>
            <a:pPr>
              <a:spcAft>
                <a:spcPts val="800"/>
              </a:spcAft>
            </a:pPr>
            <a:r>
              <a:rPr sz="1500">
                <a:solidFill>
                  <a:srgbClr val="111827"/>
                </a:solidFill>
                <a:latin typeface="Segoe UI"/>
              </a:rPr>
              <a:t>•  pgdata (PostgreSQL)</a:t>
            </a:r>
          </a:p>
          <a:p>
            <a:pPr>
              <a:spcAft>
                <a:spcPts val="800"/>
              </a:spcAft>
            </a:pPr>
            <a:r>
              <a:rPr sz="1500">
                <a:solidFill>
                  <a:srgbClr val="111827"/>
                </a:solidFill>
                <a:latin typeface="Segoe UI"/>
              </a:rPr>
              <a:t>•  kafka_data (messages)</a:t>
            </a:r>
          </a:p>
          <a:p>
            <a:pPr>
              <a:spcAft>
                <a:spcPts val="800"/>
              </a:spcAft>
            </a:pPr>
            <a:r>
              <a:rPr sz="1500">
                <a:solidFill>
                  <a:srgbClr val="111827"/>
                </a:solidFill>
                <a:latin typeface="Segoe UI"/>
              </a:rPr>
              <a:t>•  data_lake (Data Lake)</a:t>
            </a:r>
          </a:p>
          <a:p>
            <a:pPr>
              <a:spcAft>
                <a:spcPts val="800"/>
              </a:spcAft>
            </a:pPr>
            <a:r>
              <a:rPr sz="1500">
                <a:solidFill>
                  <a:srgbClr val="111827"/>
                </a:solidFill>
                <a:latin typeface="Segoe UI"/>
              </a:rPr>
              <a:t>•  metabase_data</a:t>
            </a:r>
          </a:p>
          <a:p>
            <a:pPr>
              <a:spcAft>
                <a:spcPts val="800"/>
              </a:spcAft>
            </a:pPr>
            <a:r>
              <a:rPr sz="1500">
                <a:solidFill>
                  <a:srgbClr val="111827"/>
                </a:solidFill>
                <a:latin typeface="Segoe UI"/>
              </a:rPr>
              <a:t>•  grafana_data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Data Visualization : les résultats</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TP2 — Visualisation</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14 / 17</a:t>
            </a:r>
          </a:p>
        </p:txBody>
      </p:sp>
      <p:graphicFrame>
        <p:nvGraphicFramePr>
          <p:cNvPr id="8" name="Chart 7"/>
          <p:cNvGraphicFramePr>
            <a:graphicFrameLocks noGrp="1"/>
          </p:cNvGraphicFramePr>
          <p:nvPr/>
        </p:nvGraphicFramePr>
        <p:xfrm>
          <a:off x="365760" y="1188720"/>
          <a:ext cx="3840480" cy="3931920"/>
        </p:xfrm>
        <a:graphic>
          <a:graphicData uri="http://schemas.openxmlformats.org/drawingml/2006/chart">
            <c:chart xmlns:c="http://schemas.openxmlformats.org/drawingml/2006/chart" r:id="rId3"/>
          </a:graphicData>
        </a:graphic>
      </p:graphicFrame>
      <p:graphicFrame>
        <p:nvGraphicFramePr>
          <p:cNvPr id="9" name="Chart 8"/>
          <p:cNvGraphicFramePr>
            <a:graphicFrameLocks noGrp="1"/>
          </p:cNvGraphicFramePr>
          <p:nvPr/>
        </p:nvGraphicFramePr>
        <p:xfrm>
          <a:off x="4389120" y="1188720"/>
          <a:ext cx="7498079" cy="3931920"/>
        </p:xfrm>
        <a:graphic>
          <a:graphicData uri="http://schemas.openxmlformats.org/drawingml/2006/chart">
            <c:chart xmlns:c="http://schemas.openxmlformats.org/drawingml/2006/chart" r:id="rId4"/>
          </a:graphicData>
        </a:graphic>
      </p:graphicFrame>
      <p:graphicFrame>
        <p:nvGraphicFramePr>
          <p:cNvPr id="10" name="Table 9"/>
          <p:cNvGraphicFramePr>
            <a:graphicFrameLocks noGrp="1"/>
          </p:cNvGraphicFramePr>
          <p:nvPr/>
        </p:nvGraphicFramePr>
        <p:xfrm>
          <a:off x="457200" y="5303520"/>
          <a:ext cx="11247120" cy="1097280"/>
        </p:xfrm>
        <a:graphic>
          <a:graphicData uri="http://schemas.openxmlformats.org/drawingml/2006/table">
            <a:tbl>
              <a:tblPr firstRow="1" bandRow="1">
                <a:tableStyleId>{5C22544A-7EE6-4342-B048-85BDC9FD1C3A}</a:tableStyleId>
              </a:tblPr>
              <a:tblGrid>
                <a:gridCol w="1645920"/>
                <a:gridCol w="1828800"/>
                <a:gridCol w="7772400"/>
              </a:tblGrid>
              <a:tr h="365760">
                <a:tc>
                  <a:txBody>
                    <a:bodyPr/>
                    <a:lstStyle/>
                    <a:p>
                      <a:r>
                        <a:rPr sz="1200" b="1">
                          <a:solidFill>
                            <a:srgbClr val="FFFFFF"/>
                          </a:solidFill>
                          <a:latin typeface="Segoe UI"/>
                        </a:rPr>
                        <a:t>Outil</a:t>
                      </a:r>
                    </a:p>
                  </a:txBody>
                  <a:tcPr marL="73152" marR="73152" anchor="ctr">
                    <a:solidFill>
                      <a:srgbClr val="1E3A8A"/>
                    </a:solidFill>
                  </a:tcPr>
                </a:tc>
                <a:tc>
                  <a:txBody>
                    <a:bodyPr/>
                    <a:lstStyle/>
                    <a:p>
                      <a:r>
                        <a:rPr sz="1200" b="1">
                          <a:solidFill>
                            <a:srgbClr val="FFFFFF"/>
                          </a:solidFill>
                          <a:latin typeface="Segoe UI"/>
                        </a:rPr>
                        <a:t>URL</a:t>
                      </a:r>
                    </a:p>
                  </a:txBody>
                  <a:tcPr marL="73152" marR="73152" anchor="ctr">
                    <a:solidFill>
                      <a:srgbClr val="1E3A8A"/>
                    </a:solidFill>
                  </a:tcPr>
                </a:tc>
                <a:tc>
                  <a:txBody>
                    <a:bodyPr/>
                    <a:lstStyle/>
                    <a:p>
                      <a:r>
                        <a:rPr sz="1200" b="1">
                          <a:solidFill>
                            <a:srgbClr val="FFFFFF"/>
                          </a:solidFill>
                          <a:latin typeface="Segoe UI"/>
                        </a:rPr>
                        <a:t>Contenu</a:t>
                      </a:r>
                    </a:p>
                  </a:txBody>
                  <a:tcPr marL="73152" marR="73152" anchor="ctr">
                    <a:solidFill>
                      <a:srgbClr val="1E3A8A"/>
                    </a:solidFill>
                  </a:tcPr>
                </a:tc>
              </a:tr>
              <a:tr h="365760">
                <a:tc>
                  <a:txBody>
                    <a:bodyPr/>
                    <a:lstStyle/>
                    <a:p>
                      <a:r>
                        <a:rPr sz="1200">
                          <a:solidFill>
                            <a:srgbClr val="111827"/>
                          </a:solidFill>
                          <a:latin typeface="Segoe UI"/>
                        </a:rPr>
                        <a:t>Metabase</a:t>
                      </a:r>
                    </a:p>
                  </a:txBody>
                  <a:tcPr marL="73152" marR="73152" anchor="ctr">
                    <a:solidFill>
                      <a:srgbClr val="EFF6FF"/>
                    </a:solidFill>
                  </a:tcPr>
                </a:tc>
                <a:tc>
                  <a:txBody>
                    <a:bodyPr/>
                    <a:lstStyle/>
                    <a:p>
                      <a:r>
                        <a:rPr sz="1200">
                          <a:solidFill>
                            <a:srgbClr val="111827"/>
                          </a:solidFill>
                          <a:latin typeface="Segoe UI"/>
                        </a:rPr>
                        <a:t>localhost:3000</a:t>
                      </a:r>
                    </a:p>
                  </a:txBody>
                  <a:tcPr marL="73152" marR="73152" anchor="ctr">
                    <a:solidFill>
                      <a:srgbClr val="EFF6FF"/>
                    </a:solidFill>
                  </a:tcPr>
                </a:tc>
                <a:tc>
                  <a:txBody>
                    <a:bodyPr/>
                    <a:lstStyle/>
                    <a:p>
                      <a:r>
                        <a:rPr sz="1200">
                          <a:solidFill>
                            <a:srgbClr val="111827"/>
                          </a:solidFill>
                          <a:latin typeface="Segoe UI"/>
                        </a:rPr>
                        <a:t>Dashboard « TP2 - Marché de l'emploi » : contrats, compétences, communes, Raw vs Clean</a:t>
                      </a:r>
                    </a:p>
                  </a:txBody>
                  <a:tcPr marL="73152" marR="73152" anchor="ctr">
                    <a:solidFill>
                      <a:srgbClr val="EFF6FF"/>
                    </a:solidFill>
                  </a:tcPr>
                </a:tc>
              </a:tr>
              <a:tr h="365760">
                <a:tc>
                  <a:txBody>
                    <a:bodyPr/>
                    <a:lstStyle/>
                    <a:p>
                      <a:r>
                        <a:rPr sz="1200">
                          <a:solidFill>
                            <a:srgbClr val="111827"/>
                          </a:solidFill>
                          <a:latin typeface="Segoe UI"/>
                        </a:rPr>
                        <a:t>Plotly Dash</a:t>
                      </a:r>
                    </a:p>
                  </a:txBody>
                  <a:tcPr marL="73152" marR="73152" anchor="ctr">
                    <a:solidFill>
                      <a:srgbClr val="FFFFFF"/>
                    </a:solidFill>
                  </a:tcPr>
                </a:tc>
                <a:tc>
                  <a:txBody>
                    <a:bodyPr/>
                    <a:lstStyle/>
                    <a:p>
                      <a:r>
                        <a:rPr sz="1200">
                          <a:solidFill>
                            <a:srgbClr val="111827"/>
                          </a:solidFill>
                          <a:latin typeface="Segoe UI"/>
                        </a:rPr>
                        <a:t>localhost:8050</a:t>
                      </a:r>
                    </a:p>
                  </a:txBody>
                  <a:tcPr marL="73152" marR="73152" anchor="ctr">
                    <a:solidFill>
                      <a:srgbClr val="FFFFFF"/>
                    </a:solidFill>
                  </a:tcPr>
                </a:tc>
                <a:tc>
                  <a:txBody>
                    <a:bodyPr/>
                    <a:lstStyle/>
                    <a:p>
                      <a:r>
                        <a:rPr sz="1200">
                          <a:solidFill>
                            <a:srgbClr val="111827"/>
                          </a:solidFill>
                          <a:latin typeface="Segoe UI"/>
                        </a:rPr>
                        <a:t>Filtres, 5 indicateurs, 6 graphiques interactifs dont une carte, tableau des offres</a:t>
                      </a:r>
                    </a:p>
                  </a:txBody>
                  <a:tcPr marL="73152" marR="73152"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Observabilité : Prometheus et Grafana</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TP2 — Supervision</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15 / 17</a:t>
            </a:r>
          </a:p>
        </p:txBody>
      </p:sp>
      <p:sp>
        <p:nvSpPr>
          <p:cNvPr id="8" name="Rounded Rectangle 7"/>
          <p:cNvSpPr/>
          <p:nvPr/>
        </p:nvSpPr>
        <p:spPr>
          <a:xfrm>
            <a:off x="548640" y="1371600"/>
            <a:ext cx="3566160" cy="731520"/>
          </a:xfrm>
          <a:prstGeom prst="roundRect">
            <a:avLst>
              <a:gd name="adj" fmla="val 15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FFFFFF"/>
                </a:solidFill>
                <a:latin typeface="Segoe UI"/>
              </a:rPr>
              <a:t>Infrastructure</a:t>
            </a:r>
          </a:p>
        </p:txBody>
      </p:sp>
      <p:sp>
        <p:nvSpPr>
          <p:cNvPr id="9" name="TextBox 8"/>
          <p:cNvSpPr txBox="1"/>
          <p:nvPr/>
        </p:nvSpPr>
        <p:spPr>
          <a:xfrm>
            <a:off x="640080" y="2286000"/>
            <a:ext cx="3474720" cy="2194560"/>
          </a:xfrm>
          <a:prstGeom prst="rect">
            <a:avLst/>
          </a:prstGeom>
          <a:noFill/>
        </p:spPr>
        <p:txBody>
          <a:bodyPr wrap="square">
            <a:spAutoFit/>
          </a:bodyPr>
          <a:lstStyle/>
          <a:p>
            <a:pPr>
              <a:spcAft>
                <a:spcPts val="800"/>
              </a:spcAft>
            </a:pPr>
            <a:r>
              <a:rPr sz="1600">
                <a:solidFill>
                  <a:srgbClr val="111827"/>
                </a:solidFill>
                <a:latin typeface="Segoe UI"/>
              </a:rPr>
              <a:t>•  État des conteneurs</a:t>
            </a:r>
          </a:p>
          <a:p>
            <a:pPr>
              <a:spcAft>
                <a:spcPts val="800"/>
              </a:spcAft>
            </a:pPr>
            <a:r>
              <a:rPr sz="1600">
                <a:solidFill>
                  <a:srgbClr val="111827"/>
                </a:solidFill>
                <a:latin typeface="Segoe UI"/>
              </a:rPr>
              <a:t>•  Disponibilité des services</a:t>
            </a:r>
          </a:p>
          <a:p>
            <a:pPr>
              <a:spcAft>
                <a:spcPts val="800"/>
              </a:spcAft>
            </a:pPr>
            <a:r>
              <a:rPr sz="1600">
                <a:solidFill>
                  <a:srgbClr val="111827"/>
                </a:solidFill>
                <a:latin typeface="Segoe UI"/>
              </a:rPr>
              <a:t>•  CPU / mémoire (cAdvisor)</a:t>
            </a:r>
          </a:p>
        </p:txBody>
      </p:sp>
      <p:sp>
        <p:nvSpPr>
          <p:cNvPr id="10" name="Rounded Rectangle 9"/>
          <p:cNvSpPr/>
          <p:nvPr/>
        </p:nvSpPr>
        <p:spPr>
          <a:xfrm>
            <a:off x="4343400" y="1371600"/>
            <a:ext cx="3566160" cy="731520"/>
          </a:xfrm>
          <a:prstGeom prst="roundRect">
            <a:avLst>
              <a:gd name="adj" fmla="val 15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FFFFFF"/>
                </a:solidFill>
                <a:latin typeface="Segoe UI"/>
              </a:rPr>
              <a:t>PostgreSQL</a:t>
            </a:r>
          </a:p>
        </p:txBody>
      </p:sp>
      <p:sp>
        <p:nvSpPr>
          <p:cNvPr id="11" name="TextBox 10"/>
          <p:cNvSpPr txBox="1"/>
          <p:nvPr/>
        </p:nvSpPr>
        <p:spPr>
          <a:xfrm>
            <a:off x="4434840" y="2286000"/>
            <a:ext cx="3474720" cy="2194560"/>
          </a:xfrm>
          <a:prstGeom prst="rect">
            <a:avLst/>
          </a:prstGeom>
          <a:noFill/>
        </p:spPr>
        <p:txBody>
          <a:bodyPr wrap="square">
            <a:spAutoFit/>
          </a:bodyPr>
          <a:lstStyle/>
          <a:p>
            <a:pPr>
              <a:spcAft>
                <a:spcPts val="800"/>
              </a:spcAft>
            </a:pPr>
            <a:r>
              <a:rPr sz="1600">
                <a:solidFill>
                  <a:srgbClr val="111827"/>
                </a:solidFill>
                <a:latin typeface="Segoe UI"/>
              </a:rPr>
              <a:t>•  Disponibilité (pg_up)</a:t>
            </a:r>
          </a:p>
          <a:p>
            <a:pPr>
              <a:spcAft>
                <a:spcPts val="800"/>
              </a:spcAft>
            </a:pPr>
            <a:r>
              <a:rPr sz="1600">
                <a:solidFill>
                  <a:srgbClr val="111827"/>
                </a:solidFill>
                <a:latin typeface="Segoe UI"/>
              </a:rPr>
              <a:t>•  Connexions et transactions</a:t>
            </a:r>
          </a:p>
          <a:p>
            <a:pPr>
              <a:spcAft>
                <a:spcPts val="800"/>
              </a:spcAft>
            </a:pPr>
            <a:r>
              <a:rPr sz="1600">
                <a:solidFill>
                  <a:srgbClr val="111827"/>
                </a:solidFill>
                <a:latin typeface="Segoe UI"/>
              </a:rPr>
              <a:t>•  Métriques via postgres_exporter</a:t>
            </a:r>
          </a:p>
        </p:txBody>
      </p:sp>
      <p:sp>
        <p:nvSpPr>
          <p:cNvPr id="12" name="Rounded Rectangle 11"/>
          <p:cNvSpPr/>
          <p:nvPr/>
        </p:nvSpPr>
        <p:spPr>
          <a:xfrm>
            <a:off x="8138160" y="1371600"/>
            <a:ext cx="3566160" cy="731520"/>
          </a:xfrm>
          <a:prstGeom prst="roundRect">
            <a:avLst>
              <a:gd name="adj" fmla="val 15000"/>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FFFFFF"/>
                </a:solidFill>
                <a:latin typeface="Segoe UI"/>
              </a:rPr>
              <a:t>Pipeline data</a:t>
            </a:r>
          </a:p>
        </p:txBody>
      </p:sp>
      <p:sp>
        <p:nvSpPr>
          <p:cNvPr id="13" name="TextBox 12"/>
          <p:cNvSpPr txBox="1"/>
          <p:nvPr/>
        </p:nvSpPr>
        <p:spPr>
          <a:xfrm>
            <a:off x="8229600" y="2286000"/>
            <a:ext cx="3474720" cy="2194560"/>
          </a:xfrm>
          <a:prstGeom prst="rect">
            <a:avLst/>
          </a:prstGeom>
          <a:noFill/>
        </p:spPr>
        <p:txBody>
          <a:bodyPr wrap="square">
            <a:spAutoFit/>
          </a:bodyPr>
          <a:lstStyle/>
          <a:p>
            <a:pPr>
              <a:spcAft>
                <a:spcPts val="800"/>
              </a:spcAft>
            </a:pPr>
            <a:r>
              <a:rPr sz="1600">
                <a:solidFill>
                  <a:srgbClr val="111827"/>
                </a:solidFill>
                <a:latin typeface="Segoe UI"/>
              </a:rPr>
              <a:t>•  Messages Kafka et consumer lag</a:t>
            </a:r>
          </a:p>
          <a:p>
            <a:pPr>
              <a:spcAft>
                <a:spcPts val="800"/>
              </a:spcAft>
            </a:pPr>
            <a:r>
              <a:rPr sz="1600">
                <a:solidFill>
                  <a:srgbClr val="111827"/>
                </a:solidFill>
                <a:latin typeface="Segoe UI"/>
              </a:rPr>
              <a:t>•  Disponibilité de la source 2</a:t>
            </a:r>
          </a:p>
          <a:p>
            <a:pPr>
              <a:spcAft>
                <a:spcPts val="800"/>
              </a:spcAft>
            </a:pPr>
            <a:r>
              <a:rPr sz="1600">
                <a:solidFill>
                  <a:srgbClr val="111827"/>
                </a:solidFill>
                <a:latin typeface="Segoe UI"/>
              </a:rPr>
              <a:t>•  Raw vs Clean vs Rejected</a:t>
            </a:r>
          </a:p>
        </p:txBody>
      </p:sp>
      <p:sp>
        <p:nvSpPr>
          <p:cNvPr id="14" name="Rounded Rectangle 13"/>
          <p:cNvSpPr/>
          <p:nvPr/>
        </p:nvSpPr>
        <p:spPr>
          <a:xfrm>
            <a:off x="1371600" y="4572000"/>
            <a:ext cx="2773680" cy="1005840"/>
          </a:xfrm>
          <a:prstGeom prst="roundRect">
            <a:avLst>
              <a:gd name="adj" fmla="val 10909"/>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1">
                <a:solidFill>
                  <a:srgbClr val="FFFFFF"/>
                </a:solidFill>
                <a:latin typeface="Segoe UI"/>
              </a:rPr>
              <a:t>Brut</a:t>
            </a:r>
          </a:p>
          <a:p>
            <a:pPr algn="ctr"/>
            <a:r>
              <a:rPr sz="1300" b="0">
                <a:solidFill>
                  <a:srgbClr val="FFFFFF"/>
                </a:solidFill>
                <a:latin typeface="Segoe UI"/>
              </a:rPr>
              <a:t>Data Lake : 58</a:t>
            </a:r>
          </a:p>
        </p:txBody>
      </p:sp>
      <p:sp>
        <p:nvSpPr>
          <p:cNvPr id="15" name="Rounded Rectangle 14"/>
          <p:cNvSpPr/>
          <p:nvPr/>
        </p:nvSpPr>
        <p:spPr>
          <a:xfrm>
            <a:off x="4693920" y="4572000"/>
            <a:ext cx="2773680" cy="1005840"/>
          </a:xfrm>
          <a:prstGeom prst="roundRect">
            <a:avLst>
              <a:gd name="adj" fmla="val 10909"/>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1">
                <a:solidFill>
                  <a:srgbClr val="FFFFFF"/>
                </a:solidFill>
                <a:latin typeface="Segoe UI"/>
              </a:rPr>
              <a:t>Traitement</a:t>
            </a:r>
          </a:p>
          <a:p>
            <a:pPr algn="ctr"/>
            <a:r>
              <a:rPr sz="1300" b="0">
                <a:solidFill>
                  <a:srgbClr val="FFFFFF"/>
                </a:solidFill>
                <a:latin typeface="Segoe UI"/>
              </a:rPr>
              <a:t>PySpark</a:t>
            </a:r>
          </a:p>
        </p:txBody>
      </p:sp>
      <p:cxnSp>
        <p:nvCxnSpPr>
          <p:cNvPr id="16" name="Connector 15"/>
          <p:cNvCxnSpPr/>
          <p:nvPr/>
        </p:nvCxnSpPr>
        <p:spPr>
          <a:xfrm>
            <a:off x="4163568" y="5074920"/>
            <a:ext cx="51206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016240" y="4572000"/>
            <a:ext cx="2773680" cy="1005840"/>
          </a:xfrm>
          <a:prstGeom prst="roundRect">
            <a:avLst>
              <a:gd name="adj" fmla="val 10909"/>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1">
                <a:solidFill>
                  <a:srgbClr val="FFFFFF"/>
                </a:solidFill>
                <a:latin typeface="Segoe UI"/>
              </a:rPr>
              <a:t>Propre</a:t>
            </a:r>
          </a:p>
          <a:p>
            <a:pPr algn="ctr"/>
            <a:r>
              <a:rPr sz="1300" b="0">
                <a:solidFill>
                  <a:srgbClr val="FFFFFF"/>
                </a:solidFill>
                <a:latin typeface="Segoe UI"/>
              </a:rPr>
              <a:t>PostgreSQL : 55</a:t>
            </a:r>
          </a:p>
        </p:txBody>
      </p:sp>
      <p:cxnSp>
        <p:nvCxnSpPr>
          <p:cNvPr id="18" name="Connector 17"/>
          <p:cNvCxnSpPr/>
          <p:nvPr/>
        </p:nvCxnSpPr>
        <p:spPr>
          <a:xfrm>
            <a:off x="7485888" y="5074920"/>
            <a:ext cx="51206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5760720"/>
            <a:ext cx="11155680" cy="548640"/>
          </a:xfrm>
          <a:prstGeom prst="rect">
            <a:avLst/>
          </a:prstGeom>
          <a:noFill/>
        </p:spPr>
        <p:txBody>
          <a:bodyPr wrap="square" anchor="t" lIns="45720" rIns="45720">
            <a:spAutoFit/>
          </a:bodyPr>
          <a:lstStyle/>
          <a:p>
            <a:pPr algn="ctr"/>
            <a:r>
              <a:rPr sz="1400" b="0">
                <a:solidFill>
                  <a:srgbClr val="6B7280"/>
                </a:solidFill>
                <a:latin typeface="Segoe UI"/>
              </a:rPr>
              <a:t>Grafana : localhost:3001  •  dashboard « TP2 Data Platform Overview »  •  Prometheus : localhost:9090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Démonstration : suivre une offre de bout en bout</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Démo</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16 / 17</a:t>
            </a:r>
          </a:p>
        </p:txBody>
      </p:sp>
      <p:sp>
        <p:nvSpPr>
          <p:cNvPr id="8" name="Oval 7"/>
          <p:cNvSpPr/>
          <p:nvPr/>
        </p:nvSpPr>
        <p:spPr>
          <a:xfrm>
            <a:off x="731520" y="1188720"/>
            <a:ext cx="594360" cy="594360"/>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1">
                <a:solidFill>
                  <a:srgbClr val="FFFFFF"/>
                </a:solidFill>
                <a:latin typeface="Segoe UI"/>
              </a:rPr>
              <a:t>1</a:t>
            </a:r>
          </a:p>
        </p:txBody>
      </p:sp>
      <p:sp>
        <p:nvSpPr>
          <p:cNvPr id="9" name="TextBox 8"/>
          <p:cNvSpPr txBox="1"/>
          <p:nvPr/>
        </p:nvSpPr>
        <p:spPr>
          <a:xfrm>
            <a:off x="1554480" y="1234440"/>
            <a:ext cx="2743200" cy="502920"/>
          </a:xfrm>
          <a:prstGeom prst="rect">
            <a:avLst/>
          </a:prstGeom>
          <a:noFill/>
        </p:spPr>
        <p:txBody>
          <a:bodyPr wrap="square" anchor="ctr" lIns="45720" rIns="45720">
            <a:spAutoFit/>
          </a:bodyPr>
          <a:lstStyle/>
          <a:p>
            <a:pPr algn="l"/>
            <a:r>
              <a:rPr sz="1800" b="1">
                <a:solidFill>
                  <a:srgbClr val="1E3A8A"/>
                </a:solidFill>
                <a:latin typeface="Segoe UI"/>
              </a:rPr>
              <a:t>COLLECTER</a:t>
            </a:r>
          </a:p>
        </p:txBody>
      </p:sp>
      <p:sp>
        <p:nvSpPr>
          <p:cNvPr id="10" name="TextBox 9"/>
          <p:cNvSpPr txBox="1"/>
          <p:nvPr/>
        </p:nvSpPr>
        <p:spPr>
          <a:xfrm>
            <a:off x="4206240" y="1234440"/>
            <a:ext cx="3657600" cy="502920"/>
          </a:xfrm>
          <a:prstGeom prst="rect">
            <a:avLst/>
          </a:prstGeom>
          <a:noFill/>
        </p:spPr>
        <p:txBody>
          <a:bodyPr wrap="square" anchor="ctr" lIns="45720" rIns="45720">
            <a:spAutoFit/>
          </a:bodyPr>
          <a:lstStyle/>
          <a:p>
            <a:pPr algn="l"/>
            <a:r>
              <a:rPr sz="1600" b="0">
                <a:solidFill>
                  <a:srgbClr val="111827"/>
                </a:solidFill>
                <a:latin typeface="Segoe UI"/>
              </a:rPr>
              <a:t>Logs ft_producer_tp2</a:t>
            </a:r>
          </a:p>
        </p:txBody>
      </p:sp>
      <p:sp>
        <p:nvSpPr>
          <p:cNvPr id="11" name="Oval 10"/>
          <p:cNvSpPr/>
          <p:nvPr/>
        </p:nvSpPr>
        <p:spPr>
          <a:xfrm>
            <a:off x="731520" y="1920240"/>
            <a:ext cx="594360" cy="5943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1">
                <a:solidFill>
                  <a:srgbClr val="FFFFFF"/>
                </a:solidFill>
                <a:latin typeface="Segoe UI"/>
              </a:rPr>
              <a:t>2</a:t>
            </a:r>
          </a:p>
        </p:txBody>
      </p:sp>
      <p:sp>
        <p:nvSpPr>
          <p:cNvPr id="12" name="TextBox 11"/>
          <p:cNvSpPr txBox="1"/>
          <p:nvPr/>
        </p:nvSpPr>
        <p:spPr>
          <a:xfrm>
            <a:off x="1554480" y="1965960"/>
            <a:ext cx="2743200" cy="502920"/>
          </a:xfrm>
          <a:prstGeom prst="rect">
            <a:avLst/>
          </a:prstGeom>
          <a:noFill/>
        </p:spPr>
        <p:txBody>
          <a:bodyPr wrap="square" anchor="ctr" lIns="45720" rIns="45720">
            <a:spAutoFit/>
          </a:bodyPr>
          <a:lstStyle/>
          <a:p>
            <a:pPr algn="l"/>
            <a:r>
              <a:rPr sz="1800" b="1">
                <a:solidFill>
                  <a:srgbClr val="2563EB"/>
                </a:solidFill>
                <a:latin typeface="Segoe UI"/>
              </a:rPr>
              <a:t>TRANSPORTER</a:t>
            </a:r>
          </a:p>
        </p:txBody>
      </p:sp>
      <p:sp>
        <p:nvSpPr>
          <p:cNvPr id="13" name="TextBox 12"/>
          <p:cNvSpPr txBox="1"/>
          <p:nvPr/>
        </p:nvSpPr>
        <p:spPr>
          <a:xfrm>
            <a:off x="4206240" y="1965960"/>
            <a:ext cx="3657600" cy="502920"/>
          </a:xfrm>
          <a:prstGeom prst="rect">
            <a:avLst/>
          </a:prstGeom>
          <a:noFill/>
        </p:spPr>
        <p:txBody>
          <a:bodyPr wrap="square" anchor="ctr" lIns="45720" rIns="45720">
            <a:spAutoFit/>
          </a:bodyPr>
          <a:lstStyle/>
          <a:p>
            <a:pPr algn="l"/>
            <a:r>
              <a:rPr sz="1600" b="0">
                <a:solidFill>
                  <a:srgbClr val="111827"/>
                </a:solidFill>
                <a:latin typeface="Segoe UI"/>
              </a:rPr>
              <a:t>Kafka UI :8080</a:t>
            </a:r>
          </a:p>
        </p:txBody>
      </p:sp>
      <p:sp>
        <p:nvSpPr>
          <p:cNvPr id="14" name="Oval 13"/>
          <p:cNvSpPr/>
          <p:nvPr/>
        </p:nvSpPr>
        <p:spPr>
          <a:xfrm>
            <a:off x="731520" y="2651760"/>
            <a:ext cx="594360" cy="59436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1">
                <a:solidFill>
                  <a:srgbClr val="FFFFFF"/>
                </a:solidFill>
                <a:latin typeface="Segoe UI"/>
              </a:rPr>
              <a:t>3</a:t>
            </a:r>
          </a:p>
        </p:txBody>
      </p:sp>
      <p:sp>
        <p:nvSpPr>
          <p:cNvPr id="15" name="TextBox 14"/>
          <p:cNvSpPr txBox="1"/>
          <p:nvPr/>
        </p:nvSpPr>
        <p:spPr>
          <a:xfrm>
            <a:off x="1554480" y="2697480"/>
            <a:ext cx="2743200" cy="502920"/>
          </a:xfrm>
          <a:prstGeom prst="rect">
            <a:avLst/>
          </a:prstGeom>
          <a:noFill/>
        </p:spPr>
        <p:txBody>
          <a:bodyPr wrap="square" anchor="ctr" lIns="45720" rIns="45720">
            <a:spAutoFit/>
          </a:bodyPr>
          <a:lstStyle/>
          <a:p>
            <a:pPr algn="l"/>
            <a:r>
              <a:rPr sz="1800" b="1">
                <a:solidFill>
                  <a:srgbClr val="EA580C"/>
                </a:solidFill>
                <a:latin typeface="Segoe UI"/>
              </a:rPr>
              <a:t>STOCKER</a:t>
            </a:r>
          </a:p>
        </p:txBody>
      </p:sp>
      <p:sp>
        <p:nvSpPr>
          <p:cNvPr id="16" name="TextBox 15"/>
          <p:cNvSpPr txBox="1"/>
          <p:nvPr/>
        </p:nvSpPr>
        <p:spPr>
          <a:xfrm>
            <a:off x="4206240" y="2697480"/>
            <a:ext cx="3657600" cy="502920"/>
          </a:xfrm>
          <a:prstGeom prst="rect">
            <a:avLst/>
          </a:prstGeom>
          <a:noFill/>
        </p:spPr>
        <p:txBody>
          <a:bodyPr wrap="square" anchor="ctr" lIns="45720" rIns="45720">
            <a:spAutoFit/>
          </a:bodyPr>
          <a:lstStyle/>
          <a:p>
            <a:pPr algn="l"/>
            <a:r>
              <a:rPr sz="1600" b="0">
                <a:solidFill>
                  <a:srgbClr val="111827"/>
                </a:solidFill>
                <a:latin typeface="Segoe UI"/>
              </a:rPr>
              <a:t>Data Lake raw/</a:t>
            </a:r>
          </a:p>
        </p:txBody>
      </p:sp>
      <p:sp>
        <p:nvSpPr>
          <p:cNvPr id="17" name="Oval 16"/>
          <p:cNvSpPr/>
          <p:nvPr/>
        </p:nvSpPr>
        <p:spPr>
          <a:xfrm>
            <a:off x="731520" y="3383280"/>
            <a:ext cx="594360" cy="594360"/>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1">
                <a:solidFill>
                  <a:srgbClr val="FFFFFF"/>
                </a:solidFill>
                <a:latin typeface="Segoe UI"/>
              </a:rPr>
              <a:t>4</a:t>
            </a:r>
          </a:p>
        </p:txBody>
      </p:sp>
      <p:sp>
        <p:nvSpPr>
          <p:cNvPr id="18" name="TextBox 17"/>
          <p:cNvSpPr txBox="1"/>
          <p:nvPr/>
        </p:nvSpPr>
        <p:spPr>
          <a:xfrm>
            <a:off x="1554480" y="3429000"/>
            <a:ext cx="2743200" cy="502920"/>
          </a:xfrm>
          <a:prstGeom prst="rect">
            <a:avLst/>
          </a:prstGeom>
          <a:noFill/>
        </p:spPr>
        <p:txBody>
          <a:bodyPr wrap="square" anchor="ctr" lIns="45720" rIns="45720">
            <a:spAutoFit/>
          </a:bodyPr>
          <a:lstStyle/>
          <a:p>
            <a:pPr algn="l"/>
            <a:r>
              <a:rPr sz="1800" b="1">
                <a:solidFill>
                  <a:srgbClr val="DC2626"/>
                </a:solidFill>
                <a:latin typeface="Segoe UI"/>
              </a:rPr>
              <a:t>TRANSFORMER</a:t>
            </a:r>
          </a:p>
        </p:txBody>
      </p:sp>
      <p:sp>
        <p:nvSpPr>
          <p:cNvPr id="19" name="TextBox 18"/>
          <p:cNvSpPr txBox="1"/>
          <p:nvPr/>
        </p:nvSpPr>
        <p:spPr>
          <a:xfrm>
            <a:off x="4206240" y="3429000"/>
            <a:ext cx="3657600" cy="502920"/>
          </a:xfrm>
          <a:prstGeom prst="rect">
            <a:avLst/>
          </a:prstGeom>
          <a:noFill/>
        </p:spPr>
        <p:txBody>
          <a:bodyPr wrap="square" anchor="ctr" lIns="45720" rIns="45720">
            <a:spAutoFit/>
          </a:bodyPr>
          <a:lstStyle/>
          <a:p>
            <a:pPr algn="l"/>
            <a:r>
              <a:rPr sz="1600" b="0">
                <a:solidFill>
                  <a:srgbClr val="111827"/>
                </a:solidFill>
                <a:latin typeface="Segoe UI"/>
              </a:rPr>
              <a:t>spark-batch</a:t>
            </a:r>
          </a:p>
        </p:txBody>
      </p:sp>
      <p:sp>
        <p:nvSpPr>
          <p:cNvPr id="20" name="Oval 19"/>
          <p:cNvSpPr/>
          <p:nvPr/>
        </p:nvSpPr>
        <p:spPr>
          <a:xfrm>
            <a:off x="731520" y="4114800"/>
            <a:ext cx="594360" cy="594360"/>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1">
                <a:solidFill>
                  <a:srgbClr val="FFFFFF"/>
                </a:solidFill>
                <a:latin typeface="Segoe UI"/>
              </a:rPr>
              <a:t>5</a:t>
            </a:r>
          </a:p>
        </p:txBody>
      </p:sp>
      <p:sp>
        <p:nvSpPr>
          <p:cNvPr id="21" name="TextBox 20"/>
          <p:cNvSpPr txBox="1"/>
          <p:nvPr/>
        </p:nvSpPr>
        <p:spPr>
          <a:xfrm>
            <a:off x="1554480" y="4160520"/>
            <a:ext cx="2743200" cy="502920"/>
          </a:xfrm>
          <a:prstGeom prst="rect">
            <a:avLst/>
          </a:prstGeom>
          <a:noFill/>
        </p:spPr>
        <p:txBody>
          <a:bodyPr wrap="square" anchor="ctr" lIns="45720" rIns="45720">
            <a:spAutoFit/>
          </a:bodyPr>
          <a:lstStyle/>
          <a:p>
            <a:pPr algn="l"/>
            <a:r>
              <a:rPr sz="1800" b="1">
                <a:solidFill>
                  <a:srgbClr val="1E3A8A"/>
                </a:solidFill>
                <a:latin typeface="Segoe UI"/>
              </a:rPr>
              <a:t>CHARGER</a:t>
            </a:r>
          </a:p>
        </p:txBody>
      </p:sp>
      <p:sp>
        <p:nvSpPr>
          <p:cNvPr id="22" name="TextBox 21"/>
          <p:cNvSpPr txBox="1"/>
          <p:nvPr/>
        </p:nvSpPr>
        <p:spPr>
          <a:xfrm>
            <a:off x="4206240" y="4160520"/>
            <a:ext cx="3657600" cy="502920"/>
          </a:xfrm>
          <a:prstGeom prst="rect">
            <a:avLst/>
          </a:prstGeom>
          <a:noFill/>
        </p:spPr>
        <p:txBody>
          <a:bodyPr wrap="square" anchor="ctr" lIns="45720" rIns="45720">
            <a:spAutoFit/>
          </a:bodyPr>
          <a:lstStyle/>
          <a:p>
            <a:pPr algn="l"/>
            <a:r>
              <a:rPr sz="1600" b="0">
                <a:solidFill>
                  <a:srgbClr val="111827"/>
                </a:solidFill>
                <a:latin typeface="Segoe UI"/>
              </a:rPr>
              <a:t>PostgreSQL</a:t>
            </a:r>
          </a:p>
        </p:txBody>
      </p:sp>
      <p:sp>
        <p:nvSpPr>
          <p:cNvPr id="23" name="Oval 22"/>
          <p:cNvSpPr/>
          <p:nvPr/>
        </p:nvSpPr>
        <p:spPr>
          <a:xfrm>
            <a:off x="731520" y="4846320"/>
            <a:ext cx="594360" cy="594360"/>
          </a:xfrm>
          <a:prstGeom prst="ellipse">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1">
                <a:solidFill>
                  <a:srgbClr val="FFFFFF"/>
                </a:solidFill>
                <a:latin typeface="Segoe UI"/>
              </a:rPr>
              <a:t>6</a:t>
            </a:r>
          </a:p>
        </p:txBody>
      </p:sp>
      <p:sp>
        <p:nvSpPr>
          <p:cNvPr id="24" name="TextBox 23"/>
          <p:cNvSpPr txBox="1"/>
          <p:nvPr/>
        </p:nvSpPr>
        <p:spPr>
          <a:xfrm>
            <a:off x="1554480" y="4892040"/>
            <a:ext cx="2743200" cy="502920"/>
          </a:xfrm>
          <a:prstGeom prst="rect">
            <a:avLst/>
          </a:prstGeom>
          <a:noFill/>
        </p:spPr>
        <p:txBody>
          <a:bodyPr wrap="square" anchor="ctr" lIns="45720" rIns="45720">
            <a:spAutoFit/>
          </a:bodyPr>
          <a:lstStyle/>
          <a:p>
            <a:pPr algn="l"/>
            <a:r>
              <a:rPr sz="1800" b="1">
                <a:solidFill>
                  <a:srgbClr val="16A34A"/>
                </a:solidFill>
                <a:latin typeface="Segoe UI"/>
              </a:rPr>
              <a:t>VISUALISER</a:t>
            </a:r>
          </a:p>
        </p:txBody>
      </p:sp>
      <p:sp>
        <p:nvSpPr>
          <p:cNvPr id="25" name="TextBox 24"/>
          <p:cNvSpPr txBox="1"/>
          <p:nvPr/>
        </p:nvSpPr>
        <p:spPr>
          <a:xfrm>
            <a:off x="4206240" y="4892040"/>
            <a:ext cx="3657600" cy="502920"/>
          </a:xfrm>
          <a:prstGeom prst="rect">
            <a:avLst/>
          </a:prstGeom>
          <a:noFill/>
        </p:spPr>
        <p:txBody>
          <a:bodyPr wrap="square" anchor="ctr" lIns="45720" rIns="45720">
            <a:spAutoFit/>
          </a:bodyPr>
          <a:lstStyle/>
          <a:p>
            <a:pPr algn="l"/>
            <a:r>
              <a:rPr sz="1600" b="0">
                <a:solidFill>
                  <a:srgbClr val="111827"/>
                </a:solidFill>
                <a:latin typeface="Segoe UI"/>
              </a:rPr>
              <a:t>Dash :8050 / Metabase :3000</a:t>
            </a:r>
          </a:p>
        </p:txBody>
      </p:sp>
      <p:sp>
        <p:nvSpPr>
          <p:cNvPr id="26" name="Oval 25"/>
          <p:cNvSpPr/>
          <p:nvPr/>
        </p:nvSpPr>
        <p:spPr>
          <a:xfrm>
            <a:off x="731520" y="5577840"/>
            <a:ext cx="594360" cy="59436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1">
                <a:solidFill>
                  <a:srgbClr val="FFFFFF"/>
                </a:solidFill>
                <a:latin typeface="Segoe UI"/>
              </a:rPr>
              <a:t>7</a:t>
            </a:r>
          </a:p>
        </p:txBody>
      </p:sp>
      <p:sp>
        <p:nvSpPr>
          <p:cNvPr id="27" name="TextBox 26"/>
          <p:cNvSpPr txBox="1"/>
          <p:nvPr/>
        </p:nvSpPr>
        <p:spPr>
          <a:xfrm>
            <a:off x="1554480" y="5623560"/>
            <a:ext cx="2743200" cy="502920"/>
          </a:xfrm>
          <a:prstGeom prst="rect">
            <a:avLst/>
          </a:prstGeom>
          <a:noFill/>
        </p:spPr>
        <p:txBody>
          <a:bodyPr wrap="square" anchor="ctr" lIns="45720" rIns="45720">
            <a:spAutoFit/>
          </a:bodyPr>
          <a:lstStyle/>
          <a:p>
            <a:pPr algn="l"/>
            <a:r>
              <a:rPr sz="1800" b="1">
                <a:solidFill>
                  <a:srgbClr val="EA580C"/>
                </a:solidFill>
                <a:latin typeface="Segoe UI"/>
              </a:rPr>
              <a:t>SUPERVISER</a:t>
            </a:r>
          </a:p>
        </p:txBody>
      </p:sp>
      <p:sp>
        <p:nvSpPr>
          <p:cNvPr id="28" name="TextBox 27"/>
          <p:cNvSpPr txBox="1"/>
          <p:nvPr/>
        </p:nvSpPr>
        <p:spPr>
          <a:xfrm>
            <a:off x="4206240" y="5623560"/>
            <a:ext cx="3657600" cy="502920"/>
          </a:xfrm>
          <a:prstGeom prst="rect">
            <a:avLst/>
          </a:prstGeom>
          <a:noFill/>
        </p:spPr>
        <p:txBody>
          <a:bodyPr wrap="square" anchor="ctr" lIns="45720" rIns="45720">
            <a:spAutoFit/>
          </a:bodyPr>
          <a:lstStyle/>
          <a:p>
            <a:pPr algn="l"/>
            <a:r>
              <a:rPr sz="1600" b="0">
                <a:solidFill>
                  <a:srgbClr val="111827"/>
                </a:solidFill>
                <a:latin typeface="Segoe UI"/>
              </a:rPr>
              <a:t>Grafana :3001</a:t>
            </a:r>
          </a:p>
        </p:txBody>
      </p:sp>
      <p:sp>
        <p:nvSpPr>
          <p:cNvPr id="29" name="Rounded Rectangle 28"/>
          <p:cNvSpPr/>
          <p:nvPr/>
        </p:nvSpPr>
        <p:spPr>
          <a:xfrm>
            <a:off x="7955279" y="1280160"/>
            <a:ext cx="3931920" cy="2926080"/>
          </a:xfrm>
          <a:prstGeom prst="roundRect">
            <a:avLst>
              <a:gd name="adj" fmla="val 3750"/>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92440" y="1371600"/>
            <a:ext cx="3657600" cy="2743200"/>
          </a:xfrm>
          <a:prstGeom prst="rect">
            <a:avLst/>
          </a:prstGeom>
          <a:noFill/>
        </p:spPr>
        <p:txBody>
          <a:bodyPr wrap="square" anchor="t" lIns="45720" rIns="45720">
            <a:spAutoFit/>
          </a:bodyPr>
          <a:lstStyle/>
          <a:p>
            <a:pPr algn="l"/>
            <a:r>
              <a:rPr sz="1200" b="0">
                <a:solidFill>
                  <a:srgbClr val="A7F3D0"/>
                </a:solidFill>
                <a:latin typeface="Consolas"/>
              </a:rPr>
              <a:t># Forcer un batch Spark</a:t>
            </a:r>
          </a:p>
          <a:p>
            <a:pPr algn="l"/>
            <a:r>
              <a:rPr sz="1200" b="0">
                <a:solidFill>
                  <a:srgbClr val="A7F3D0"/>
                </a:solidFill>
                <a:latin typeface="Consolas"/>
              </a:rPr>
              <a:t>docker compose run --rm \</a:t>
            </a:r>
          </a:p>
          <a:p>
            <a:pPr algn="l"/>
            <a:r>
              <a:rPr sz="1200" b="0">
                <a:solidFill>
                  <a:srgbClr val="A7F3D0"/>
                </a:solidFill>
                <a:latin typeface="Consolas"/>
              </a:rPr>
              <a:t>  -e SPARK_BATCH_RUN_ONCE=true \</a:t>
            </a:r>
          </a:p>
          <a:p>
            <a:pPr algn="l"/>
            <a:r>
              <a:rPr sz="1200" b="0">
                <a:solidFill>
                  <a:srgbClr val="A7F3D0"/>
                </a:solidFill>
                <a:latin typeface="Consolas"/>
              </a:rPr>
              <a:t>  spark-batch</a:t>
            </a:r>
          </a:p>
          <a:p>
            <a:pPr algn="l"/>
            <a:r>
              <a:rPr sz="1200" b="0">
                <a:solidFill>
                  <a:srgbClr val="A7F3D0"/>
                </a:solidFill>
                <a:latin typeface="Consolas"/>
              </a:rPr>
              <a:t/>
            </a:r>
          </a:p>
          <a:p>
            <a:pPr algn="l"/>
            <a:r>
              <a:rPr sz="1200" b="0">
                <a:solidFill>
                  <a:srgbClr val="A7F3D0"/>
                </a:solidFill>
                <a:latin typeface="Consolas"/>
              </a:rPr>
              <a:t># Voir le Data Lake</a:t>
            </a:r>
          </a:p>
          <a:p>
            <a:pPr algn="l"/>
            <a:r>
              <a:rPr sz="1200" b="0">
                <a:solidFill>
                  <a:srgbClr val="A7F3D0"/>
                </a:solidFill>
                <a:latin typeface="Consolas"/>
              </a:rPr>
              <a:t>docker exec raw_aggregator_tp2 \</a:t>
            </a:r>
          </a:p>
          <a:p>
            <a:pPr algn="l"/>
            <a:r>
              <a:rPr sz="1200" b="0">
                <a:solidFill>
                  <a:srgbClr val="A7F3D0"/>
                </a:solidFill>
                <a:latin typeface="Consolas"/>
              </a:rPr>
              <a:t>  ls -R /data-lake</a:t>
            </a:r>
          </a:p>
        </p:txBody>
      </p:sp>
      <p:sp>
        <p:nvSpPr>
          <p:cNvPr id="31" name="TextBox 30"/>
          <p:cNvSpPr txBox="1"/>
          <p:nvPr/>
        </p:nvSpPr>
        <p:spPr>
          <a:xfrm>
            <a:off x="7955279" y="4389120"/>
            <a:ext cx="3931920" cy="1371600"/>
          </a:xfrm>
          <a:prstGeom prst="rect">
            <a:avLst/>
          </a:prstGeom>
          <a:noFill/>
        </p:spPr>
        <p:txBody>
          <a:bodyPr wrap="square" anchor="t" lIns="45720" rIns="45720">
            <a:spAutoFit/>
          </a:bodyPr>
          <a:lstStyle/>
          <a:p>
            <a:pPr algn="l"/>
            <a:r>
              <a:rPr sz="1400" b="0">
                <a:solidFill>
                  <a:srgbClr val="6B7280"/>
                </a:solidFill>
                <a:latin typeface="Segoe UI"/>
              </a:rPr>
              <a:t>Captures d'écran de secours prévues si la démo en direct échoue.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601200" cy="685800"/>
          </a:xfrm>
          <a:prstGeom prst="rect">
            <a:avLst/>
          </a:prstGeom>
          <a:noFill/>
        </p:spPr>
        <p:txBody>
          <a:bodyPr wrap="square" anchor="ctr" lIns="45720" rIns="45720">
            <a:spAutoFit/>
          </a:bodyPr>
          <a:lstStyle/>
          <a:p>
            <a:pPr algn="l"/>
            <a:r>
              <a:rPr sz="2800" b="1">
                <a:solidFill>
                  <a:srgbClr val="FFFFFF"/>
                </a:solidFill>
                <a:latin typeface="Segoe UI"/>
              </a:rPr>
              <a:t>Bilan</a:t>
            </a:r>
          </a:p>
        </p:txBody>
      </p:sp>
      <p:sp>
        <p:nvSpPr>
          <p:cNvPr id="4" name="TextBox 3"/>
          <p:cNvSpPr txBox="1"/>
          <p:nvPr/>
        </p:nvSpPr>
        <p:spPr>
          <a:xfrm>
            <a:off x="8961120" y="274320"/>
            <a:ext cx="2926080" cy="457200"/>
          </a:xfrm>
          <a:prstGeom prst="rect">
            <a:avLst/>
          </a:prstGeom>
          <a:noFill/>
        </p:spPr>
        <p:txBody>
          <a:bodyPr wrap="square" anchor="ctr" lIns="45720" rIns="45720">
            <a:spAutoFit/>
          </a:bodyPr>
          <a:lstStyle/>
          <a:p>
            <a:pPr algn="r"/>
            <a:r>
              <a:rPr sz="1300" b="0">
                <a:solidFill>
                  <a:srgbClr val="BFDBFE"/>
                </a:solidFill>
                <a:latin typeface="Segoe UI"/>
              </a:rPr>
              <a:t>Conclusion</a:t>
            </a:r>
          </a:p>
        </p:txBody>
      </p:sp>
      <p:sp>
        <p:nvSpPr>
          <p:cNvPr id="5" name="Rectangle 4"/>
          <p:cNvSpPr/>
          <p:nvPr/>
        </p:nvSpPr>
        <p:spPr>
          <a:xfrm>
            <a:off x="0" y="6583680"/>
            <a:ext cx="12191695" cy="2743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7315200" cy="274320"/>
          </a:xfrm>
          <a:prstGeom prst="rect">
            <a:avLst/>
          </a:prstGeom>
          <a:noFill/>
        </p:spPr>
        <p:txBody>
          <a:bodyPr wrap="square" anchor="ctr" lIns="45720" rIns="45720">
            <a:spAutoFit/>
          </a:bodyPr>
          <a:lstStyle/>
          <a:p>
            <a:pPr algn="l"/>
            <a:r>
              <a:rPr sz="1000" b="0">
                <a:solidFill>
                  <a:srgbClr val="6B7280"/>
                </a:solidFill>
                <a:latin typeface="Segoe UI"/>
              </a:rPr>
              <a:t>Compétences numériques : du fichier brut à la plateforme data</a:t>
            </a:r>
          </a:p>
        </p:txBody>
      </p:sp>
      <p:sp>
        <p:nvSpPr>
          <p:cNvPr id="7" name="TextBox 6"/>
          <p:cNvSpPr txBox="1"/>
          <p:nvPr/>
        </p:nvSpPr>
        <p:spPr>
          <a:xfrm>
            <a:off x="10789920" y="6583680"/>
            <a:ext cx="1005840" cy="274320"/>
          </a:xfrm>
          <a:prstGeom prst="rect">
            <a:avLst/>
          </a:prstGeom>
          <a:noFill/>
        </p:spPr>
        <p:txBody>
          <a:bodyPr wrap="square" anchor="ctr" lIns="45720" rIns="45720">
            <a:spAutoFit/>
          </a:bodyPr>
          <a:lstStyle/>
          <a:p>
            <a:pPr algn="r"/>
            <a:r>
              <a:rPr sz="1000" b="0">
                <a:solidFill>
                  <a:srgbClr val="6B7280"/>
                </a:solidFill>
                <a:latin typeface="Segoe UI"/>
              </a:rPr>
              <a:t>17 / 17</a:t>
            </a:r>
          </a:p>
        </p:txBody>
      </p:sp>
      <p:sp>
        <p:nvSpPr>
          <p:cNvPr id="8" name="Rounded Rectangle 7"/>
          <p:cNvSpPr/>
          <p:nvPr/>
        </p:nvSpPr>
        <p:spPr>
          <a:xfrm>
            <a:off x="548640" y="1371600"/>
            <a:ext cx="3566160" cy="731520"/>
          </a:xfrm>
          <a:prstGeom prst="roundRect">
            <a:avLst>
              <a:gd name="adj" fmla="val 15000"/>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2000" b="1">
                <a:solidFill>
                  <a:srgbClr val="FFFFFF"/>
                </a:solidFill>
                <a:latin typeface="Segoe UI"/>
              </a:rPr>
              <a:t>Réussites</a:t>
            </a:r>
          </a:p>
        </p:txBody>
      </p:sp>
      <p:sp>
        <p:nvSpPr>
          <p:cNvPr id="9" name="TextBox 8"/>
          <p:cNvSpPr txBox="1"/>
          <p:nvPr/>
        </p:nvSpPr>
        <p:spPr>
          <a:xfrm>
            <a:off x="640080" y="2286000"/>
            <a:ext cx="3474720" cy="3657600"/>
          </a:xfrm>
          <a:prstGeom prst="rect">
            <a:avLst/>
          </a:prstGeom>
          <a:noFill/>
        </p:spPr>
        <p:txBody>
          <a:bodyPr wrap="square">
            <a:spAutoFit/>
          </a:bodyPr>
          <a:lstStyle/>
          <a:p>
            <a:pPr>
              <a:spcAft>
                <a:spcPts val="800"/>
              </a:spcAft>
            </a:pPr>
            <a:r>
              <a:rPr sz="1500">
                <a:solidFill>
                  <a:srgbClr val="111827"/>
                </a:solidFill>
                <a:latin typeface="Segoe UI"/>
              </a:rPr>
              <a:t>•  Pipeline 100 % automatique</a:t>
            </a:r>
          </a:p>
          <a:p>
            <a:pPr>
              <a:spcAft>
                <a:spcPts val="800"/>
              </a:spcAft>
            </a:pPr>
            <a:r>
              <a:rPr sz="1500">
                <a:solidFill>
                  <a:srgbClr val="111827"/>
                </a:solidFill>
                <a:latin typeface="Segoe UI"/>
              </a:rPr>
              <a:t>•  Modèle 3NF du TP1 réutilisé</a:t>
            </a:r>
          </a:p>
          <a:p>
            <a:pPr>
              <a:spcAft>
                <a:spcPts val="800"/>
              </a:spcAft>
            </a:pPr>
            <a:r>
              <a:rPr sz="1500">
                <a:solidFill>
                  <a:srgbClr val="111827"/>
                </a:solidFill>
                <a:latin typeface="Segoe UI"/>
              </a:rPr>
              <a:t>•  Idempotent : aucun doublon</a:t>
            </a:r>
          </a:p>
          <a:p>
            <a:pPr>
              <a:spcAft>
                <a:spcPts val="800"/>
              </a:spcAft>
            </a:pPr>
            <a:r>
              <a:rPr sz="1500">
                <a:solidFill>
                  <a:srgbClr val="111827"/>
                </a:solidFill>
                <a:latin typeface="Segoe UI"/>
              </a:rPr>
              <a:t>•  Observable : Raw vs Clean</a:t>
            </a:r>
          </a:p>
          <a:p>
            <a:pPr>
              <a:spcAft>
                <a:spcPts val="800"/>
              </a:spcAft>
            </a:pPr>
            <a:r>
              <a:rPr sz="1500">
                <a:solidFill>
                  <a:srgbClr val="111827"/>
                </a:solidFill>
                <a:latin typeface="Segoe UI"/>
              </a:rPr>
              <a:t>•  Démarrage en 1 seule commande</a:t>
            </a:r>
          </a:p>
        </p:txBody>
      </p:sp>
      <p:sp>
        <p:nvSpPr>
          <p:cNvPr id="10" name="Rounded Rectangle 9"/>
          <p:cNvSpPr/>
          <p:nvPr/>
        </p:nvSpPr>
        <p:spPr>
          <a:xfrm>
            <a:off x="4343400" y="1371600"/>
            <a:ext cx="3566160" cy="731520"/>
          </a:xfrm>
          <a:prstGeom prst="roundRect">
            <a:avLst>
              <a:gd name="adj" fmla="val 15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2000" b="1">
                <a:solidFill>
                  <a:srgbClr val="FFFFFF"/>
                </a:solidFill>
                <a:latin typeface="Segoe UI"/>
              </a:rPr>
              <a:t>Difficultés</a:t>
            </a:r>
          </a:p>
        </p:txBody>
      </p:sp>
      <p:sp>
        <p:nvSpPr>
          <p:cNvPr id="11" name="TextBox 10"/>
          <p:cNvSpPr txBox="1"/>
          <p:nvPr/>
        </p:nvSpPr>
        <p:spPr>
          <a:xfrm>
            <a:off x="4434840" y="2286000"/>
            <a:ext cx="3474720" cy="3657600"/>
          </a:xfrm>
          <a:prstGeom prst="rect">
            <a:avLst/>
          </a:prstGeom>
          <a:noFill/>
        </p:spPr>
        <p:txBody>
          <a:bodyPr wrap="square">
            <a:spAutoFit/>
          </a:bodyPr>
          <a:lstStyle/>
          <a:p>
            <a:pPr>
              <a:spcAft>
                <a:spcPts val="800"/>
              </a:spcAft>
            </a:pPr>
            <a:r>
              <a:rPr sz="1500">
                <a:solidFill>
                  <a:srgbClr val="111827"/>
                </a:solidFill>
                <a:latin typeface="Segoe UI"/>
              </a:rPr>
              <a:t>•  Images Bitnami retirées de Docker Hub</a:t>
            </a:r>
          </a:p>
          <a:p>
            <a:pPr>
              <a:spcAft>
                <a:spcPts val="800"/>
              </a:spcAft>
            </a:pPr>
            <a:r>
              <a:rPr sz="1500">
                <a:solidFill>
                  <a:srgbClr val="111827"/>
                </a:solidFill>
                <a:latin typeface="Segoe UI"/>
              </a:rPr>
              <a:t>•  Spark : chemins Python et spark-submit</a:t>
            </a:r>
          </a:p>
          <a:p>
            <a:pPr>
              <a:spcAft>
                <a:spcPts val="800"/>
              </a:spcAft>
            </a:pPr>
            <a:r>
              <a:rPr sz="1500">
                <a:solidFill>
                  <a:srgbClr val="111827"/>
                </a:solidFill>
                <a:latin typeface="Segoe UI"/>
              </a:rPr>
              <a:t>•  Ne perdre aucun message Kafka</a:t>
            </a:r>
          </a:p>
          <a:p>
            <a:pPr>
              <a:spcAft>
                <a:spcPts val="800"/>
              </a:spcAft>
            </a:pPr>
            <a:r>
              <a:rPr sz="1500">
                <a:solidFill>
                  <a:srgbClr val="111827"/>
                </a:solidFill>
                <a:latin typeface="Segoe UI"/>
              </a:rPr>
              <a:t>•  Valeurs nulles dans les contrôles Spark</a:t>
            </a:r>
          </a:p>
        </p:txBody>
      </p:sp>
      <p:sp>
        <p:nvSpPr>
          <p:cNvPr id="12" name="Rounded Rectangle 11"/>
          <p:cNvSpPr/>
          <p:nvPr/>
        </p:nvSpPr>
        <p:spPr>
          <a:xfrm>
            <a:off x="8138160" y="1371600"/>
            <a:ext cx="3566160" cy="731520"/>
          </a:xfrm>
          <a:prstGeom prst="roundRect">
            <a:avLst>
              <a:gd name="adj" fmla="val 15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2000" b="1">
                <a:solidFill>
                  <a:srgbClr val="FFFFFF"/>
                </a:solidFill>
                <a:latin typeface="Segoe UI"/>
              </a:rPr>
              <a:t>Améliorations</a:t>
            </a:r>
          </a:p>
        </p:txBody>
      </p:sp>
      <p:sp>
        <p:nvSpPr>
          <p:cNvPr id="13" name="TextBox 12"/>
          <p:cNvSpPr txBox="1"/>
          <p:nvPr/>
        </p:nvSpPr>
        <p:spPr>
          <a:xfrm>
            <a:off x="8229600" y="2286000"/>
            <a:ext cx="3474720" cy="3657600"/>
          </a:xfrm>
          <a:prstGeom prst="rect">
            <a:avLst/>
          </a:prstGeom>
          <a:noFill/>
        </p:spPr>
        <p:txBody>
          <a:bodyPr wrap="square">
            <a:spAutoFit/>
          </a:bodyPr>
          <a:lstStyle/>
          <a:p>
            <a:pPr>
              <a:spcAft>
                <a:spcPts val="800"/>
              </a:spcAft>
            </a:pPr>
            <a:r>
              <a:rPr sz="1500">
                <a:solidFill>
                  <a:srgbClr val="111827"/>
                </a:solidFill>
                <a:latin typeface="Segoe UI"/>
              </a:rPr>
              <a:t>•  Delta Lake (historique, ACID)</a:t>
            </a:r>
          </a:p>
          <a:p>
            <a:pPr>
              <a:spcAft>
                <a:spcPts val="800"/>
              </a:spcAft>
            </a:pPr>
            <a:r>
              <a:rPr sz="1500">
                <a:solidFill>
                  <a:srgbClr val="111827"/>
                </a:solidFill>
                <a:latin typeface="Segoe UI"/>
              </a:rPr>
              <a:t>•  Alertes Grafana</a:t>
            </a:r>
          </a:p>
          <a:p>
            <a:pPr>
              <a:spcAft>
                <a:spcPts val="800"/>
              </a:spcAft>
            </a:pPr>
            <a:r>
              <a:rPr sz="1500">
                <a:solidFill>
                  <a:srgbClr val="111827"/>
                </a:solidFill>
                <a:latin typeface="Segoe UI"/>
              </a:rPr>
              <a:t>•  Plus de mots-clés et de départements</a:t>
            </a:r>
          </a:p>
          <a:p>
            <a:pPr>
              <a:spcAft>
                <a:spcPts val="800"/>
              </a:spcAft>
            </a:pPr>
            <a:r>
              <a:rPr sz="1500">
                <a:solidFill>
                  <a:srgbClr val="111827"/>
                </a:solidFill>
                <a:latin typeface="Segoe UI"/>
              </a:rPr>
              <a:t>•  Tests d'intégration automatisés (CI)</a:t>
            </a:r>
          </a:p>
        </p:txBody>
      </p:sp>
      <p:sp>
        <p:nvSpPr>
          <p:cNvPr id="14" name="TextBox 13"/>
          <p:cNvSpPr txBox="1"/>
          <p:nvPr/>
        </p:nvSpPr>
        <p:spPr>
          <a:xfrm>
            <a:off x="548640" y="5943600"/>
            <a:ext cx="11155680" cy="548640"/>
          </a:xfrm>
          <a:prstGeom prst="rect">
            <a:avLst/>
          </a:prstGeom>
          <a:noFill/>
        </p:spPr>
        <p:txBody>
          <a:bodyPr wrap="square" anchor="t" lIns="45720" rIns="45720">
            <a:spAutoFit/>
          </a:bodyPr>
          <a:lstStyle/>
          <a:p>
            <a:pPr algn="ctr"/>
            <a:r>
              <a:rPr sz="2400" b="1">
                <a:solidFill>
                  <a:srgbClr val="1E3A8A"/>
                </a:solidFill>
                <a:latin typeface="Segoe UI"/>
              </a:rPr>
              <a:t>Merci — Questions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