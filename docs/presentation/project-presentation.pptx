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1" u="none" strike="noStrike">
                <a:solidFill>
                  <a:srgbClr val="000000"/>
                </a:solidFill>
                <a:uFillTx/>
                <a:latin typeface="Calibri"/>
              </a:rPr>
              <a:t>Du brut au propre (dernier passage)</a:t>
            </a:r>
          </a:p>
        </c:rich>
      </c:tx>
      <c:overlay val="0"/>
      <c:spPr>
        <a:noFill/>
        <a:ln w="0">
          <a:noFill/>
        </a:ln>
      </c:spPr>
    </c:title>
    <c:autoTitleDeleted val="0"/>
    <c:plotArea>
      <c:barChart>
        <c:barDir val="col"/>
        <c:grouping val="clustered"/>
        <c:varyColors val="0"/>
        <c:ser>
          <c:idx val="0"/>
          <c:order val="0"/>
          <c:tx>
            <c:strRef>
              <c:f>label 0</c:f>
              <c:strCache>
                <c:ptCount val="1"/>
                <c:pt idx="0">
                  <c:v>Du brut au propre (dernier passage)</c:v>
                </c:pt>
              </c:strCache>
            </c:strRef>
          </c:tx>
          <c:spPr>
            <a:solidFill>
              <a:srgbClr val="2563EB"/>
            </a:solidFill>
            <a:ln w="0">
              <a:noFill/>
            </a:ln>
          </c:spPr>
          <c:invertIfNegative val="0"/>
          <c:dLbls>
            <c:numFmt formatCode="General" sourceLinked="0"/>
            <c:txPr>
              <a:bodyPr wrap="square"/>
              <a:lstStyle/>
              <a:p>
                <a:pPr>
                  <a:defRPr sz="1100" b="0" u="none" strike="noStrike">
                    <a:solidFill>
                      <a:srgbClr val="000000"/>
                    </a:solidFill>
                    <a:uFillTx/>
                    <a:latin typeface="Calibri"/>
                  </a:defRPr>
                </a:pPr>
              </a:p>
            </c:txPr>
            <c:dLblPos val="outEnd"/>
            <c:showLegendKey val="0"/>
            <c:showVal val="1"/>
            <c:showCatName val="0"/>
            <c:showSerName val="0"/>
            <c:showPercent val="0"/>
            <c:separator>; </c:separator>
            <c:extLst>
              <c:ext xmlns:c15="http://schemas.microsoft.com/office/drawing/2012/chart" uri="{CE6537A1-D6FC-4f65-9D91-7224C49458BB}">
                <c15:showLeaderLines val="1"/>
              </c:ext>
            </c:extLst>
          </c:dLbls>
          <c:cat>
            <c:strRef>
              <c:f>categories</c:f>
              <c:strCache>
                <c:ptCount val="4"/>
                <c:pt idx="0">
                  <c:v>Fiches reçues</c:v>
                </c:pt>
                <c:pt idx="1">
                  <c:v>Doublons reconnus</c:v>
                </c:pt>
                <c:pt idx="2">
                  <c:v>Offres écartées</c:v>
                </c:pt>
                <c:pt idx="3">
                  <c:v>Offres propres</c:v>
                </c:pt>
              </c:strCache>
            </c:strRef>
          </c:cat>
          <c:val>
            <c:numRef>
              <c:f>0</c:f>
              <c:numCache>
                <c:formatCode>General</c:formatCode>
                <c:ptCount val="4"/>
                <c:pt idx="0">
                  <c:v>42750</c:v>
                </c:pt>
                <c:pt idx="1">
                  <c:v>19540</c:v>
                </c:pt>
                <c:pt idx="2">
                  <c:v>1297</c:v>
                </c:pt>
                <c:pt idx="3">
                  <c:v>21913</c:v>
                </c:pt>
              </c:numCache>
            </c:numRef>
          </c:val>
        </c:ser>
        <c:gapWidth val="60"/>
        <c:overlap val="0"/>
        <c:axId val="91696518"/>
        <c:axId val="38022805"/>
      </c:barChart>
      <c:catAx>
        <c:axId val="91696518"/>
        <c:scaling>
          <c:orientation val="minMax"/>
        </c:scaling>
        <c:delete val="0"/>
        <c:axPos val="b"/>
        <c:numFmt formatCode="[$-40C]dd/mm/yyyy" sourceLinked="1"/>
        <c:majorTickMark val="out"/>
        <c:minorTickMark val="none"/>
        <c:tickLblPos val="nextTo"/>
        <c:spPr>
          <a:ln w="9360">
            <a:solidFill>
              <a:srgbClr val="878787"/>
            </a:solidFill>
            <a:round/>
          </a:ln>
        </c:spPr>
        <c:txPr>
          <a:bodyPr/>
          <a:lstStyle/>
          <a:p>
            <a:pPr>
              <a:defRPr sz="1100" b="0" u="none" strike="noStrike">
                <a:solidFill>
                  <a:srgbClr val="000000"/>
                </a:solidFill>
                <a:uFillTx/>
                <a:latin typeface="Calibri"/>
              </a:defRPr>
            </a:pPr>
          </a:p>
        </c:txPr>
        <c:crossAx val="38022805"/>
        <c:crosses val="autoZero"/>
        <c:auto val="1"/>
        <c:lblAlgn val="ctr"/>
        <c:lblOffset val="100"/>
        <c:noMultiLvlLbl val="0"/>
      </c:catAx>
      <c:valAx>
        <c:axId val="38022805"/>
        <c:scaling>
          <c:orientation val="minMax"/>
        </c:scaling>
        <c:delete val="1"/>
        <c:axPos val="l"/>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91696518"/>
        <c:crossBetween val="between"/>
      </c:valAx>
      <c:spPr>
        <a:noFill/>
        <a:ln w="0">
          <a:noFill/>
        </a:ln>
      </c:spPr>
    </c:plotArea>
    <c:plotVisOnly val="1"/>
    <c:dispBlanksAs val="gap"/>
  </c:chart>
  <c:spPr>
    <a:noFill/>
    <a:ln w="0">
      <a:noFill/>
    </a:ln>
  </c:spPr>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colorStyle>
</file>

<file path=ppt/charts/style1.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Cliquez pour déplacer la diapo</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fr-FR" sz="2000" b="0" u="none" strike="noStrike">
                <a:solidFill>
                  <a:srgbClr val="000000"/>
                </a:solidFill>
                <a:effectLst/>
                <a:uFillTx/>
                <a:latin typeface="Arial"/>
              </a:rPr>
              <a:t>Cliquez pour modifier le format des notes</a:t>
            </a:r>
            <a:endParaRPr lang="fr-FR"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fr-FR" sz="1400" b="0" u="none" strike="noStrike">
                <a:solidFill>
                  <a:srgbClr val="000000"/>
                </a:solidFill>
                <a:effectLst/>
                <a:uFillTx/>
                <a:latin typeface="Times New Roman"/>
              </a:rPr>
              <a:t>&lt;en-tête&gt;</a:t>
            </a:r>
            <a:endParaRPr lang="fr-FR"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fr-FR" sz="1400" b="0" u="none" strike="noStrike">
                <a:solidFill>
                  <a:srgbClr val="000000"/>
                </a:solidFill>
                <a:effectLst/>
                <a:uFillTx/>
                <a:latin typeface="Times New Roman"/>
              </a:defRPr>
            </a:lvl1pPr>
          </a:lstStyle>
          <a:p>
            <a:pPr indent="0" algn="r">
              <a:buNone/>
            </a:pPr>
            <a:r>
              <a:rPr lang="fr-FR" sz="1400" b="0" u="none" strike="noStrike">
                <a:solidFill>
                  <a:srgbClr val="000000"/>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fr-FR" sz="1400" b="0" u="none" strike="noStrike">
                <a:solidFill>
                  <a:srgbClr val="000000"/>
                </a:solidFill>
                <a:effectLst/>
                <a:uFillTx/>
                <a:latin typeface="Times New Roman"/>
              </a:defRPr>
            </a:lvl1pPr>
          </a:lstStyle>
          <a:p>
            <a:pPr indent="0" algn="l">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fr-FR" sz="1400" b="0" u="none" strike="noStrike">
                <a:solidFill>
                  <a:srgbClr val="000000"/>
                </a:solidFill>
                <a:effectLst/>
                <a:uFillTx/>
                <a:latin typeface="Times New Roman"/>
              </a:defRPr>
            </a:lvl1pPr>
          </a:lstStyle>
          <a:p>
            <a:pPr indent="0" algn="r">
              <a:buNone/>
            </a:pPr>
            <a:fld id="{2782F6B8-880A-40ED-857F-B46970C89FEB}" type="slidenum">
              <a:rPr lang="fr-FR" sz="1400" b="0" u="none" strike="noStrike">
                <a:solidFill>
                  <a:srgbClr val="000000"/>
                </a:solidFill>
                <a:effectLst/>
                <a:uFillTx/>
                <a:latin typeface="Times New Roman"/>
              </a:rPr>
              <a:t>&lt;numéro&gt;</a:t>
            </a:fld>
            <a:endParaRPr lang="fr-FR"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sldImg"/>
          </p:nvPr>
        </p:nvSpPr>
        <p:spPr>
          <a:xfrm>
            <a:off x="1143000" y="685800"/>
            <a:ext cx="4571640" cy="3428640"/>
          </a:xfrm>
          <a:prstGeom prst="rect">
            <a:avLst/>
          </a:prstGeom>
          <a:ln w="0">
            <a:noFill/>
          </a:ln>
        </p:spPr>
      </p:sp>
      <p:sp>
        <p:nvSpPr>
          <p:cNvPr id="36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fr-FR" sz="2000" b="0" u="none" strike="noStrike">
                <a:solidFill>
                  <a:srgbClr val="000000"/>
                </a:solidFill>
                <a:effectLst/>
                <a:uFillTx/>
                <a:latin typeface="Arial"/>
              </a:rPr>
              <a:t>Bonjour. Je vais vous présenter mes trois TP, qui forment un seul projet : prendre des offres d'emploi réelles, telles qu'elles sont publiées, et construire une plateforme qui les collecte toute seule, les range proprement et garantit leur fiabilité.</a:t>
            </a:r>
            <a:endParaRPr lang="fr-FR" sz="2000" b="0" u="none" strike="noStrike">
              <a:solidFill>
                <a:srgbClr val="000000"/>
              </a:solidFill>
              <a:effectLst/>
              <a:uFillTx/>
              <a:latin typeface="Arial"/>
            </a:endParaRPr>
          </a:p>
        </p:txBody>
      </p:sp>
      <p:sp>
        <p:nvSpPr>
          <p:cNvPr id="363"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618EE98-6D0A-4F6A-AFAB-06318F82DA10}"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sldImg"/>
          </p:nvPr>
        </p:nvSpPr>
        <p:spPr>
          <a:xfrm>
            <a:off x="1143000" y="685800"/>
            <a:ext cx="4571640" cy="3428640"/>
          </a:xfrm>
          <a:prstGeom prst="rect">
            <a:avLst/>
          </a:prstGeom>
          <a:ln w="0">
            <a:noFill/>
          </a:ln>
        </p:spPr>
      </p:sp>
      <p:sp>
        <p:nvSpPr>
          <p:cNvPr id="36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fr-FR" sz="2000" b="0" u="none" strike="noStrike">
                <a:solidFill>
                  <a:srgbClr val="000000"/>
                </a:solidFill>
                <a:effectLst/>
                <a:uFillTx/>
                <a:latin typeface="Arial"/>
              </a:rPr>
              <a:t>Chaque jour, des milliers d'offres d'emploi sont publiées. Elles sont nombreuses, écrites librement et changent tout le temps. Mon objectif n'est pas de les analyser ici, mais de construire la plateforme qui permet de le faire de façon fiable : collecter, ranger, vérifier et afficher.</a:t>
            </a:r>
            <a:endParaRPr lang="fr-FR" sz="2000" b="0" u="none" strike="noStrike">
              <a:solidFill>
                <a:srgbClr val="000000"/>
              </a:solidFill>
              <a:effectLst/>
              <a:uFillTx/>
              <a:latin typeface="Arial"/>
            </a:endParaRPr>
          </a:p>
        </p:txBody>
      </p:sp>
      <p:sp>
        <p:nvSpPr>
          <p:cNvPr id="366"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286F76A-26DB-4423-8755-2638903A10FA}"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PlaceHolder 1"/>
          <p:cNvSpPr>
            <a:spLocks noGrp="1"/>
          </p:cNvSpPr>
          <p:nvPr>
            <p:ph type="sldImg"/>
          </p:nvPr>
        </p:nvSpPr>
        <p:spPr>
          <a:xfrm>
            <a:off x="1143000" y="685800"/>
            <a:ext cx="4571640" cy="3428640"/>
          </a:xfrm>
          <a:prstGeom prst="rect">
            <a:avLst/>
          </a:prstGeom>
          <a:ln w="0">
            <a:noFill/>
          </a:ln>
        </p:spPr>
      </p:sp>
      <p:sp>
        <p:nvSpPr>
          <p:cNvPr id="36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fr-FR" sz="2000" b="0" u="none" strike="noStrike">
                <a:solidFill>
                  <a:srgbClr val="000000"/>
                </a:solidFill>
                <a:effectLst/>
                <a:uFillTx/>
                <a:latin typeface="Arial"/>
              </a:rPr>
              <a:t>Les trois TP s'enchaînent comme les étapes d'une construction. Le TP1 dessine les plans : comment ranger les informations. Le TP2 construit la chaîne automatique, qu'on appelle un pipeline. Le TP3 vérifie la qualité de ce qui sort de la chaîne et la corrige.</a:t>
            </a:r>
            <a:endParaRPr lang="fr-FR" sz="2000" b="0" u="none" strike="noStrike">
              <a:solidFill>
                <a:srgbClr val="000000"/>
              </a:solidFill>
              <a:effectLst/>
              <a:uFillTx/>
              <a:latin typeface="Arial"/>
            </a:endParaRPr>
          </a:p>
        </p:txBody>
      </p:sp>
      <p:sp>
        <p:nvSpPr>
          <p:cNvPr id="369"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96A90FD-E25A-4DA3-8865-15AF60B6F530}"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sldImg"/>
          </p:nvPr>
        </p:nvSpPr>
        <p:spPr>
          <a:xfrm>
            <a:off x="1143000" y="685800"/>
            <a:ext cx="4571640" cy="3428640"/>
          </a:xfrm>
          <a:prstGeom prst="rect">
            <a:avLst/>
          </a:prstGeom>
          <a:ln w="0">
            <a:noFill/>
          </a:ln>
        </p:spPr>
      </p:sp>
      <p:sp>
        <p:nvSpPr>
          <p:cNvPr id="37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fr-FR" sz="2000" b="0" u="none" strike="noStrike">
                <a:solidFill>
                  <a:srgbClr val="000000"/>
                </a:solidFill>
                <a:effectLst/>
                <a:uFillTx/>
                <a:latin typeface="Arial"/>
              </a:rPr>
              <a:t>J'utilise deux sources publiques et officielles. France Travail fournit les offres d'emploi. La liste officielle des communes, publiée par l'État, sert à vérifier la ville de chaque offre et à la placer sur une carte. Les deux sont reliées par le code de la commune.</a:t>
            </a:r>
            <a:endParaRPr lang="fr-FR" sz="2000" b="0" u="none" strike="noStrike">
              <a:solidFill>
                <a:srgbClr val="000000"/>
              </a:solidFill>
              <a:effectLst/>
              <a:uFillTx/>
              <a:latin typeface="Arial"/>
            </a:endParaRPr>
          </a:p>
        </p:txBody>
      </p:sp>
      <p:sp>
        <p:nvSpPr>
          <p:cNvPr id="372"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A52C31F-45EA-4B3B-B22C-2428BD36AD18}"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PlaceHolder 1"/>
          <p:cNvSpPr>
            <a:spLocks noGrp="1"/>
          </p:cNvSpPr>
          <p:nvPr>
            <p:ph type="sldImg"/>
          </p:nvPr>
        </p:nvSpPr>
        <p:spPr>
          <a:xfrm>
            <a:off x="1143000" y="685800"/>
            <a:ext cx="4571640" cy="3428640"/>
          </a:xfrm>
          <a:prstGeom prst="rect">
            <a:avLst/>
          </a:prstGeom>
          <a:ln w="0">
            <a:noFill/>
          </a:ln>
        </p:spPr>
      </p:sp>
      <p:sp>
        <p:nvSpPr>
          <p:cNvPr id="37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fr-FR" sz="2000" b="0" u="none" strike="noStrike">
                <a:solidFill>
                  <a:srgbClr val="000000"/>
                </a:solidFill>
                <a:effectLst/>
                <a:uFillTx/>
                <a:latin typeface="Arial"/>
              </a:rPr>
              <a:t>Une offre brute mélange tout. J'ai rangé les informations comme dans une armoire à tiroirs : chaque tiroir contient un seul type d'information. Une entreprise qui publie cent offres n'est enregistrée qu'une seule fois. Cela évite les doublons et les contradictions.</a:t>
            </a:r>
            <a:endParaRPr lang="fr-FR" sz="2000" b="0" u="none" strike="noStrike">
              <a:solidFill>
                <a:srgbClr val="000000"/>
              </a:solidFill>
              <a:effectLst/>
              <a:uFillTx/>
              <a:latin typeface="Arial"/>
            </a:endParaRPr>
          </a:p>
        </p:txBody>
      </p:sp>
      <p:sp>
        <p:nvSpPr>
          <p:cNvPr id="375"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7E2FC1E-2BF2-41AE-B0FE-5EC466F55E10}"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PlaceHolder 1"/>
          <p:cNvSpPr>
            <a:spLocks noGrp="1"/>
          </p:cNvSpPr>
          <p:nvPr>
            <p:ph type="sldImg"/>
          </p:nvPr>
        </p:nvSpPr>
        <p:spPr>
          <a:xfrm>
            <a:off x="1143000" y="685800"/>
            <a:ext cx="4571640" cy="3428640"/>
          </a:xfrm>
          <a:prstGeom prst="rect">
            <a:avLst/>
          </a:prstGeom>
          <a:ln w="0">
            <a:noFill/>
          </a:ln>
        </p:spPr>
      </p:sp>
      <p:sp>
        <p:nvSpPr>
          <p:cNvPr id="37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fr-FR" sz="2000" b="0" u="none" strike="noStrike">
                <a:solidFill>
                  <a:srgbClr val="000000"/>
                </a:solidFill>
                <a:effectLst/>
                <a:uFillTx/>
                <a:latin typeface="Arial"/>
              </a:rPr>
              <a:t>Les tiroirs sont reliés entre eux par des règles simples. Une offre appartient à une seule entreprise, se trouve dans une seule commune et correspond à un seul métier. En revanche, une offre demande plusieurs compétences, et une même compétence est demandée par beaucoup d'offres. Ces règles sont vérifiées automatiquement par la base de données.</a:t>
            </a:r>
            <a:endParaRPr lang="fr-FR" sz="2000" b="0" u="none" strike="noStrike">
              <a:solidFill>
                <a:srgbClr val="000000"/>
              </a:solidFill>
              <a:effectLst/>
              <a:uFillTx/>
              <a:latin typeface="Arial"/>
            </a:endParaRPr>
          </a:p>
        </p:txBody>
      </p:sp>
      <p:sp>
        <p:nvSpPr>
          <p:cNvPr id="378"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E5F5259-DF4A-4DC3-B9BB-E799CACDC32B}"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PlaceHolder 1"/>
          <p:cNvSpPr>
            <a:spLocks noGrp="1"/>
          </p:cNvSpPr>
          <p:nvPr>
            <p:ph type="sldImg"/>
          </p:nvPr>
        </p:nvSpPr>
        <p:spPr>
          <a:xfrm>
            <a:off x="1143000" y="685800"/>
            <a:ext cx="4571640" cy="3428640"/>
          </a:xfrm>
          <a:prstGeom prst="rect">
            <a:avLst/>
          </a:prstGeom>
          <a:ln w="0">
            <a:noFill/>
          </a:ln>
        </p:spPr>
      </p:sp>
      <p:sp>
        <p:nvSpPr>
          <p:cNvPr id="38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fr-FR" sz="2000" b="0" u="none" strike="noStrike">
                <a:solidFill>
                  <a:srgbClr val="000000"/>
                </a:solidFill>
                <a:effectLst/>
                <a:uFillTx/>
                <a:latin typeface="Arial"/>
              </a:rPr>
              <a:t>Voici la chaîne automatique, le pipeline. On peut la voir comme une usine : les offres entrent à gauche, passent par plusieurs ateliers et sortent à droite, propres et rangées, dans les tableaux de bord. Chaque outil a un rôle précis. La seconde source, la liste des communes, rejoint la chaîne à l'étape d'agrégation. Toute la chaîne est surveillée en permanence.</a:t>
            </a:r>
            <a:endParaRPr lang="fr-FR" sz="2000" b="0" u="none" strike="noStrike">
              <a:solidFill>
                <a:srgbClr val="000000"/>
              </a:solidFill>
              <a:effectLst/>
              <a:uFillTx/>
              <a:latin typeface="Arial"/>
            </a:endParaRPr>
          </a:p>
        </p:txBody>
      </p:sp>
      <p:sp>
        <p:nvSpPr>
          <p:cNvPr id="381"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0BE49E0-CFE4-47A5-9FCD-4573A5ECE27E}"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PlaceHolder 1"/>
          <p:cNvSpPr>
            <a:spLocks noGrp="1"/>
          </p:cNvSpPr>
          <p:nvPr>
            <p:ph type="sldImg"/>
          </p:nvPr>
        </p:nvSpPr>
        <p:spPr>
          <a:xfrm>
            <a:off x="1143000" y="685800"/>
            <a:ext cx="4571640" cy="3428640"/>
          </a:xfrm>
          <a:prstGeom prst="rect">
            <a:avLst/>
          </a:prstGeom>
          <a:ln w="0">
            <a:noFill/>
          </a:ln>
        </p:spPr>
      </p:sp>
      <p:sp>
        <p:nvSpPr>
          <p:cNvPr id="38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fr-FR" sz="2000" b="0" u="none" strike="noStrike">
                <a:solidFill>
                  <a:srgbClr val="000000"/>
                </a:solidFill>
                <a:effectLst/>
                <a:uFillTx/>
                <a:latin typeface="Arial"/>
              </a:rPr>
              <a:t>Voici le rôle de chaque étape en mots simples. L'idée clé est qu'on garde toujours une copie de l'offre originale : si on améliore le nettoyage plus tard, on peut tout refaire sans rien perdre. C'est exactement ce qui a servi au TP3.</a:t>
            </a:r>
            <a:endParaRPr lang="fr-FR" sz="2000" b="0" u="none" strike="noStrike">
              <a:solidFill>
                <a:srgbClr val="000000"/>
              </a:solidFill>
              <a:effectLst/>
              <a:uFillTx/>
              <a:latin typeface="Arial"/>
            </a:endParaRPr>
          </a:p>
        </p:txBody>
      </p:sp>
      <p:sp>
        <p:nvSpPr>
          <p:cNvPr id="384"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8369987-AF75-4570-AFF6-01DE72A2BEB1}"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sldImg"/>
          </p:nvPr>
        </p:nvSpPr>
        <p:spPr>
          <a:xfrm>
            <a:off x="1143000" y="685800"/>
            <a:ext cx="4571640" cy="3428640"/>
          </a:xfrm>
          <a:prstGeom prst="rect">
            <a:avLst/>
          </a:prstGeom>
          <a:ln w="0">
            <a:noFill/>
          </a:ln>
        </p:spPr>
      </p:sp>
      <p:sp>
        <p:nvSpPr>
          <p:cNvPr id="38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fr-FR" sz="2000" b="0" u="none" strike="noStrike">
                <a:solidFill>
                  <a:srgbClr val="000000"/>
                </a:solidFill>
                <a:effectLst/>
                <a:uFillTx/>
                <a:latin typeface="Arial"/>
              </a:rPr>
              <a:t>Depuis son lancement, le pipeline a reçu plus de 42 000 fiches. Beaucoup sont la même offre vue plusieurs fois, car une annonce reste en ligne plusieurs jours : elles sont reconnues et comptées une seule fois. Environ 1 300 offres incomplètes ont été mises de côté plutôt que gardées avec des erreurs. Il reste près de 22 000 offres uniques et propres.</a:t>
            </a:r>
            <a:endParaRPr lang="fr-FR" sz="2000" b="0" u="none" strike="noStrike">
              <a:solidFill>
                <a:srgbClr val="000000"/>
              </a:solidFill>
              <a:effectLst/>
              <a:uFillTx/>
              <a:latin typeface="Arial"/>
            </a:endParaRPr>
          </a:p>
        </p:txBody>
      </p:sp>
      <p:sp>
        <p:nvSpPr>
          <p:cNvPr id="387" name="PlaceHolder 3"/>
          <p:cNvSpPr>
            <a:spLocks noGrp="1"/>
          </p:cNvSpPr>
          <p:nvPr>
            <p:ph type="sldNum" idx="4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D5F4A17-B27D-4FC5-80D1-E44D99E2BF85}"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PlaceHolder 1"/>
          <p:cNvSpPr>
            <a:spLocks noGrp="1"/>
          </p:cNvSpPr>
          <p:nvPr>
            <p:ph type="sldImg"/>
          </p:nvPr>
        </p:nvSpPr>
        <p:spPr>
          <a:xfrm>
            <a:off x="1143000" y="685800"/>
            <a:ext cx="4571640" cy="3428640"/>
          </a:xfrm>
          <a:prstGeom prst="rect">
            <a:avLst/>
          </a:prstGeom>
          <a:ln w="0">
            <a:noFill/>
          </a:ln>
        </p:spPr>
      </p:sp>
      <p:sp>
        <p:nvSpPr>
          <p:cNvPr id="38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fr-FR" sz="2000" b="0" u="none" strike="noStrike">
                <a:solidFill>
                  <a:srgbClr val="000000"/>
                </a:solidFill>
                <a:effectLst/>
                <a:uFillTx/>
                <a:latin typeface="Arial"/>
              </a:rPr>
              <a:t>Comme le tableau de bord d'une voiture, un écran de surveillance indique en permanence si chaque partie de la chaîne fonctionne. On voit aussi combien d'offres arrivent et combien ressortent propres. Si une étape s'arrête, on le voit tout de suite.</a:t>
            </a:r>
            <a:endParaRPr lang="fr-FR" sz="2000" b="0" u="none" strike="noStrike">
              <a:solidFill>
                <a:srgbClr val="000000"/>
              </a:solidFill>
              <a:effectLst/>
              <a:uFillTx/>
              <a:latin typeface="Arial"/>
            </a:endParaRPr>
          </a:p>
        </p:txBody>
      </p:sp>
      <p:sp>
        <p:nvSpPr>
          <p:cNvPr id="390" name="PlaceHolder 3"/>
          <p:cNvSpPr>
            <a:spLocks noGrp="1"/>
          </p:cNvSpPr>
          <p:nvPr>
            <p:ph type="sldNum" idx="4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D1EFF9C-C035-43E8-9430-4D6EC3AB9FF8}"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PlaceHolder 1"/>
          <p:cNvSpPr>
            <a:spLocks noGrp="1"/>
          </p:cNvSpPr>
          <p:nvPr>
            <p:ph type="sldImg"/>
          </p:nvPr>
        </p:nvSpPr>
        <p:spPr>
          <a:xfrm>
            <a:off x="1143000" y="685800"/>
            <a:ext cx="4571640" cy="3428640"/>
          </a:xfrm>
          <a:prstGeom prst="rect">
            <a:avLst/>
          </a:prstGeom>
          <a:ln w="0">
            <a:noFill/>
          </a:ln>
        </p:spPr>
      </p:sp>
      <p:sp>
        <p:nvSpPr>
          <p:cNvPr id="39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fr-FR" sz="2000" b="0" u="none" strike="noStrike">
                <a:solidFill>
                  <a:srgbClr val="000000"/>
                </a:solidFill>
                <a:effectLst/>
                <a:uFillTx/>
                <a:latin typeface="Arial"/>
              </a:rPr>
              <a:t>Des données fausses donnent de fausses conclusions. Le contrôle qualité se place à la sortie du pipeline, dans la base de données. J'ai posé 17 vérifications automatiques, regroupées en cinq questions simples, lancées avant puis après le nettoyage pour prouver l'amélioration.</a:t>
            </a:r>
            <a:endParaRPr lang="fr-FR" sz="2000" b="0" u="none" strike="noStrike">
              <a:solidFill>
                <a:srgbClr val="000000"/>
              </a:solidFill>
              <a:effectLst/>
              <a:uFillTx/>
              <a:latin typeface="Arial"/>
            </a:endParaRPr>
          </a:p>
        </p:txBody>
      </p:sp>
      <p:sp>
        <p:nvSpPr>
          <p:cNvPr id="393" name="PlaceHolder 3"/>
          <p:cNvSpPr>
            <a:spLocks noGrp="1"/>
          </p:cNvSpPr>
          <p:nvPr>
            <p:ph type="sldNum" idx="4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A304CA6-F69D-4977-90CB-26847E0CFF09}"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sldImg"/>
          </p:nvPr>
        </p:nvSpPr>
        <p:spPr>
          <a:xfrm>
            <a:off x="1143000" y="685800"/>
            <a:ext cx="4571640" cy="3428640"/>
          </a:xfrm>
          <a:prstGeom prst="rect">
            <a:avLst/>
          </a:prstGeom>
          <a:ln w="0">
            <a:noFill/>
          </a:ln>
        </p:spPr>
      </p:sp>
      <p:sp>
        <p:nvSpPr>
          <p:cNvPr id="39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fr-FR" sz="2000" b="0" u="none" strike="noStrike">
                <a:solidFill>
                  <a:srgbClr val="000000"/>
                </a:solidFill>
                <a:effectLst/>
                <a:uFillTx/>
                <a:latin typeface="Arial"/>
              </a:rPr>
              <a:t>Le problème principal concernait les salaires. Beaucoup d'offres donnent un salaire à l'heure, qui était parfois lu à tort comme un salaire annuel : on trouvait par exemple 12 euros par an. J'ai corrigé la règle dans l'atelier de nettoyage du pipeline, puis recalculé les salaires à partir des copies originales gardées dans les archives. J'ai aussi fusionné des compétences et des entreprises écrites deux fois. Chaque correction est enregistrée dans un journal.</a:t>
            </a:r>
            <a:endParaRPr lang="fr-FR" sz="2000" b="0" u="none" strike="noStrike">
              <a:solidFill>
                <a:srgbClr val="000000"/>
              </a:solidFill>
              <a:effectLst/>
              <a:uFillTx/>
              <a:latin typeface="Arial"/>
            </a:endParaRPr>
          </a:p>
        </p:txBody>
      </p:sp>
      <p:sp>
        <p:nvSpPr>
          <p:cNvPr id="396" name="PlaceHolder 3"/>
          <p:cNvSpPr>
            <a:spLocks noGrp="1"/>
          </p:cNvSpPr>
          <p:nvPr>
            <p:ph type="sldNum" idx="4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5827A39-29B8-4998-A3A3-7D1910A2E81E}"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sldImg"/>
          </p:nvPr>
        </p:nvSpPr>
        <p:spPr>
          <a:xfrm>
            <a:off x="1143000" y="685800"/>
            <a:ext cx="4571640" cy="3428640"/>
          </a:xfrm>
          <a:prstGeom prst="rect">
            <a:avLst/>
          </a:prstGeom>
          <a:ln w="0">
            <a:noFill/>
          </a:ln>
        </p:spPr>
      </p:sp>
      <p:sp>
        <p:nvSpPr>
          <p:cNvPr id="39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fr-FR" sz="2000" b="0" u="none" strike="noStrike">
                <a:solidFill>
                  <a:srgbClr val="000000"/>
                </a:solidFill>
                <a:effectLst/>
                <a:uFillTx/>
                <a:latin typeface="Arial"/>
              </a:rPr>
              <a:t>Certaines informations manquent vraiment dans les offres : environ un quart des offres n'indiquent pas de salaire. J'aurais pu les remplir avec une moyenne, mais ce serait inventer des chiffres. J'ai préféré les laisser vides, les mesurer et les signaler comme limites.</a:t>
            </a:r>
            <a:endParaRPr lang="fr-FR" sz="2000" b="0" u="none" strike="noStrike">
              <a:solidFill>
                <a:srgbClr val="000000"/>
              </a:solidFill>
              <a:effectLst/>
              <a:uFillTx/>
              <a:latin typeface="Arial"/>
            </a:endParaRPr>
          </a:p>
        </p:txBody>
      </p:sp>
      <p:sp>
        <p:nvSpPr>
          <p:cNvPr id="399" name="PlaceHolder 3"/>
          <p:cNvSpPr>
            <a:spLocks noGrp="1"/>
          </p:cNvSpPr>
          <p:nvPr>
            <p:ph type="sldNum" idx="4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C8EEF0C-A445-4105-8876-C8152023CD57}"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sldImg"/>
          </p:nvPr>
        </p:nvSpPr>
        <p:spPr>
          <a:xfrm>
            <a:off x="1143000" y="685800"/>
            <a:ext cx="4571640" cy="3428640"/>
          </a:xfrm>
          <a:prstGeom prst="rect">
            <a:avLst/>
          </a:prstGeom>
          <a:ln w="0">
            <a:noFill/>
          </a:ln>
        </p:spPr>
      </p:sp>
      <p:sp>
        <p:nvSpPr>
          <p:cNvPr id="40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fr-FR" sz="2000" b="0" u="none" strike="noStrike">
                <a:solidFill>
                  <a:srgbClr val="000000"/>
                </a:solidFill>
                <a:effectLst/>
                <a:uFillTx/>
                <a:latin typeface="Arial"/>
              </a:rPr>
              <a:t>Voici où se place chaque TP dans la chaîne complète. Le TP2 construit toute la chaîne. Le TP1 en dessine le cœur : la façon de ranger les données dans la base. Le TP3 contrôle ce qui sort de la chaîne et renvoie ses corrections vers l'atelier de nettoyage, pour que les erreurs ne reviennent plus. Les trois TP forment donc une boucle d'amélioration continue.</a:t>
            </a:r>
            <a:endParaRPr lang="fr-FR" sz="2000" b="0" u="none" strike="noStrike">
              <a:solidFill>
                <a:srgbClr val="000000"/>
              </a:solidFill>
              <a:effectLst/>
              <a:uFillTx/>
              <a:latin typeface="Arial"/>
            </a:endParaRPr>
          </a:p>
        </p:txBody>
      </p:sp>
      <p:sp>
        <p:nvSpPr>
          <p:cNvPr id="402" name="PlaceHolder 3"/>
          <p:cNvSpPr>
            <a:spLocks noGrp="1"/>
          </p:cNvSpPr>
          <p:nvPr>
            <p:ph type="sldNum" idx="5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F6B93AA-2C6B-40D3-82B3-3AA5CC13737C}"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PlaceHolder 1"/>
          <p:cNvSpPr>
            <a:spLocks noGrp="1"/>
          </p:cNvSpPr>
          <p:nvPr>
            <p:ph type="sldImg"/>
          </p:nvPr>
        </p:nvSpPr>
        <p:spPr>
          <a:xfrm>
            <a:off x="1143000" y="685800"/>
            <a:ext cx="4571640" cy="3428640"/>
          </a:xfrm>
          <a:prstGeom prst="rect">
            <a:avLst/>
          </a:prstGeom>
          <a:ln w="0">
            <a:noFill/>
          </a:ln>
        </p:spPr>
      </p:sp>
      <p:sp>
        <p:nvSpPr>
          <p:cNvPr id="40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fr-FR" sz="2000" b="0" u="none" strike="noStrike">
                <a:solidFill>
                  <a:srgbClr val="000000"/>
                </a:solidFill>
                <a:effectLst/>
                <a:uFillTx/>
                <a:latin typeface="Arial"/>
              </a:rPr>
              <a:t>Au bout de la chaîne, une application web permet à n'importe qui d'explorer les offres. On filtre par contrat, secteur ou ville et tout se met à jour en moins d'une seconde. Un clic sur une offre ouvre sa fiche complète avec le lien vers l'annonce. L'application fonctionne aussi sur téléphone. C'est le bon moment pour une courte démonstration.</a:t>
            </a:r>
            <a:endParaRPr lang="fr-FR" sz="2000" b="0" u="none" strike="noStrike">
              <a:solidFill>
                <a:srgbClr val="000000"/>
              </a:solidFill>
              <a:effectLst/>
              <a:uFillTx/>
              <a:latin typeface="Arial"/>
            </a:endParaRPr>
          </a:p>
        </p:txBody>
      </p:sp>
      <p:sp>
        <p:nvSpPr>
          <p:cNvPr id="405" name="PlaceHolder 3"/>
          <p:cNvSpPr>
            <a:spLocks noGrp="1"/>
          </p:cNvSpPr>
          <p:nvPr>
            <p:ph type="sldNum" idx="5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F5508CF-E277-4F8D-A03D-7D80C4CE63A4}"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PlaceHolder 1"/>
          <p:cNvSpPr>
            <a:spLocks noGrp="1"/>
          </p:cNvSpPr>
          <p:nvPr>
            <p:ph type="sldImg"/>
          </p:nvPr>
        </p:nvSpPr>
        <p:spPr>
          <a:xfrm>
            <a:off x="1143000" y="685800"/>
            <a:ext cx="4571640" cy="3428640"/>
          </a:xfrm>
          <a:prstGeom prst="rect">
            <a:avLst/>
          </a:prstGeom>
          <a:ln w="0">
            <a:noFill/>
          </a:ln>
        </p:spPr>
      </p:sp>
      <p:sp>
        <p:nvSpPr>
          <p:cNvPr id="40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fr-FR" sz="2000" b="0" u="none" strike="noStrike">
                <a:solidFill>
                  <a:srgbClr val="000000"/>
                </a:solidFill>
                <a:effectLst/>
                <a:uFillTx/>
                <a:latin typeface="Arial"/>
              </a:rPr>
              <a:t>Pour conclure : les trois TP forment une plateforme complète. Le TP1 a posé une organisation solide, le TP2 l'a rendue automatique et surveillée, et le TP3 a prouvé et amélioré sa fiabilité. Pour aller plus loin, on pourrait ajouter des alertes automatiques et suivre l'évolution dans le temps. Merci, je suis prêt pour vos questions.</a:t>
            </a:r>
            <a:endParaRPr lang="fr-FR" sz="2000" b="0" u="none" strike="noStrike">
              <a:solidFill>
                <a:srgbClr val="000000"/>
              </a:solidFill>
              <a:effectLst/>
              <a:uFillTx/>
              <a:latin typeface="Arial"/>
            </a:endParaRPr>
          </a:p>
        </p:txBody>
      </p:sp>
      <p:sp>
        <p:nvSpPr>
          <p:cNvPr id="408" name="PlaceHolder 3"/>
          <p:cNvSpPr>
            <a:spLocks noGrp="1"/>
          </p:cNvSpPr>
          <p:nvPr>
            <p:ph type="sldNum" idx="5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F9CE0CD-FE3C-4D85-BABA-84085878A5B3}"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&lt;date/heure&gt;</a:t>
            </a:r>
            <a:endParaRPr lang="fr-FR"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C0D374B-0D34-493C-AEAD-F86E9AFE075E}" type="slidenum">
              <a:rPr lang="en-US" sz="1200" b="0" u="none" strike="noStrike">
                <a:solidFill>
                  <a:schemeClr val="dk1">
                    <a:tint val="75000"/>
                  </a:schemeClr>
                </a:solidFill>
                <a:effectLst/>
                <a:uFillTx/>
                <a:latin typeface="Calibri"/>
              </a:rPr>
              <a:t>&lt;numéro&gt;</a:t>
            </a:fld>
            <a:endParaRPr lang="fr-FR"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&lt;date/heure&gt;</a:t>
            </a:r>
            <a:endParaRPr lang="fr-FR"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B899F6F-8C0C-4B77-A924-870F615696B6}" type="slidenum">
              <a:rPr lang="en-US" sz="1200" b="0" u="none" strike="noStrike">
                <a:solidFill>
                  <a:schemeClr val="dk1">
                    <a:tint val="75000"/>
                  </a:schemeClr>
                </a:solidFill>
                <a:effectLst/>
                <a:uFillTx/>
                <a:latin typeface="Calibri"/>
              </a:rPr>
              <a:t>&lt;numéro&gt;</a:t>
            </a:fld>
            <a:endParaRPr lang="fr-FR"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&lt;date/heure&gt;</a:t>
            </a:r>
            <a:endParaRPr lang="fr-FR"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284ED76-4566-4B86-9C60-662939DE6C23}" type="slidenum">
              <a:rPr lang="en-US" sz="1200" b="0" u="none" strike="noStrike">
                <a:solidFill>
                  <a:schemeClr val="dk1">
                    <a:tint val="75000"/>
                  </a:schemeClr>
                </a:solidFill>
                <a:effectLst/>
                <a:uFillTx/>
                <a:latin typeface="Calibri"/>
              </a:rPr>
              <a:t>&lt;numéro&gt;</a:t>
            </a:fld>
            <a:endParaRPr lang="fr-FR"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&lt;date/heure&gt;</a:t>
            </a:r>
            <a:endParaRPr lang="fr-FR"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778C3C9-2660-4D24-9736-343EB0A87059}" type="slidenum">
              <a:rPr lang="en-US" sz="1200" b="0" u="none" strike="noStrike">
                <a:solidFill>
                  <a:schemeClr val="dk1">
                    <a:tint val="75000"/>
                  </a:schemeClr>
                </a:solidFill>
                <a:effectLst/>
                <a:uFillTx/>
                <a:latin typeface="Calibri"/>
              </a:rPr>
              <a:t>&lt;numéro&gt;</a:t>
            </a:fld>
            <a:endParaRPr lang="fr-FR"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&lt;date/heure&gt;</a:t>
            </a:r>
            <a:endParaRPr lang="fr-FR"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86130F4-7279-4DBA-95C9-F758BC0DB09A}" type="slidenum">
              <a:rPr lang="en-US" sz="1200" b="0" u="none" strike="noStrike">
                <a:solidFill>
                  <a:schemeClr val="dk1">
                    <a:tint val="75000"/>
                  </a:schemeClr>
                </a:solidFill>
                <a:effectLst/>
                <a:uFillTx/>
                <a:latin typeface="Calibri"/>
              </a:rPr>
              <a:t>&lt;numéro&gt;</a:t>
            </a:fld>
            <a:endParaRPr lang="fr-FR"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&lt;date/heure&gt;</a:t>
            </a:r>
            <a:endParaRPr lang="fr-FR"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8E78CED-3E0A-461B-9AB3-BCB14CCD78A2}" type="slidenum">
              <a:rPr lang="en-US" sz="1200" b="0" u="none" strike="noStrike">
                <a:solidFill>
                  <a:schemeClr val="dk1">
                    <a:tint val="75000"/>
                  </a:schemeClr>
                </a:solidFill>
                <a:effectLst/>
                <a:uFillTx/>
                <a:latin typeface="Calibri"/>
              </a:rPr>
              <a:t>&lt;numéro&gt;</a:t>
            </a:fld>
            <a:endParaRPr lang="fr-FR"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&lt;date/heure&gt;</a:t>
            </a:r>
            <a:endParaRPr lang="fr-FR"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C7F6FFE-F987-4A34-B1FF-2FBF0541F9D4}" type="slidenum">
              <a:rPr lang="en-US" sz="1200" b="0" u="none" strike="noStrike">
                <a:solidFill>
                  <a:schemeClr val="dk1">
                    <a:tint val="75000"/>
                  </a:schemeClr>
                </a:solidFill>
                <a:effectLst/>
                <a:uFillTx/>
                <a:latin typeface="Calibri"/>
              </a:rPr>
              <a:t>&lt;numéro&gt;</a:t>
            </a:fld>
            <a:endParaRPr lang="fr-FR"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&lt;date/heure&gt;</a:t>
            </a:r>
            <a:endParaRPr lang="fr-FR"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FDFBDC0-2935-4E9E-89E9-30C965F508B9}" type="slidenum">
              <a:rPr lang="en-US" sz="1200" b="0" u="none" strike="noStrike">
                <a:solidFill>
                  <a:schemeClr val="dk1">
                    <a:tint val="75000"/>
                  </a:schemeClr>
                </a:solidFill>
                <a:effectLst/>
                <a:uFillTx/>
                <a:latin typeface="Calibri"/>
              </a:rPr>
              <a:t>&lt;numéro&gt;</a:t>
            </a:fld>
            <a:endParaRPr lang="fr-FR"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&lt;date/heure&gt;</a:t>
            </a:r>
            <a:endParaRPr lang="fr-FR"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E715D17-162B-4957-83B8-DDC9184FEB29}" type="slidenum">
              <a:rPr lang="en-US" sz="1200" b="0" u="none" strike="noStrike">
                <a:solidFill>
                  <a:schemeClr val="dk1">
                    <a:tint val="75000"/>
                  </a:schemeClr>
                </a:solidFill>
                <a:effectLst/>
                <a:uFillTx/>
                <a:latin typeface="Calibri"/>
              </a:rPr>
              <a:t>&lt;numéro&gt;</a:t>
            </a:fld>
            <a:endParaRPr lang="fr-FR"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Cliquez pour éditer le format du texte-titre</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Cliquez pour éditer le format du plan de texte</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niveau de plan</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Troisième niveau de plan</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Quatrième niveau de plan</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Cinquième niveau de plan</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Sixième niveau de plan</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Septième niveau de plan</a:t>
            </a:r>
            <a:endParaRPr lang="en-US" sz="2000" b="0" u="none" strike="noStrike">
              <a:solidFill>
                <a:schemeClr val="dk1"/>
              </a:solidFill>
              <a:effectLst/>
              <a:uFillTx/>
              <a:latin typeface="Calibri"/>
            </a:endParaRPr>
          </a:p>
        </p:txBody>
      </p:sp>
    </p:spTree>
  </p:cSld>
  <p:clrMapOvr>
    <a:masterClrMapping/>
  </p:clrMapOvr>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&lt;date/heure&gt;</a:t>
            </a:r>
            <a:endParaRPr lang="fr-FR"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17B2EAE-605F-401E-8192-D22539D28ACD}" type="slidenum">
              <a:rPr lang="en-US" sz="1200" b="0" u="none" strike="noStrike">
                <a:solidFill>
                  <a:schemeClr val="dk1">
                    <a:tint val="75000"/>
                  </a:schemeClr>
                </a:solidFill>
                <a:effectLst/>
                <a:uFillTx/>
                <a:latin typeface="Calibri"/>
              </a:rPr>
              <a:t>&lt;numéro&gt;</a:t>
            </a:fld>
            <a:endParaRPr lang="fr-FR"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pic"/>
          </p:nvPr>
        </p:nvSpPr>
        <p:spPr>
          <a:xfrm>
            <a:off x="1792440" y="612720"/>
            <a:ext cx="5486040" cy="4114440"/>
          </a:xfrm>
          <a:prstGeom prst="rect">
            <a:avLst/>
          </a:prstGeom>
          <a:noFill/>
          <a:ln w="0">
            <a:noFill/>
          </a:ln>
        </p:spPr>
        <p:txBody>
          <a:bodyPr lIns="90000" tIns="45000" rIns="90000" bIns="45000" anchor="t">
            <a:noAutofit/>
          </a:bodyPr>
          <a:p>
            <a:pPr indent="0" algn="l">
              <a:buNone/>
            </a:pPr>
            <a:r>
              <a:rPr lang="fr-FR" sz="3200" b="0" u="none" strike="noStrike">
                <a:solidFill>
                  <a:srgbClr val="000000"/>
                </a:solidFill>
                <a:effectLst/>
                <a:uFillTx/>
                <a:latin typeface="Arial"/>
              </a:rPr>
              <a:t>Double-cliquez pour insérer un diagramme</a:t>
            </a:r>
            <a:endParaRPr lang="fr-FR" sz="3200" b="0" u="none" strike="noStrike">
              <a:solidFill>
                <a:srgbClr val="000000"/>
              </a:solidFill>
              <a:effectLst/>
              <a:uFillTx/>
              <a:latin typeface="Arial"/>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&lt;date/heure&gt;</a:t>
            </a:r>
            <a:endParaRPr lang="fr-FR"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59CB45D-39D0-43F2-9980-1FB9D895F4AD}" type="slidenum">
              <a:rPr lang="en-US" sz="1200" b="0" u="none" strike="noStrike">
                <a:solidFill>
                  <a:schemeClr val="dk1">
                    <a:tint val="75000"/>
                  </a:schemeClr>
                </a:solidFill>
                <a:effectLst/>
                <a:uFillTx/>
                <a:latin typeface="Calibri"/>
              </a:rPr>
              <a:t>&lt;numéro&gt;</a:t>
            </a:fld>
            <a:endParaRPr lang="fr-FR"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9.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9.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Rectangle 1"/>
          <p:cNvSpPr/>
          <p:nvPr/>
        </p:nvSpPr>
        <p:spPr>
          <a:xfrm>
            <a:off x="0" y="0"/>
            <a:ext cx="12191400" cy="6857640"/>
          </a:xfrm>
          <a:prstGeom prst="rect">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8" name="TextBox 2"/>
          <p:cNvSpPr/>
          <p:nvPr/>
        </p:nvSpPr>
        <p:spPr>
          <a:xfrm>
            <a:off x="731520" y="822960"/>
            <a:ext cx="10789560" cy="1462680"/>
          </a:xfrm>
          <a:prstGeom prst="rect">
            <a:avLst/>
          </a:prstGeom>
          <a:noFill/>
          <a:ln w="0">
            <a:noFill/>
          </a:ln>
        </p:spPr>
        <p:style>
          <a:lnRef idx="0"/>
          <a:fillRef idx="0"/>
          <a:effectRef idx="0"/>
          <a:fontRef idx="minor"/>
        </p:style>
        <p:txBody>
          <a:bodyPr lIns="45720" tIns="45000" rIns="45720" bIns="45000" anchor="t">
            <a:spAutoFit/>
          </a:bodyPr>
          <a:p>
            <a:pPr defTabSz="457200">
              <a:lnSpc>
                <a:spcPct val="100000"/>
              </a:lnSpc>
            </a:pPr>
            <a:r>
              <a:rPr lang="en-US" sz="4000" b="1" u="none" strike="noStrike">
                <a:solidFill>
                  <a:srgbClr val="FFFFFF"/>
                </a:solidFill>
                <a:effectLst/>
                <a:uFillTx/>
                <a:latin typeface="Segoe UI"/>
              </a:rPr>
              <a:t>Des offres d'emploi brutes à une plateforme de données fiable</a:t>
            </a:r>
            <a:endParaRPr lang="fr-FR" sz="4000" b="0" u="none" strike="noStrike">
              <a:solidFill>
                <a:srgbClr val="000000"/>
              </a:solidFill>
              <a:effectLst/>
              <a:uFillTx/>
              <a:latin typeface="Arial"/>
            </a:endParaRPr>
          </a:p>
        </p:txBody>
      </p:sp>
      <p:sp>
        <p:nvSpPr>
          <p:cNvPr id="69" name="TextBox 3"/>
          <p:cNvSpPr/>
          <p:nvPr/>
        </p:nvSpPr>
        <p:spPr>
          <a:xfrm>
            <a:off x="731520" y="2606040"/>
            <a:ext cx="10515240" cy="822600"/>
          </a:xfrm>
          <a:prstGeom prst="rect">
            <a:avLst/>
          </a:prstGeom>
          <a:noFill/>
          <a:ln w="0">
            <a:noFill/>
          </a:ln>
        </p:spPr>
        <p:style>
          <a:lnRef idx="0"/>
          <a:fillRef idx="0"/>
          <a:effectRef idx="0"/>
          <a:fontRef idx="minor"/>
        </p:style>
        <p:txBody>
          <a:bodyPr lIns="45720" tIns="45000" rIns="45720" bIns="45000" anchor="t">
            <a:spAutoFit/>
          </a:bodyPr>
          <a:p>
            <a:pPr defTabSz="457200">
              <a:lnSpc>
                <a:spcPct val="100000"/>
              </a:lnSpc>
            </a:pPr>
            <a:r>
              <a:rPr lang="en-US" sz="2600" b="0" u="none" strike="noStrike">
                <a:solidFill>
                  <a:srgbClr val="BFDBFE"/>
                </a:solidFill>
                <a:effectLst/>
                <a:uFillTx/>
                <a:latin typeface="Segoe UI"/>
              </a:rPr>
              <a:t>Organiser, automatiser et fiabiliser des données réelles</a:t>
            </a:r>
            <a:endParaRPr lang="fr-FR" sz="2600" b="0" u="none" strike="noStrike">
              <a:solidFill>
                <a:srgbClr val="000000"/>
              </a:solidFill>
              <a:effectLst/>
              <a:uFillTx/>
              <a:latin typeface="Arial"/>
            </a:endParaRPr>
          </a:p>
        </p:txBody>
      </p:sp>
      <p:sp>
        <p:nvSpPr>
          <p:cNvPr id="70" name="Rectangle 4"/>
          <p:cNvSpPr/>
          <p:nvPr/>
        </p:nvSpPr>
        <p:spPr>
          <a:xfrm>
            <a:off x="731520" y="3520440"/>
            <a:ext cx="1462680" cy="72720"/>
          </a:xfrm>
          <a:prstGeom prst="rect">
            <a:avLst/>
          </a:prstGeom>
          <a:solidFill>
            <a:srgbClr val="60A5F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p>
            <a:pPr/>
            <a:endParaRPr lang="en-US" sz="1800" b="0" u="none" strike="noStrike">
              <a:solidFill>
                <a:schemeClr val="lt1"/>
              </a:solidFill>
              <a:effectLst/>
              <a:uFillTx/>
              <a:latin typeface="Calibri"/>
            </a:endParaRPr>
          </a:p>
        </p:txBody>
      </p:sp>
      <p:sp>
        <p:nvSpPr>
          <p:cNvPr id="71" name="TextBox 5"/>
          <p:cNvSpPr/>
          <p:nvPr/>
        </p:nvSpPr>
        <p:spPr>
          <a:xfrm>
            <a:off x="731520" y="3794760"/>
            <a:ext cx="10515240" cy="1462680"/>
          </a:xfrm>
          <a:prstGeom prst="rect">
            <a:avLst/>
          </a:prstGeom>
          <a:noFill/>
          <a:ln w="0">
            <a:noFill/>
          </a:ln>
        </p:spPr>
        <p:style>
          <a:lnRef idx="0"/>
          <a:fillRef idx="0"/>
          <a:effectRef idx="0"/>
          <a:fontRef idx="minor"/>
        </p:style>
        <p:txBody>
          <a:bodyPr lIns="45720" tIns="45000" rIns="45720" bIns="45000" anchor="t">
            <a:spAutoFit/>
          </a:bodyPr>
          <a:p>
            <a:pPr defTabSz="457200">
              <a:lnSpc>
                <a:spcPct val="100000"/>
              </a:lnSpc>
            </a:pPr>
            <a:r>
              <a:rPr lang="en-US" sz="2000" b="0" u="none" strike="noStrike">
                <a:solidFill>
                  <a:srgbClr val="FFFFFF"/>
                </a:solidFill>
                <a:effectLst/>
                <a:uFillTx/>
                <a:latin typeface="Segoe UI"/>
              </a:rPr>
              <a:t>TP1 — Organiser les données</a:t>
            </a:r>
            <a:endParaRPr lang="fr-FR" sz="2000" b="0" u="none" strike="noStrike">
              <a:solidFill>
                <a:srgbClr val="000000"/>
              </a:solidFill>
              <a:effectLst/>
              <a:uFillTx/>
              <a:latin typeface="Arial"/>
            </a:endParaRPr>
          </a:p>
          <a:p>
            <a:pPr defTabSz="457200">
              <a:lnSpc>
                <a:spcPct val="100000"/>
              </a:lnSpc>
            </a:pPr>
            <a:r>
              <a:rPr lang="en-US" sz="2000" b="0" u="none" strike="noStrike">
                <a:solidFill>
                  <a:srgbClr val="FFFFFF"/>
                </a:solidFill>
                <a:effectLst/>
                <a:uFillTx/>
                <a:latin typeface="Segoe UI"/>
              </a:rPr>
              <a:t>TP2 — Automatiser la chaîne de traitement (pipeline)</a:t>
            </a:r>
            <a:endParaRPr lang="fr-FR" sz="2000" b="0" u="none" strike="noStrike">
              <a:solidFill>
                <a:srgbClr val="000000"/>
              </a:solidFill>
              <a:effectLst/>
              <a:uFillTx/>
              <a:latin typeface="Arial"/>
            </a:endParaRPr>
          </a:p>
          <a:p>
            <a:pPr defTabSz="457200">
              <a:lnSpc>
                <a:spcPct val="100000"/>
              </a:lnSpc>
            </a:pPr>
            <a:r>
              <a:rPr lang="en-US" sz="2000" b="0" u="none" strike="noStrike">
                <a:solidFill>
                  <a:srgbClr val="FFFFFF"/>
                </a:solidFill>
                <a:effectLst/>
                <a:uFillTx/>
                <a:latin typeface="Segoe UI"/>
              </a:rPr>
              <a:t>TP3 — Contrôler et corriger la qualité</a:t>
            </a:r>
            <a:endParaRPr lang="fr-FR" sz="2000" b="0" u="none" strike="noStrike">
              <a:solidFill>
                <a:srgbClr val="000000"/>
              </a:solidFill>
              <a:effectLst/>
              <a:uFillTx/>
              <a:latin typeface="Arial"/>
            </a:endParaRPr>
          </a:p>
        </p:txBody>
      </p:sp>
      <p:sp>
        <p:nvSpPr>
          <p:cNvPr id="72" name="TextBox 6"/>
          <p:cNvSpPr/>
          <p:nvPr/>
        </p:nvSpPr>
        <p:spPr>
          <a:xfrm>
            <a:off x="731520" y="5577840"/>
            <a:ext cx="10515240" cy="318960"/>
          </a:xfrm>
          <a:prstGeom prst="rect">
            <a:avLst/>
          </a:prstGeom>
          <a:noFill/>
          <a:ln w="0">
            <a:noFill/>
          </a:ln>
        </p:spPr>
        <p:style>
          <a:lnRef idx="0"/>
          <a:fillRef idx="0"/>
          <a:effectRef idx="0"/>
          <a:fontRef idx="minor"/>
        </p:style>
        <p:txBody>
          <a:bodyPr lIns="45720" tIns="45000" rIns="45720" bIns="45000" anchor="t">
            <a:spAutoFit/>
          </a:bodyPr>
          <a:p>
            <a:pPr defTabSz="457200">
              <a:lnSpc>
                <a:spcPct val="100000"/>
              </a:lnSpc>
            </a:pPr>
            <a:r>
              <a:rPr lang="en-US" sz="1500" b="0" u="none" strike="noStrike">
                <a:solidFill>
                  <a:srgbClr val="BFDBFE"/>
                </a:solidFill>
                <a:effectLst/>
                <a:uFillTx/>
                <a:latin typeface="Segoe UI"/>
              </a:rPr>
              <a:t>Théo et Arash  •  Septembre 2026</a:t>
            </a:r>
            <a:endParaRPr lang="fr-FR"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Rectangle 1"/>
          <p:cNvSpPr/>
          <p:nvPr/>
        </p:nvSpPr>
        <p:spPr>
          <a:xfrm>
            <a:off x="0" y="0"/>
            <a:ext cx="12191400" cy="959760"/>
          </a:xfrm>
          <a:prstGeom prst="rect">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74" name="TextBox 2"/>
          <p:cNvSpPr/>
          <p:nvPr/>
        </p:nvSpPr>
        <p:spPr>
          <a:xfrm>
            <a:off x="457200" y="164520"/>
            <a:ext cx="8960760" cy="68544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2800" b="1" u="none" strike="noStrike">
                <a:solidFill>
                  <a:srgbClr val="FFFFFF"/>
                </a:solidFill>
                <a:effectLst/>
                <a:uFillTx/>
                <a:latin typeface="Segoe UI"/>
              </a:rPr>
              <a:t>Le point de départ</a:t>
            </a:r>
            <a:endParaRPr lang="fr-FR" sz="2800" b="0" u="none" strike="noStrike">
              <a:solidFill>
                <a:srgbClr val="000000"/>
              </a:solidFill>
              <a:effectLst/>
              <a:uFillTx/>
              <a:latin typeface="Arial"/>
            </a:endParaRPr>
          </a:p>
        </p:txBody>
      </p:sp>
      <p:sp>
        <p:nvSpPr>
          <p:cNvPr id="75" name="TextBox 3"/>
          <p:cNvSpPr/>
          <p:nvPr/>
        </p:nvSpPr>
        <p:spPr>
          <a:xfrm>
            <a:off x="8961120" y="274320"/>
            <a:ext cx="2925720" cy="45684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300" b="0" u="none" strike="noStrike">
                <a:solidFill>
                  <a:srgbClr val="BFDBFE"/>
                </a:solidFill>
                <a:effectLst/>
                <a:uFillTx/>
                <a:latin typeface="Segoe UI"/>
              </a:rPr>
              <a:t>Introduction</a:t>
            </a:r>
            <a:endParaRPr lang="fr-FR" sz="1300" b="0" u="none" strike="noStrike">
              <a:solidFill>
                <a:srgbClr val="000000"/>
              </a:solidFill>
              <a:effectLst/>
              <a:uFillTx/>
              <a:latin typeface="Arial"/>
            </a:endParaRPr>
          </a:p>
        </p:txBody>
      </p:sp>
      <p:sp>
        <p:nvSpPr>
          <p:cNvPr id="76" name="Rectangle 4"/>
          <p:cNvSpPr/>
          <p:nvPr/>
        </p:nvSpPr>
        <p:spPr>
          <a:xfrm>
            <a:off x="0" y="6583680"/>
            <a:ext cx="12191400" cy="273960"/>
          </a:xfrm>
          <a:prstGeom prst="rect">
            <a:avLst/>
          </a:prstGeom>
          <a:solidFill>
            <a:srgbClr val="EFF6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77" name="TextBox 5"/>
          <p:cNvSpPr/>
          <p:nvPr/>
        </p:nvSpPr>
        <p:spPr>
          <a:xfrm>
            <a:off x="457200" y="6583680"/>
            <a:ext cx="8229240" cy="27396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000" b="0" u="none" strike="noStrike">
                <a:solidFill>
                  <a:srgbClr val="6B7280"/>
                </a:solidFill>
                <a:effectLst/>
                <a:uFillTx/>
                <a:latin typeface="Segoe UI"/>
              </a:rPr>
              <a:t>Des offres d'emploi brutes à une plateforme de données fiable  •  Théo Mousnier</a:t>
            </a:r>
            <a:endParaRPr lang="fr-FR" sz="1000" b="0" u="none" strike="noStrike">
              <a:solidFill>
                <a:srgbClr val="000000"/>
              </a:solidFill>
              <a:effectLst/>
              <a:uFillTx/>
              <a:latin typeface="Arial"/>
            </a:endParaRPr>
          </a:p>
        </p:txBody>
      </p:sp>
      <p:sp>
        <p:nvSpPr>
          <p:cNvPr id="78" name="TextBox 6"/>
          <p:cNvSpPr/>
          <p:nvPr/>
        </p:nvSpPr>
        <p:spPr>
          <a:xfrm>
            <a:off x="10789920" y="6583680"/>
            <a:ext cx="1005480" cy="27396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000" b="0" u="none" strike="noStrike">
                <a:solidFill>
                  <a:srgbClr val="6B7280"/>
                </a:solidFill>
                <a:effectLst/>
                <a:uFillTx/>
                <a:latin typeface="Segoe UI"/>
              </a:rPr>
              <a:t>2 / 16</a:t>
            </a:r>
            <a:endParaRPr lang="fr-FR" sz="1000" b="0" u="none" strike="noStrike">
              <a:solidFill>
                <a:srgbClr val="000000"/>
              </a:solidFill>
              <a:effectLst/>
              <a:uFillTx/>
              <a:latin typeface="Arial"/>
            </a:endParaRPr>
          </a:p>
        </p:txBody>
      </p:sp>
      <p:sp>
        <p:nvSpPr>
          <p:cNvPr id="79" name="Rounded Rectangle 7"/>
          <p:cNvSpPr/>
          <p:nvPr/>
        </p:nvSpPr>
        <p:spPr>
          <a:xfrm>
            <a:off x="731520" y="1371600"/>
            <a:ext cx="10698120" cy="1279800"/>
          </a:xfrm>
          <a:prstGeom prst="roundRect">
            <a:avLst>
              <a:gd name="adj" fmla="val 8571"/>
            </a:avLst>
          </a:prstGeom>
          <a:solidFill>
            <a:srgbClr val="EFF6FF"/>
          </a:solidFill>
          <a:ln w="15875">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2400" b="1" u="none" strike="noStrike">
                <a:solidFill>
                  <a:srgbClr val="1E3A8A"/>
                </a:solidFill>
                <a:effectLst/>
                <a:uFillTx/>
                <a:latin typeface="Segoe UI"/>
              </a:rPr>
              <a:t>Comment transformer des offres brutes en informations fiables et toujours à jour ?</a:t>
            </a:r>
            <a:endParaRPr lang="fr-FR" sz="2400" b="0" u="none" strike="noStrike">
              <a:solidFill>
                <a:srgbClr val="000000"/>
              </a:solidFill>
              <a:effectLst/>
              <a:uFillTx/>
              <a:latin typeface="Arial"/>
            </a:endParaRPr>
          </a:p>
        </p:txBody>
      </p:sp>
      <p:sp>
        <p:nvSpPr>
          <p:cNvPr id="80" name="Rounded Rectangle 8"/>
          <p:cNvSpPr/>
          <p:nvPr/>
        </p:nvSpPr>
        <p:spPr>
          <a:xfrm>
            <a:off x="731520" y="3108960"/>
            <a:ext cx="3382920" cy="3017160"/>
          </a:xfrm>
          <a:prstGeom prst="roundRect">
            <a:avLst>
              <a:gd name="adj" fmla="val 3636"/>
            </a:avLst>
          </a:prstGeom>
          <a:solidFill>
            <a:srgbClr val="FFFFFF"/>
          </a:solidFill>
          <a:ln w="15875">
            <a:solidFill>
              <a:srgbClr val="D1D5D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81" name="Rectangle 9"/>
          <p:cNvSpPr/>
          <p:nvPr/>
        </p:nvSpPr>
        <p:spPr>
          <a:xfrm>
            <a:off x="731520" y="3108960"/>
            <a:ext cx="3382920" cy="109440"/>
          </a:xfrm>
          <a:prstGeom prst="rect">
            <a:avLst/>
          </a:prstGeom>
          <a:solidFill>
            <a:srgbClr val="DC26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82" name="TextBox 10"/>
          <p:cNvSpPr/>
          <p:nvPr/>
        </p:nvSpPr>
        <p:spPr>
          <a:xfrm>
            <a:off x="914400" y="3337560"/>
            <a:ext cx="3017160" cy="54828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900" b="1" u="none" strike="noStrike">
                <a:solidFill>
                  <a:srgbClr val="DC2626"/>
                </a:solidFill>
                <a:effectLst/>
                <a:uFillTx/>
                <a:latin typeface="Segoe UI"/>
              </a:rPr>
              <a:t>Le problème</a:t>
            </a:r>
            <a:endParaRPr lang="fr-FR" sz="1900" b="0" u="none" strike="noStrike">
              <a:solidFill>
                <a:srgbClr val="000000"/>
              </a:solidFill>
              <a:effectLst/>
              <a:uFillTx/>
              <a:latin typeface="Arial"/>
            </a:endParaRPr>
          </a:p>
        </p:txBody>
      </p:sp>
      <p:sp>
        <p:nvSpPr>
          <p:cNvPr id="83" name="TextBox 11"/>
          <p:cNvSpPr/>
          <p:nvPr/>
        </p:nvSpPr>
        <p:spPr>
          <a:xfrm>
            <a:off x="914400" y="3931920"/>
            <a:ext cx="3017160" cy="210276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600" b="0" u="none" strike="noStrike">
                <a:solidFill>
                  <a:srgbClr val="111827"/>
                </a:solidFill>
                <a:effectLst/>
                <a:uFillTx/>
                <a:latin typeface="Segoe UI"/>
              </a:rPr>
              <a:t>Des offres nombreuses, dispersées, écrites librement et parfois incomplètes.</a:t>
            </a:r>
            <a:endParaRPr lang="fr-FR" sz="1600" b="0" u="none" strike="noStrike">
              <a:solidFill>
                <a:srgbClr val="000000"/>
              </a:solidFill>
              <a:effectLst/>
              <a:uFillTx/>
              <a:latin typeface="Arial"/>
            </a:endParaRPr>
          </a:p>
        </p:txBody>
      </p:sp>
      <p:sp>
        <p:nvSpPr>
          <p:cNvPr id="84" name="Rounded Rectangle 12"/>
          <p:cNvSpPr/>
          <p:nvPr/>
        </p:nvSpPr>
        <p:spPr>
          <a:xfrm>
            <a:off x="4389120" y="3108960"/>
            <a:ext cx="3382920" cy="3017160"/>
          </a:xfrm>
          <a:prstGeom prst="roundRect">
            <a:avLst>
              <a:gd name="adj" fmla="val 3636"/>
            </a:avLst>
          </a:prstGeom>
          <a:solidFill>
            <a:srgbClr val="FFFFFF"/>
          </a:solidFill>
          <a:ln w="15875">
            <a:solidFill>
              <a:srgbClr val="D1D5D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85" name="Rectangle 13"/>
          <p:cNvSpPr/>
          <p:nvPr/>
        </p:nvSpPr>
        <p:spPr>
          <a:xfrm>
            <a:off x="4389120" y="3108960"/>
            <a:ext cx="3382920" cy="1094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86" name="TextBox 14"/>
          <p:cNvSpPr/>
          <p:nvPr/>
        </p:nvSpPr>
        <p:spPr>
          <a:xfrm>
            <a:off x="4572000" y="3337560"/>
            <a:ext cx="3017160" cy="54828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900" b="1" u="none" strike="noStrike">
                <a:solidFill>
                  <a:srgbClr val="2563EB"/>
                </a:solidFill>
                <a:effectLst/>
                <a:uFillTx/>
                <a:latin typeface="Segoe UI"/>
              </a:rPr>
              <a:t>Mon objectif</a:t>
            </a:r>
            <a:endParaRPr lang="fr-FR" sz="1900" b="0" u="none" strike="noStrike">
              <a:solidFill>
                <a:srgbClr val="000000"/>
              </a:solidFill>
              <a:effectLst/>
              <a:uFillTx/>
              <a:latin typeface="Arial"/>
            </a:endParaRPr>
          </a:p>
        </p:txBody>
      </p:sp>
      <p:sp>
        <p:nvSpPr>
          <p:cNvPr id="87" name="TextBox 15"/>
          <p:cNvSpPr/>
          <p:nvPr/>
        </p:nvSpPr>
        <p:spPr>
          <a:xfrm>
            <a:off x="4572000" y="3931920"/>
            <a:ext cx="3017160" cy="210276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600" b="0" u="none" strike="noStrike">
                <a:solidFill>
                  <a:srgbClr val="111827"/>
                </a:solidFill>
                <a:effectLst/>
                <a:uFillTx/>
                <a:latin typeface="Segoe UI"/>
              </a:rPr>
              <a:t>Une chaîne automatique qui collecte, range, vérifie et affiche les offres.</a:t>
            </a:r>
            <a:endParaRPr lang="fr-FR" sz="1600" b="0" u="none" strike="noStrike">
              <a:solidFill>
                <a:srgbClr val="000000"/>
              </a:solidFill>
              <a:effectLst/>
              <a:uFillTx/>
              <a:latin typeface="Arial"/>
            </a:endParaRPr>
          </a:p>
        </p:txBody>
      </p:sp>
      <p:sp>
        <p:nvSpPr>
          <p:cNvPr id="88" name="Rounded Rectangle 16"/>
          <p:cNvSpPr/>
          <p:nvPr/>
        </p:nvSpPr>
        <p:spPr>
          <a:xfrm>
            <a:off x="8046720" y="3108960"/>
            <a:ext cx="3382920" cy="3017160"/>
          </a:xfrm>
          <a:prstGeom prst="roundRect">
            <a:avLst>
              <a:gd name="adj" fmla="val 3636"/>
            </a:avLst>
          </a:prstGeom>
          <a:solidFill>
            <a:srgbClr val="FFFFFF"/>
          </a:solidFill>
          <a:ln w="15875">
            <a:solidFill>
              <a:srgbClr val="D1D5D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89" name="Rectangle 17"/>
          <p:cNvSpPr/>
          <p:nvPr/>
        </p:nvSpPr>
        <p:spPr>
          <a:xfrm>
            <a:off x="8046720" y="3108960"/>
            <a:ext cx="3382920" cy="109440"/>
          </a:xfrm>
          <a:prstGeom prst="rect">
            <a:avLst/>
          </a:prstGeom>
          <a:solidFill>
            <a:srgbClr val="16A3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90" name="TextBox 18"/>
          <p:cNvSpPr/>
          <p:nvPr/>
        </p:nvSpPr>
        <p:spPr>
          <a:xfrm>
            <a:off x="8229600" y="3337560"/>
            <a:ext cx="3017160" cy="54828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900" b="1" u="none" strike="noStrike">
                <a:solidFill>
                  <a:srgbClr val="16A34A"/>
                </a:solidFill>
                <a:effectLst/>
                <a:uFillTx/>
                <a:latin typeface="Segoe UI"/>
              </a:rPr>
              <a:t>Le résultat</a:t>
            </a:r>
            <a:endParaRPr lang="fr-FR" sz="1900" b="0" u="none" strike="noStrike">
              <a:solidFill>
                <a:srgbClr val="000000"/>
              </a:solidFill>
              <a:effectLst/>
              <a:uFillTx/>
              <a:latin typeface="Arial"/>
            </a:endParaRPr>
          </a:p>
        </p:txBody>
      </p:sp>
      <p:sp>
        <p:nvSpPr>
          <p:cNvPr id="91" name="TextBox 19"/>
          <p:cNvSpPr/>
          <p:nvPr/>
        </p:nvSpPr>
        <p:spPr>
          <a:xfrm>
            <a:off x="8229600" y="3931920"/>
            <a:ext cx="3017160" cy="210276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600" b="0" u="none" strike="noStrike">
                <a:solidFill>
                  <a:srgbClr val="111827"/>
                </a:solidFill>
                <a:effectLst/>
                <a:uFillTx/>
                <a:latin typeface="Segoe UI"/>
              </a:rPr>
              <a:t>Une plateforme fiable, mise à jour en continu, utilisable par tous.</a:t>
            </a:r>
            <a:endParaRPr lang="fr-FR"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Rectangle 1"/>
          <p:cNvSpPr/>
          <p:nvPr/>
        </p:nvSpPr>
        <p:spPr>
          <a:xfrm>
            <a:off x="0" y="0"/>
            <a:ext cx="12191400" cy="959760"/>
          </a:xfrm>
          <a:prstGeom prst="rect">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93" name="TextBox 2"/>
          <p:cNvSpPr/>
          <p:nvPr/>
        </p:nvSpPr>
        <p:spPr>
          <a:xfrm>
            <a:off x="457200" y="164520"/>
            <a:ext cx="8960760" cy="68544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2800" b="1" u="none" strike="noStrike">
                <a:solidFill>
                  <a:srgbClr val="FFFFFF"/>
                </a:solidFill>
                <a:effectLst/>
                <a:uFillTx/>
                <a:latin typeface="Segoe UI"/>
              </a:rPr>
              <a:t>Un projet, trois étapes</a:t>
            </a:r>
            <a:endParaRPr lang="fr-FR" sz="2800" b="0" u="none" strike="noStrike">
              <a:solidFill>
                <a:srgbClr val="000000"/>
              </a:solidFill>
              <a:effectLst/>
              <a:uFillTx/>
              <a:latin typeface="Arial"/>
            </a:endParaRPr>
          </a:p>
        </p:txBody>
      </p:sp>
      <p:sp>
        <p:nvSpPr>
          <p:cNvPr id="94" name="TextBox 3"/>
          <p:cNvSpPr/>
          <p:nvPr/>
        </p:nvSpPr>
        <p:spPr>
          <a:xfrm>
            <a:off x="8961120" y="274320"/>
            <a:ext cx="2925720" cy="45684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300" b="0" u="none" strike="noStrike">
                <a:solidFill>
                  <a:srgbClr val="BFDBFE"/>
                </a:solidFill>
                <a:effectLst/>
                <a:uFillTx/>
                <a:latin typeface="Segoe UI"/>
              </a:rPr>
              <a:t>Introduction</a:t>
            </a:r>
            <a:endParaRPr lang="fr-FR" sz="1300" b="0" u="none" strike="noStrike">
              <a:solidFill>
                <a:srgbClr val="000000"/>
              </a:solidFill>
              <a:effectLst/>
              <a:uFillTx/>
              <a:latin typeface="Arial"/>
            </a:endParaRPr>
          </a:p>
        </p:txBody>
      </p:sp>
      <p:sp>
        <p:nvSpPr>
          <p:cNvPr id="95" name="Rectangle 4"/>
          <p:cNvSpPr/>
          <p:nvPr/>
        </p:nvSpPr>
        <p:spPr>
          <a:xfrm>
            <a:off x="0" y="6583680"/>
            <a:ext cx="12191400" cy="273960"/>
          </a:xfrm>
          <a:prstGeom prst="rect">
            <a:avLst/>
          </a:prstGeom>
          <a:solidFill>
            <a:srgbClr val="EFF6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96" name="TextBox 5"/>
          <p:cNvSpPr/>
          <p:nvPr/>
        </p:nvSpPr>
        <p:spPr>
          <a:xfrm>
            <a:off x="457200" y="6583680"/>
            <a:ext cx="8229240" cy="27396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000" b="0" u="none" strike="noStrike">
                <a:solidFill>
                  <a:srgbClr val="6B7280"/>
                </a:solidFill>
                <a:effectLst/>
                <a:uFillTx/>
                <a:latin typeface="Segoe UI"/>
              </a:rPr>
              <a:t>Des offres d'emploi brutes à une plateforme de données fiable  •  Théo Mousnier</a:t>
            </a:r>
            <a:endParaRPr lang="fr-FR" sz="1000" b="0" u="none" strike="noStrike">
              <a:solidFill>
                <a:srgbClr val="000000"/>
              </a:solidFill>
              <a:effectLst/>
              <a:uFillTx/>
              <a:latin typeface="Arial"/>
            </a:endParaRPr>
          </a:p>
        </p:txBody>
      </p:sp>
      <p:sp>
        <p:nvSpPr>
          <p:cNvPr id="97" name="TextBox 6"/>
          <p:cNvSpPr/>
          <p:nvPr/>
        </p:nvSpPr>
        <p:spPr>
          <a:xfrm>
            <a:off x="10789920" y="6583680"/>
            <a:ext cx="1005480" cy="27396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000" b="0" u="none" strike="noStrike">
                <a:solidFill>
                  <a:srgbClr val="6B7280"/>
                </a:solidFill>
                <a:effectLst/>
                <a:uFillTx/>
                <a:latin typeface="Segoe UI"/>
              </a:rPr>
              <a:t>3 / 16</a:t>
            </a:r>
            <a:endParaRPr lang="fr-FR" sz="1000" b="0" u="none" strike="noStrike">
              <a:solidFill>
                <a:srgbClr val="000000"/>
              </a:solidFill>
              <a:effectLst/>
              <a:uFillTx/>
              <a:latin typeface="Arial"/>
            </a:endParaRPr>
          </a:p>
        </p:txBody>
      </p:sp>
      <p:sp>
        <p:nvSpPr>
          <p:cNvPr id="98" name="Rounded Rectangle 7"/>
          <p:cNvSpPr/>
          <p:nvPr/>
        </p:nvSpPr>
        <p:spPr>
          <a:xfrm>
            <a:off x="640080" y="1371600"/>
            <a:ext cx="3382920" cy="1188360"/>
          </a:xfrm>
          <a:prstGeom prst="roundRect">
            <a:avLst>
              <a:gd name="adj" fmla="val 9230"/>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2200" b="1" u="none" strike="noStrike">
                <a:solidFill>
                  <a:srgbClr val="FFFFFF"/>
                </a:solidFill>
                <a:effectLst/>
                <a:uFillTx/>
                <a:latin typeface="Segoe UI"/>
              </a:rPr>
              <a:t>TP1 — Organiser</a:t>
            </a:r>
            <a:endParaRPr lang="fr-FR" sz="2200" b="0" u="none" strike="noStrike">
              <a:solidFill>
                <a:srgbClr val="FFFFFF"/>
              </a:solidFill>
              <a:effectLst/>
              <a:uFillTx/>
              <a:latin typeface="Arial"/>
            </a:endParaRPr>
          </a:p>
          <a:p>
            <a:pPr algn="ctr" defTabSz="457200">
              <a:lnSpc>
                <a:spcPct val="100000"/>
              </a:lnSpc>
            </a:pPr>
            <a:r>
              <a:rPr lang="en-US" sz="1900" b="0" u="none" strike="noStrike">
                <a:solidFill>
                  <a:srgbClr val="FFFFFF"/>
                </a:solidFill>
                <a:effectLst/>
                <a:uFillTx/>
                <a:latin typeface="Segoe UI"/>
              </a:rPr>
              <a:t>Les plans</a:t>
            </a:r>
            <a:endParaRPr lang="fr-FR" sz="1900" b="0" u="none" strike="noStrike">
              <a:solidFill>
                <a:srgbClr val="FFFFFF"/>
              </a:solidFill>
              <a:effectLst/>
              <a:uFillTx/>
              <a:latin typeface="Arial"/>
            </a:endParaRPr>
          </a:p>
        </p:txBody>
      </p:sp>
      <p:sp>
        <p:nvSpPr>
          <p:cNvPr id="99" name="TextBox 8"/>
          <p:cNvSpPr/>
          <p:nvPr/>
        </p:nvSpPr>
        <p:spPr>
          <a:xfrm>
            <a:off x="822960" y="2834640"/>
            <a:ext cx="3108600" cy="23770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800" b="0" u="none" strike="noStrike">
                <a:solidFill>
                  <a:srgbClr val="111827"/>
                </a:solidFill>
                <a:effectLst/>
                <a:uFillTx/>
                <a:latin typeface="Segoe UI"/>
              </a:rPr>
              <a:t>•  Choisir les sources</a:t>
            </a:r>
            <a:endParaRPr lang="fr-FR" sz="1800" b="0" u="none" strike="noStrike">
              <a:solidFill>
                <a:srgbClr val="000000"/>
              </a:solidFill>
              <a:effectLst/>
              <a:uFillTx/>
              <a:latin typeface="Arial"/>
            </a:endParaRPr>
          </a:p>
          <a:p>
            <a:pPr defTabSz="457200">
              <a:lnSpc>
                <a:spcPct val="100000"/>
              </a:lnSpc>
              <a:spcAft>
                <a:spcPts val="799"/>
              </a:spcAft>
            </a:pPr>
            <a:r>
              <a:rPr lang="en-US" sz="1800" b="0" u="none" strike="noStrike">
                <a:solidFill>
                  <a:srgbClr val="111827"/>
                </a:solidFill>
                <a:effectLst/>
                <a:uFillTx/>
                <a:latin typeface="Segoe UI"/>
              </a:rPr>
              <a:t>•  Repérer les problèmes</a:t>
            </a:r>
            <a:endParaRPr lang="fr-FR" sz="1800" b="0" u="none" strike="noStrike">
              <a:solidFill>
                <a:srgbClr val="000000"/>
              </a:solidFill>
              <a:effectLst/>
              <a:uFillTx/>
              <a:latin typeface="Arial"/>
            </a:endParaRPr>
          </a:p>
          <a:p>
            <a:pPr defTabSz="457200">
              <a:lnSpc>
                <a:spcPct val="100000"/>
              </a:lnSpc>
              <a:spcAft>
                <a:spcPts val="799"/>
              </a:spcAft>
            </a:pPr>
            <a:r>
              <a:rPr lang="en-US" sz="1800" b="0" u="none" strike="noStrike">
                <a:solidFill>
                  <a:srgbClr val="111827"/>
                </a:solidFill>
                <a:effectLst/>
                <a:uFillTx/>
                <a:latin typeface="Segoe UI"/>
              </a:rPr>
              <a:t>•  Ranger chaque information à sa place</a:t>
            </a:r>
            <a:endParaRPr lang="fr-FR" sz="1800" b="0" u="none" strike="noStrike">
              <a:solidFill>
                <a:srgbClr val="000000"/>
              </a:solidFill>
              <a:effectLst/>
              <a:uFillTx/>
              <a:latin typeface="Arial"/>
            </a:endParaRPr>
          </a:p>
        </p:txBody>
      </p:sp>
      <p:sp>
        <p:nvSpPr>
          <p:cNvPr id="100" name="Rounded Rectangle 9"/>
          <p:cNvSpPr/>
          <p:nvPr/>
        </p:nvSpPr>
        <p:spPr>
          <a:xfrm>
            <a:off x="4480560" y="1371600"/>
            <a:ext cx="3382920" cy="1188360"/>
          </a:xfrm>
          <a:prstGeom prst="roundRect">
            <a:avLst>
              <a:gd name="adj" fmla="val 9230"/>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2200" b="1" u="none" strike="noStrike">
                <a:solidFill>
                  <a:srgbClr val="FFFFFF"/>
                </a:solidFill>
                <a:effectLst/>
                <a:uFillTx/>
                <a:latin typeface="Segoe UI"/>
              </a:rPr>
              <a:t>TP2 — Automatiser</a:t>
            </a:r>
            <a:endParaRPr lang="fr-FR" sz="2200" b="0" u="none" strike="noStrike">
              <a:solidFill>
                <a:srgbClr val="FFFFFF"/>
              </a:solidFill>
              <a:effectLst/>
              <a:uFillTx/>
              <a:latin typeface="Arial"/>
            </a:endParaRPr>
          </a:p>
          <a:p>
            <a:pPr algn="ctr" defTabSz="457200">
              <a:lnSpc>
                <a:spcPct val="100000"/>
              </a:lnSpc>
            </a:pPr>
            <a:r>
              <a:rPr lang="en-US" sz="1900" b="0" u="none" strike="noStrike">
                <a:solidFill>
                  <a:srgbClr val="FFFFFF"/>
                </a:solidFill>
                <a:effectLst/>
                <a:uFillTx/>
                <a:latin typeface="Segoe UI"/>
              </a:rPr>
              <a:t>La chaîne (pipeline)</a:t>
            </a:r>
            <a:endParaRPr lang="fr-FR" sz="1900" b="0" u="none" strike="noStrike">
              <a:solidFill>
                <a:srgbClr val="FFFFFF"/>
              </a:solidFill>
              <a:effectLst/>
              <a:uFillTx/>
              <a:latin typeface="Arial"/>
            </a:endParaRPr>
          </a:p>
        </p:txBody>
      </p:sp>
      <p:sp>
        <p:nvSpPr>
          <p:cNvPr id="101" name="TextBox 10"/>
          <p:cNvSpPr/>
          <p:nvPr/>
        </p:nvSpPr>
        <p:spPr>
          <a:xfrm>
            <a:off x="4663440" y="2834640"/>
            <a:ext cx="3108600" cy="23770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800" b="0" u="none" strike="noStrike">
                <a:solidFill>
                  <a:srgbClr val="111827"/>
                </a:solidFill>
                <a:effectLst/>
                <a:uFillTx/>
                <a:latin typeface="Segoe UI"/>
              </a:rPr>
              <a:t>•  Collecter en continu</a:t>
            </a:r>
            <a:endParaRPr lang="fr-FR" sz="1800" b="0" u="none" strike="noStrike">
              <a:solidFill>
                <a:srgbClr val="000000"/>
              </a:solidFill>
              <a:effectLst/>
              <a:uFillTx/>
              <a:latin typeface="Arial"/>
            </a:endParaRPr>
          </a:p>
          <a:p>
            <a:pPr defTabSz="457200">
              <a:lnSpc>
                <a:spcPct val="100000"/>
              </a:lnSpc>
              <a:spcAft>
                <a:spcPts val="799"/>
              </a:spcAft>
            </a:pPr>
            <a:r>
              <a:rPr lang="en-US" sz="1800" b="0" u="none" strike="noStrike">
                <a:solidFill>
                  <a:srgbClr val="111827"/>
                </a:solidFill>
                <a:effectLst/>
                <a:uFillTx/>
                <a:latin typeface="Segoe UI"/>
              </a:rPr>
              <a:t>•  Archiver et nettoyer</a:t>
            </a:r>
            <a:endParaRPr lang="fr-FR" sz="1800" b="0" u="none" strike="noStrike">
              <a:solidFill>
                <a:srgbClr val="000000"/>
              </a:solidFill>
              <a:effectLst/>
              <a:uFillTx/>
              <a:latin typeface="Arial"/>
            </a:endParaRPr>
          </a:p>
          <a:p>
            <a:pPr defTabSz="457200">
              <a:lnSpc>
                <a:spcPct val="100000"/>
              </a:lnSpc>
              <a:spcAft>
                <a:spcPts val="799"/>
              </a:spcAft>
            </a:pPr>
            <a:r>
              <a:rPr lang="en-US" sz="1800" b="0" u="none" strike="noStrike">
                <a:solidFill>
                  <a:srgbClr val="111827"/>
                </a:solidFill>
                <a:effectLst/>
                <a:uFillTx/>
                <a:latin typeface="Segoe UI"/>
              </a:rPr>
              <a:t>•  Charger et afficher</a:t>
            </a:r>
            <a:endParaRPr lang="fr-FR" sz="1800" b="0" u="none" strike="noStrike">
              <a:solidFill>
                <a:srgbClr val="000000"/>
              </a:solidFill>
              <a:effectLst/>
              <a:uFillTx/>
              <a:latin typeface="Arial"/>
            </a:endParaRPr>
          </a:p>
        </p:txBody>
      </p:sp>
      <p:cxnSp>
        <p:nvCxnSpPr>
          <p:cNvPr id="102" name="Connector 11"/>
          <p:cNvCxnSpPr/>
          <p:nvPr/>
        </p:nvCxnSpPr>
        <p:spPr>
          <a:xfrm>
            <a:off x="4069080" y="1965960"/>
            <a:ext cx="366120" cy="360"/>
          </a:xfrm>
          <a:prstGeom prst="straightConnector1">
            <a:avLst/>
          </a:prstGeom>
          <a:ln>
            <a:solidFill>
              <a:srgbClr val="6B7280"/>
            </a:solidFill>
            <a:round/>
            <a:tailEnd len="med" type="triangle" w="med"/>
          </a:ln>
        </p:spPr>
      </p:cxnSp>
      <p:sp>
        <p:nvSpPr>
          <p:cNvPr id="103" name="Rounded Rectangle 12"/>
          <p:cNvSpPr/>
          <p:nvPr/>
        </p:nvSpPr>
        <p:spPr>
          <a:xfrm>
            <a:off x="8321040" y="1371600"/>
            <a:ext cx="3382920" cy="1188360"/>
          </a:xfrm>
          <a:prstGeom prst="roundRect">
            <a:avLst>
              <a:gd name="adj" fmla="val 9230"/>
            </a:avLst>
          </a:prstGeom>
          <a:solidFill>
            <a:srgbClr val="EA58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2200" b="1" u="none" strike="noStrike">
                <a:solidFill>
                  <a:srgbClr val="FFFFFF"/>
                </a:solidFill>
                <a:effectLst/>
                <a:uFillTx/>
                <a:latin typeface="Segoe UI"/>
              </a:rPr>
              <a:t>TP3 — Fiabiliser</a:t>
            </a:r>
            <a:endParaRPr lang="fr-FR" sz="2200" b="0" u="none" strike="noStrike">
              <a:solidFill>
                <a:srgbClr val="FFFFFF"/>
              </a:solidFill>
              <a:effectLst/>
              <a:uFillTx/>
              <a:latin typeface="Arial"/>
            </a:endParaRPr>
          </a:p>
          <a:p>
            <a:pPr algn="ctr" defTabSz="457200">
              <a:lnSpc>
                <a:spcPct val="100000"/>
              </a:lnSpc>
            </a:pPr>
            <a:r>
              <a:rPr lang="en-US" sz="1900" b="0" u="none" strike="noStrike">
                <a:solidFill>
                  <a:srgbClr val="FFFFFF"/>
                </a:solidFill>
                <a:effectLst/>
                <a:uFillTx/>
                <a:latin typeface="Segoe UI"/>
              </a:rPr>
              <a:t>Le contrôle qualité</a:t>
            </a:r>
            <a:endParaRPr lang="fr-FR" sz="1900" b="0" u="none" strike="noStrike">
              <a:solidFill>
                <a:srgbClr val="FFFFFF"/>
              </a:solidFill>
              <a:effectLst/>
              <a:uFillTx/>
              <a:latin typeface="Arial"/>
            </a:endParaRPr>
          </a:p>
        </p:txBody>
      </p:sp>
      <p:sp>
        <p:nvSpPr>
          <p:cNvPr id="104" name="TextBox 13"/>
          <p:cNvSpPr/>
          <p:nvPr/>
        </p:nvSpPr>
        <p:spPr>
          <a:xfrm>
            <a:off x="8503920" y="2834640"/>
            <a:ext cx="3108600" cy="23770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800" b="0" u="none" strike="noStrike">
                <a:solidFill>
                  <a:srgbClr val="111827"/>
                </a:solidFill>
                <a:effectLst/>
                <a:uFillTx/>
                <a:latin typeface="Segoe UI"/>
              </a:rPr>
              <a:t>•  Mesurer la qualité</a:t>
            </a:r>
            <a:endParaRPr lang="fr-FR" sz="1800" b="0" u="none" strike="noStrike">
              <a:solidFill>
                <a:srgbClr val="000000"/>
              </a:solidFill>
              <a:effectLst/>
              <a:uFillTx/>
              <a:latin typeface="Arial"/>
            </a:endParaRPr>
          </a:p>
          <a:p>
            <a:pPr defTabSz="457200">
              <a:lnSpc>
                <a:spcPct val="100000"/>
              </a:lnSpc>
              <a:spcAft>
                <a:spcPts val="799"/>
              </a:spcAft>
            </a:pPr>
            <a:r>
              <a:rPr lang="en-US" sz="1800" b="0" u="none" strike="noStrike">
                <a:solidFill>
                  <a:srgbClr val="111827"/>
                </a:solidFill>
                <a:effectLst/>
                <a:uFillTx/>
                <a:latin typeface="Segoe UI"/>
              </a:rPr>
              <a:t>•  Corriger les erreurs</a:t>
            </a:r>
            <a:endParaRPr lang="fr-FR" sz="1800" b="0" u="none" strike="noStrike">
              <a:solidFill>
                <a:srgbClr val="000000"/>
              </a:solidFill>
              <a:effectLst/>
              <a:uFillTx/>
              <a:latin typeface="Arial"/>
            </a:endParaRPr>
          </a:p>
          <a:p>
            <a:pPr defTabSz="457200">
              <a:lnSpc>
                <a:spcPct val="100000"/>
              </a:lnSpc>
              <a:spcAft>
                <a:spcPts val="799"/>
              </a:spcAft>
            </a:pPr>
            <a:r>
              <a:rPr lang="en-US" sz="1800" b="0" u="none" strike="noStrike">
                <a:solidFill>
                  <a:srgbClr val="111827"/>
                </a:solidFill>
                <a:effectLst/>
                <a:uFillTx/>
                <a:latin typeface="Segoe UI"/>
              </a:rPr>
              <a:t>•  Prouver le résultat</a:t>
            </a:r>
            <a:endParaRPr lang="fr-FR" sz="1800" b="0" u="none" strike="noStrike">
              <a:solidFill>
                <a:srgbClr val="000000"/>
              </a:solidFill>
              <a:effectLst/>
              <a:uFillTx/>
              <a:latin typeface="Arial"/>
            </a:endParaRPr>
          </a:p>
        </p:txBody>
      </p:sp>
      <p:cxnSp>
        <p:nvCxnSpPr>
          <p:cNvPr id="105" name="Connector 14"/>
          <p:cNvCxnSpPr/>
          <p:nvPr/>
        </p:nvCxnSpPr>
        <p:spPr>
          <a:xfrm>
            <a:off x="7909560" y="1965960"/>
            <a:ext cx="365760" cy="360"/>
          </a:xfrm>
          <a:prstGeom prst="straightConnector1">
            <a:avLst/>
          </a:prstGeom>
          <a:ln>
            <a:solidFill>
              <a:srgbClr val="6B7280"/>
            </a:solidFill>
            <a:round/>
            <a:tailEnd len="med" type="triangle" w="med"/>
          </a:ln>
        </p:spPr>
      </p:cxnSp>
      <p:sp>
        <p:nvSpPr>
          <p:cNvPr id="106" name="Rounded Rectangle 15"/>
          <p:cNvSpPr/>
          <p:nvPr/>
        </p:nvSpPr>
        <p:spPr>
          <a:xfrm>
            <a:off x="548640" y="5394960"/>
            <a:ext cx="11063880" cy="822600"/>
          </a:xfrm>
          <a:prstGeom prst="roundRect">
            <a:avLst>
              <a:gd name="adj" fmla="val 13333"/>
            </a:avLst>
          </a:prstGeom>
          <a:solidFill>
            <a:srgbClr val="EFF6FF"/>
          </a:solidFill>
          <a:ln w="15875">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2000" b="1" u="none" strike="noStrike">
                <a:solidFill>
                  <a:srgbClr val="111827"/>
                </a:solidFill>
                <a:effectLst/>
                <a:uFillTx/>
                <a:latin typeface="Segoe UI"/>
              </a:rPr>
              <a:t>Chaque TP s'appuie sur le précédent</a:t>
            </a:r>
            <a:endParaRPr lang="fr-FR"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Rectangle 1"/>
          <p:cNvSpPr/>
          <p:nvPr/>
        </p:nvSpPr>
        <p:spPr>
          <a:xfrm>
            <a:off x="0" y="0"/>
            <a:ext cx="12191400" cy="959760"/>
          </a:xfrm>
          <a:prstGeom prst="rect">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08" name="TextBox 2"/>
          <p:cNvSpPr/>
          <p:nvPr/>
        </p:nvSpPr>
        <p:spPr>
          <a:xfrm>
            <a:off x="457200" y="164520"/>
            <a:ext cx="8960760" cy="68544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2800" b="1" u="none" strike="noStrike">
                <a:solidFill>
                  <a:srgbClr val="FFFFFF"/>
                </a:solidFill>
                <a:effectLst/>
                <a:uFillTx/>
                <a:latin typeface="Segoe UI"/>
              </a:rPr>
              <a:t>D'où viennent les données ?</a:t>
            </a:r>
            <a:endParaRPr lang="fr-FR" sz="2800" b="0" u="none" strike="noStrike">
              <a:solidFill>
                <a:srgbClr val="000000"/>
              </a:solidFill>
              <a:effectLst/>
              <a:uFillTx/>
              <a:latin typeface="Arial"/>
            </a:endParaRPr>
          </a:p>
        </p:txBody>
      </p:sp>
      <p:sp>
        <p:nvSpPr>
          <p:cNvPr id="109" name="TextBox 3"/>
          <p:cNvSpPr/>
          <p:nvPr/>
        </p:nvSpPr>
        <p:spPr>
          <a:xfrm>
            <a:off x="8961120" y="274320"/>
            <a:ext cx="2925720" cy="45684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300" b="0" u="none" strike="noStrike">
                <a:solidFill>
                  <a:srgbClr val="BFDBFE"/>
                </a:solidFill>
                <a:effectLst/>
                <a:uFillTx/>
                <a:latin typeface="Segoe UI"/>
              </a:rPr>
              <a:t>TP1 — Organiser</a:t>
            </a:r>
            <a:endParaRPr lang="fr-FR" sz="1300" b="0" u="none" strike="noStrike">
              <a:solidFill>
                <a:srgbClr val="000000"/>
              </a:solidFill>
              <a:effectLst/>
              <a:uFillTx/>
              <a:latin typeface="Arial"/>
            </a:endParaRPr>
          </a:p>
        </p:txBody>
      </p:sp>
      <p:sp>
        <p:nvSpPr>
          <p:cNvPr id="110" name="Rectangle 4"/>
          <p:cNvSpPr/>
          <p:nvPr/>
        </p:nvSpPr>
        <p:spPr>
          <a:xfrm>
            <a:off x="0" y="6583680"/>
            <a:ext cx="12191400" cy="273960"/>
          </a:xfrm>
          <a:prstGeom prst="rect">
            <a:avLst/>
          </a:prstGeom>
          <a:solidFill>
            <a:srgbClr val="EFF6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11" name="TextBox 5"/>
          <p:cNvSpPr/>
          <p:nvPr/>
        </p:nvSpPr>
        <p:spPr>
          <a:xfrm>
            <a:off x="457200" y="6583680"/>
            <a:ext cx="8229240" cy="27396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000" b="0" u="none" strike="noStrike">
                <a:solidFill>
                  <a:srgbClr val="6B7280"/>
                </a:solidFill>
                <a:effectLst/>
                <a:uFillTx/>
                <a:latin typeface="Segoe UI"/>
              </a:rPr>
              <a:t>Des offres d'emploi brutes à une plateforme de données fiable  •  Théo Mousnier</a:t>
            </a:r>
            <a:endParaRPr lang="fr-FR" sz="1000" b="0" u="none" strike="noStrike">
              <a:solidFill>
                <a:srgbClr val="000000"/>
              </a:solidFill>
              <a:effectLst/>
              <a:uFillTx/>
              <a:latin typeface="Arial"/>
            </a:endParaRPr>
          </a:p>
        </p:txBody>
      </p:sp>
      <p:sp>
        <p:nvSpPr>
          <p:cNvPr id="112" name="TextBox 6"/>
          <p:cNvSpPr/>
          <p:nvPr/>
        </p:nvSpPr>
        <p:spPr>
          <a:xfrm>
            <a:off x="10789920" y="6583680"/>
            <a:ext cx="1005480" cy="27396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000" b="0" u="none" strike="noStrike">
                <a:solidFill>
                  <a:srgbClr val="6B7280"/>
                </a:solidFill>
                <a:effectLst/>
                <a:uFillTx/>
                <a:latin typeface="Segoe UI"/>
              </a:rPr>
              <a:t>4 / 16</a:t>
            </a:r>
            <a:endParaRPr lang="fr-FR" sz="1000" b="0" u="none" strike="noStrike">
              <a:solidFill>
                <a:srgbClr val="000000"/>
              </a:solidFill>
              <a:effectLst/>
              <a:uFillTx/>
              <a:latin typeface="Arial"/>
            </a:endParaRPr>
          </a:p>
        </p:txBody>
      </p:sp>
      <p:sp>
        <p:nvSpPr>
          <p:cNvPr id="113" name="Rounded Rectangle 7"/>
          <p:cNvSpPr/>
          <p:nvPr/>
        </p:nvSpPr>
        <p:spPr>
          <a:xfrm>
            <a:off x="731520" y="1371600"/>
            <a:ext cx="4937400" cy="3017160"/>
          </a:xfrm>
          <a:prstGeom prst="roundRect">
            <a:avLst>
              <a:gd name="adj" fmla="val 3636"/>
            </a:avLst>
          </a:prstGeom>
          <a:solidFill>
            <a:srgbClr val="FFFFFF"/>
          </a:solidFill>
          <a:ln w="15875">
            <a:solidFill>
              <a:srgbClr val="D1D5D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14" name="Rectangle 8"/>
          <p:cNvSpPr/>
          <p:nvPr/>
        </p:nvSpPr>
        <p:spPr>
          <a:xfrm>
            <a:off x="731520" y="1371600"/>
            <a:ext cx="4937400" cy="109440"/>
          </a:xfrm>
          <a:prstGeom prst="rect">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15" name="TextBox 9"/>
          <p:cNvSpPr/>
          <p:nvPr/>
        </p:nvSpPr>
        <p:spPr>
          <a:xfrm>
            <a:off x="914400" y="1600200"/>
            <a:ext cx="4571640" cy="54828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900" b="1" u="none" strike="noStrike">
                <a:solidFill>
                  <a:srgbClr val="1E3A8A"/>
                </a:solidFill>
                <a:effectLst/>
                <a:uFillTx/>
                <a:latin typeface="Segoe UI"/>
              </a:rPr>
              <a:t>France Travail</a:t>
            </a:r>
            <a:endParaRPr lang="fr-FR" sz="1900" b="0" u="none" strike="noStrike">
              <a:solidFill>
                <a:srgbClr val="000000"/>
              </a:solidFill>
              <a:effectLst/>
              <a:uFillTx/>
              <a:latin typeface="Arial"/>
            </a:endParaRPr>
          </a:p>
        </p:txBody>
      </p:sp>
      <p:sp>
        <p:nvSpPr>
          <p:cNvPr id="116" name="TextBox 10"/>
          <p:cNvSpPr/>
          <p:nvPr/>
        </p:nvSpPr>
        <p:spPr>
          <a:xfrm>
            <a:off x="914400" y="2194560"/>
            <a:ext cx="4571640" cy="210276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600" b="0" u="none" strike="noStrike">
                <a:solidFill>
                  <a:srgbClr val="111827"/>
                </a:solidFill>
                <a:effectLst/>
                <a:uFillTx/>
                <a:latin typeface="Segoe UI"/>
              </a:rPr>
              <a:t>L'ancien Pôle emploi</a:t>
            </a:r>
            <a:endParaRPr lang="fr-FR" sz="1600" b="0" u="none" strike="noStrike">
              <a:solidFill>
                <a:srgbClr val="000000"/>
              </a:solidFill>
              <a:effectLst/>
              <a:uFillTx/>
              <a:latin typeface="Arial"/>
            </a:endParaRPr>
          </a:p>
          <a:p>
            <a:pPr algn="ctr" defTabSz="457200">
              <a:lnSpc>
                <a:spcPct val="100000"/>
              </a:lnSpc>
            </a:pPr>
            <a:endParaRPr lang="fr-FR" sz="1600" b="0" u="none" strike="noStrike">
              <a:solidFill>
                <a:srgbClr val="000000"/>
              </a:solidFill>
              <a:effectLst/>
              <a:uFillTx/>
              <a:latin typeface="Arial"/>
            </a:endParaRPr>
          </a:p>
          <a:p>
            <a:pPr algn="ctr" defTabSz="457200">
              <a:lnSpc>
                <a:spcPct val="100000"/>
              </a:lnSpc>
            </a:pPr>
            <a:r>
              <a:rPr lang="en-US" sz="1600" b="0" u="none" strike="noStrike">
                <a:solidFill>
                  <a:srgbClr val="111827"/>
                </a:solidFill>
                <a:effectLst/>
                <a:uFillTx/>
                <a:latin typeface="Segoe UI"/>
              </a:rPr>
              <a:t>Les offres d'emploi publiées partout en France : poste, contrat, salaire, entreprise, compétences demandées</a:t>
            </a:r>
            <a:endParaRPr lang="fr-FR" sz="1600" b="0" u="none" strike="noStrike">
              <a:solidFill>
                <a:srgbClr val="000000"/>
              </a:solidFill>
              <a:effectLst/>
              <a:uFillTx/>
              <a:latin typeface="Arial"/>
            </a:endParaRPr>
          </a:p>
        </p:txBody>
      </p:sp>
      <p:sp>
        <p:nvSpPr>
          <p:cNvPr id="117" name="Rounded Rectangle 11"/>
          <p:cNvSpPr/>
          <p:nvPr/>
        </p:nvSpPr>
        <p:spPr>
          <a:xfrm>
            <a:off x="6492240" y="1371600"/>
            <a:ext cx="4937400" cy="3017160"/>
          </a:xfrm>
          <a:prstGeom prst="roundRect">
            <a:avLst>
              <a:gd name="adj" fmla="val 3636"/>
            </a:avLst>
          </a:prstGeom>
          <a:solidFill>
            <a:srgbClr val="FFFFFF"/>
          </a:solidFill>
          <a:ln w="15875">
            <a:solidFill>
              <a:srgbClr val="D1D5D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18" name="Rectangle 12"/>
          <p:cNvSpPr/>
          <p:nvPr/>
        </p:nvSpPr>
        <p:spPr>
          <a:xfrm>
            <a:off x="6492240" y="1371600"/>
            <a:ext cx="4937400" cy="1094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19" name="TextBox 13"/>
          <p:cNvSpPr/>
          <p:nvPr/>
        </p:nvSpPr>
        <p:spPr>
          <a:xfrm>
            <a:off x="6675120" y="1600200"/>
            <a:ext cx="4571640" cy="54828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900" b="1" u="none" strike="noStrike">
                <a:solidFill>
                  <a:srgbClr val="2563EB"/>
                </a:solidFill>
                <a:effectLst/>
                <a:uFillTx/>
                <a:latin typeface="Segoe UI"/>
              </a:rPr>
              <a:t>Liste officielle des communes</a:t>
            </a:r>
            <a:endParaRPr lang="fr-FR" sz="1900" b="0" u="none" strike="noStrike">
              <a:solidFill>
                <a:srgbClr val="000000"/>
              </a:solidFill>
              <a:effectLst/>
              <a:uFillTx/>
              <a:latin typeface="Arial"/>
            </a:endParaRPr>
          </a:p>
        </p:txBody>
      </p:sp>
      <p:sp>
        <p:nvSpPr>
          <p:cNvPr id="120" name="TextBox 14"/>
          <p:cNvSpPr/>
          <p:nvPr/>
        </p:nvSpPr>
        <p:spPr>
          <a:xfrm>
            <a:off x="6675120" y="2194560"/>
            <a:ext cx="4571640" cy="210276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600" b="0" u="none" strike="noStrike">
                <a:solidFill>
                  <a:srgbClr val="111827"/>
                </a:solidFill>
                <a:effectLst/>
                <a:uFillTx/>
                <a:latin typeface="Segoe UI"/>
              </a:rPr>
              <a:t>Publiée par l'État</a:t>
            </a:r>
            <a:endParaRPr lang="fr-FR" sz="1600" b="0" u="none" strike="noStrike">
              <a:solidFill>
                <a:srgbClr val="000000"/>
              </a:solidFill>
              <a:effectLst/>
              <a:uFillTx/>
              <a:latin typeface="Arial"/>
            </a:endParaRPr>
          </a:p>
          <a:p>
            <a:pPr algn="ctr" defTabSz="457200">
              <a:lnSpc>
                <a:spcPct val="100000"/>
              </a:lnSpc>
            </a:pPr>
            <a:endParaRPr lang="fr-FR" sz="1600" b="0" u="none" strike="noStrike">
              <a:solidFill>
                <a:srgbClr val="000000"/>
              </a:solidFill>
              <a:effectLst/>
              <a:uFillTx/>
              <a:latin typeface="Arial"/>
            </a:endParaRPr>
          </a:p>
          <a:p>
            <a:pPr algn="ctr" defTabSz="457200">
              <a:lnSpc>
                <a:spcPct val="100000"/>
              </a:lnSpc>
            </a:pPr>
            <a:r>
              <a:rPr lang="en-US" sz="1600" b="0" u="none" strike="noStrike">
                <a:solidFill>
                  <a:srgbClr val="111827"/>
                </a:solidFill>
                <a:effectLst/>
                <a:uFillTx/>
                <a:latin typeface="Segoe UI"/>
              </a:rPr>
              <a:t>Le nom exact et la position sur la carte de chaque commune française</a:t>
            </a:r>
            <a:endParaRPr lang="fr-FR" sz="1600" b="0" u="none" strike="noStrike">
              <a:solidFill>
                <a:srgbClr val="000000"/>
              </a:solidFill>
              <a:effectLst/>
              <a:uFillTx/>
              <a:latin typeface="Arial"/>
            </a:endParaRPr>
          </a:p>
        </p:txBody>
      </p:sp>
      <p:sp>
        <p:nvSpPr>
          <p:cNvPr id="121" name="Left-Right Arrow 15"/>
          <p:cNvSpPr/>
          <p:nvPr/>
        </p:nvSpPr>
        <p:spPr>
          <a:xfrm>
            <a:off x="5715000" y="2468880"/>
            <a:ext cx="731160" cy="731160"/>
          </a:xfrm>
          <a:prstGeom prst="leftRightArrow">
            <a:avLst>
              <a:gd name="adj1" fmla="val 50000"/>
              <a:gd name="adj2" fmla="val 50000"/>
            </a:avLst>
          </a:prstGeom>
          <a:solidFill>
            <a:srgbClr val="16A3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22" name="Rounded Rectangle 16"/>
          <p:cNvSpPr/>
          <p:nvPr/>
        </p:nvSpPr>
        <p:spPr>
          <a:xfrm>
            <a:off x="548640" y="4754880"/>
            <a:ext cx="11063880" cy="1188360"/>
          </a:xfrm>
          <a:prstGeom prst="roundRect">
            <a:avLst>
              <a:gd name="adj" fmla="val 9230"/>
            </a:avLst>
          </a:prstGeom>
          <a:solidFill>
            <a:srgbClr val="EFF6FF"/>
          </a:solidFill>
          <a:ln w="15875">
            <a:solidFill>
              <a:srgbClr val="16A34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800" b="1" u="none" strike="noStrike">
                <a:solidFill>
                  <a:srgbClr val="111827"/>
                </a:solidFill>
                <a:effectLst/>
                <a:uFillTx/>
                <a:latin typeface="Segoe UI"/>
              </a:rPr>
              <a:t>Les deux sources sont reliées par la commune de l'offre</a:t>
            </a:r>
            <a:endParaRPr lang="fr-FR" sz="1800" b="0" u="none" strike="noStrike">
              <a:solidFill>
                <a:srgbClr val="000000"/>
              </a:solidFill>
              <a:effectLst/>
              <a:uFillTx/>
              <a:latin typeface="Arial"/>
            </a:endParaRPr>
          </a:p>
          <a:p>
            <a:pPr algn="ctr" defTabSz="457200">
              <a:lnSpc>
                <a:spcPct val="100000"/>
              </a:lnSpc>
            </a:pPr>
            <a:r>
              <a:rPr lang="en-US" sz="1500" b="0" u="none" strike="noStrike">
                <a:solidFill>
                  <a:srgbClr val="111827"/>
                </a:solidFill>
                <a:effectLst/>
                <a:uFillTx/>
                <a:latin typeface="Segoe UI"/>
              </a:rPr>
              <a:t>98,5 % des offres rattachées à une commune officielle</a:t>
            </a:r>
            <a:endParaRPr lang="fr-FR"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Rectangle 1"/>
          <p:cNvSpPr/>
          <p:nvPr/>
        </p:nvSpPr>
        <p:spPr>
          <a:xfrm>
            <a:off x="0" y="0"/>
            <a:ext cx="12191400" cy="959760"/>
          </a:xfrm>
          <a:prstGeom prst="rect">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24" name="TextBox 2"/>
          <p:cNvSpPr/>
          <p:nvPr/>
        </p:nvSpPr>
        <p:spPr>
          <a:xfrm>
            <a:off x="457200" y="164520"/>
            <a:ext cx="8960760" cy="68544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2800" b="1" u="none" strike="noStrike">
                <a:solidFill>
                  <a:srgbClr val="FFFFFF"/>
                </a:solidFill>
                <a:effectLst/>
                <a:uFillTx/>
                <a:latin typeface="Segoe UI"/>
              </a:rPr>
              <a:t>TP1 : ranger chaque information à sa place</a:t>
            </a:r>
            <a:endParaRPr lang="fr-FR" sz="2800" b="0" u="none" strike="noStrike">
              <a:solidFill>
                <a:srgbClr val="000000"/>
              </a:solidFill>
              <a:effectLst/>
              <a:uFillTx/>
              <a:latin typeface="Arial"/>
            </a:endParaRPr>
          </a:p>
        </p:txBody>
      </p:sp>
      <p:sp>
        <p:nvSpPr>
          <p:cNvPr id="125" name="TextBox 3"/>
          <p:cNvSpPr/>
          <p:nvPr/>
        </p:nvSpPr>
        <p:spPr>
          <a:xfrm>
            <a:off x="8961120" y="274320"/>
            <a:ext cx="2925720" cy="45684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300" b="0" u="none" strike="noStrike">
                <a:solidFill>
                  <a:srgbClr val="BFDBFE"/>
                </a:solidFill>
                <a:effectLst/>
                <a:uFillTx/>
                <a:latin typeface="Segoe UI"/>
              </a:rPr>
              <a:t>TP1 — Organiser</a:t>
            </a:r>
            <a:endParaRPr lang="fr-FR" sz="1300" b="0" u="none" strike="noStrike">
              <a:solidFill>
                <a:srgbClr val="000000"/>
              </a:solidFill>
              <a:effectLst/>
              <a:uFillTx/>
              <a:latin typeface="Arial"/>
            </a:endParaRPr>
          </a:p>
        </p:txBody>
      </p:sp>
      <p:sp>
        <p:nvSpPr>
          <p:cNvPr id="126" name="Rectangle 4"/>
          <p:cNvSpPr/>
          <p:nvPr/>
        </p:nvSpPr>
        <p:spPr>
          <a:xfrm>
            <a:off x="0" y="6583680"/>
            <a:ext cx="12191400" cy="273960"/>
          </a:xfrm>
          <a:prstGeom prst="rect">
            <a:avLst/>
          </a:prstGeom>
          <a:solidFill>
            <a:srgbClr val="EFF6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27" name="TextBox 5"/>
          <p:cNvSpPr/>
          <p:nvPr/>
        </p:nvSpPr>
        <p:spPr>
          <a:xfrm>
            <a:off x="457200" y="6583680"/>
            <a:ext cx="8229240" cy="27396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000" b="0" u="none" strike="noStrike">
                <a:solidFill>
                  <a:srgbClr val="6B7280"/>
                </a:solidFill>
                <a:effectLst/>
                <a:uFillTx/>
                <a:latin typeface="Segoe UI"/>
              </a:rPr>
              <a:t>Des offres d'emploi brutes à une plateforme de données fiable  •  Théo Mousnier</a:t>
            </a:r>
            <a:endParaRPr lang="fr-FR" sz="1000" b="0" u="none" strike="noStrike">
              <a:solidFill>
                <a:srgbClr val="000000"/>
              </a:solidFill>
              <a:effectLst/>
              <a:uFillTx/>
              <a:latin typeface="Arial"/>
            </a:endParaRPr>
          </a:p>
        </p:txBody>
      </p:sp>
      <p:sp>
        <p:nvSpPr>
          <p:cNvPr id="128" name="TextBox 6"/>
          <p:cNvSpPr/>
          <p:nvPr/>
        </p:nvSpPr>
        <p:spPr>
          <a:xfrm>
            <a:off x="10789920" y="6583680"/>
            <a:ext cx="1005480" cy="27396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000" b="0" u="none" strike="noStrike">
                <a:solidFill>
                  <a:srgbClr val="6B7280"/>
                </a:solidFill>
                <a:effectLst/>
                <a:uFillTx/>
                <a:latin typeface="Segoe UI"/>
              </a:rPr>
              <a:t>5 / 16</a:t>
            </a:r>
            <a:endParaRPr lang="fr-FR" sz="1000" b="0" u="none" strike="noStrike">
              <a:solidFill>
                <a:srgbClr val="000000"/>
              </a:solidFill>
              <a:effectLst/>
              <a:uFillTx/>
              <a:latin typeface="Arial"/>
            </a:endParaRPr>
          </a:p>
        </p:txBody>
      </p:sp>
      <p:sp>
        <p:nvSpPr>
          <p:cNvPr id="129" name="Rounded Rectangle 7"/>
          <p:cNvSpPr/>
          <p:nvPr/>
        </p:nvSpPr>
        <p:spPr>
          <a:xfrm>
            <a:off x="548640" y="1280160"/>
            <a:ext cx="3474360" cy="1599840"/>
          </a:xfrm>
          <a:prstGeom prst="roundRect">
            <a:avLst>
              <a:gd name="adj" fmla="val 6857"/>
            </a:avLst>
          </a:prstGeom>
          <a:solidFill>
            <a:srgbClr val="FFFFFF"/>
          </a:solidFill>
          <a:ln w="15875">
            <a:solidFill>
              <a:srgbClr val="1E3A8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30" name="Rounded Rectangle 8"/>
          <p:cNvSpPr/>
          <p:nvPr/>
        </p:nvSpPr>
        <p:spPr>
          <a:xfrm>
            <a:off x="548640" y="1280160"/>
            <a:ext cx="3474360" cy="594000"/>
          </a:xfrm>
          <a:prstGeom prst="roundRect">
            <a:avLst>
              <a:gd name="adj" fmla="val 18461"/>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800" b="1" u="none" strike="noStrike">
                <a:solidFill>
                  <a:srgbClr val="FFFFFF"/>
                </a:solidFill>
                <a:effectLst/>
                <a:uFillTx/>
                <a:latin typeface="Segoe UI"/>
              </a:rPr>
              <a:t>Offres</a:t>
            </a:r>
            <a:endParaRPr lang="fr-FR" sz="1800" b="0" u="none" strike="noStrike">
              <a:solidFill>
                <a:srgbClr val="FFFFFF"/>
              </a:solidFill>
              <a:effectLst/>
              <a:uFillTx/>
              <a:latin typeface="Arial"/>
            </a:endParaRPr>
          </a:p>
        </p:txBody>
      </p:sp>
      <p:sp>
        <p:nvSpPr>
          <p:cNvPr id="131" name="TextBox 9"/>
          <p:cNvSpPr/>
          <p:nvPr/>
        </p:nvSpPr>
        <p:spPr>
          <a:xfrm>
            <a:off x="731520" y="2011680"/>
            <a:ext cx="3108600" cy="82260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500" b="0" u="none" strike="noStrike">
                <a:solidFill>
                  <a:srgbClr val="111827"/>
                </a:solidFill>
                <a:effectLst/>
                <a:uFillTx/>
                <a:latin typeface="Segoe UI"/>
              </a:rPr>
              <a:t>Le poste, le contrat, le salaire, la date</a:t>
            </a:r>
            <a:endParaRPr lang="fr-FR" sz="1500" b="0" u="none" strike="noStrike">
              <a:solidFill>
                <a:srgbClr val="000000"/>
              </a:solidFill>
              <a:effectLst/>
              <a:uFillTx/>
              <a:latin typeface="Arial"/>
            </a:endParaRPr>
          </a:p>
        </p:txBody>
      </p:sp>
      <p:sp>
        <p:nvSpPr>
          <p:cNvPr id="132" name="Rounded Rectangle 10"/>
          <p:cNvSpPr/>
          <p:nvPr/>
        </p:nvSpPr>
        <p:spPr>
          <a:xfrm>
            <a:off x="4297680" y="1280160"/>
            <a:ext cx="3474360" cy="1599840"/>
          </a:xfrm>
          <a:prstGeom prst="roundRect">
            <a:avLst>
              <a:gd name="adj" fmla="val 6857"/>
            </a:avLst>
          </a:prstGeom>
          <a:solidFill>
            <a:srgbClr val="FFFFFF"/>
          </a:solidFill>
          <a:ln w="15875">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33" name="Rounded Rectangle 11"/>
          <p:cNvSpPr/>
          <p:nvPr/>
        </p:nvSpPr>
        <p:spPr>
          <a:xfrm>
            <a:off x="4297680" y="1280160"/>
            <a:ext cx="3474360" cy="594000"/>
          </a:xfrm>
          <a:prstGeom prst="roundRect">
            <a:avLst>
              <a:gd name="adj" fmla="val 18461"/>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800" b="1" u="none" strike="noStrike">
                <a:solidFill>
                  <a:srgbClr val="FFFFFF"/>
                </a:solidFill>
                <a:effectLst/>
                <a:uFillTx/>
                <a:latin typeface="Segoe UI"/>
              </a:rPr>
              <a:t>Entreprises</a:t>
            </a:r>
            <a:endParaRPr lang="fr-FR" sz="1800" b="0" u="none" strike="noStrike">
              <a:solidFill>
                <a:srgbClr val="FFFFFF"/>
              </a:solidFill>
              <a:effectLst/>
              <a:uFillTx/>
              <a:latin typeface="Arial"/>
            </a:endParaRPr>
          </a:p>
        </p:txBody>
      </p:sp>
      <p:sp>
        <p:nvSpPr>
          <p:cNvPr id="134" name="TextBox 12"/>
          <p:cNvSpPr/>
          <p:nvPr/>
        </p:nvSpPr>
        <p:spPr>
          <a:xfrm>
            <a:off x="4480560" y="2011680"/>
            <a:ext cx="3108600" cy="82260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500" b="0" u="none" strike="noStrike">
                <a:solidFill>
                  <a:srgbClr val="111827"/>
                </a:solidFill>
                <a:effectLst/>
                <a:uFillTx/>
                <a:latin typeface="Segoe UI"/>
              </a:rPr>
              <a:t>Qui recrute</a:t>
            </a:r>
            <a:endParaRPr lang="fr-FR" sz="1500" b="0" u="none" strike="noStrike">
              <a:solidFill>
                <a:srgbClr val="000000"/>
              </a:solidFill>
              <a:effectLst/>
              <a:uFillTx/>
              <a:latin typeface="Arial"/>
            </a:endParaRPr>
          </a:p>
        </p:txBody>
      </p:sp>
      <p:sp>
        <p:nvSpPr>
          <p:cNvPr id="135" name="Rounded Rectangle 13"/>
          <p:cNvSpPr/>
          <p:nvPr/>
        </p:nvSpPr>
        <p:spPr>
          <a:xfrm>
            <a:off x="8046720" y="1280160"/>
            <a:ext cx="3474360" cy="1599840"/>
          </a:xfrm>
          <a:prstGeom prst="roundRect">
            <a:avLst>
              <a:gd name="adj" fmla="val 6857"/>
            </a:avLst>
          </a:prstGeom>
          <a:solidFill>
            <a:srgbClr val="FFFFFF"/>
          </a:solidFill>
          <a:ln w="15875">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36" name="Rounded Rectangle 14"/>
          <p:cNvSpPr/>
          <p:nvPr/>
        </p:nvSpPr>
        <p:spPr>
          <a:xfrm>
            <a:off x="8046720" y="1280160"/>
            <a:ext cx="3474360" cy="594000"/>
          </a:xfrm>
          <a:prstGeom prst="roundRect">
            <a:avLst>
              <a:gd name="adj" fmla="val 18461"/>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800" b="1" u="none" strike="noStrike">
                <a:solidFill>
                  <a:srgbClr val="FFFFFF"/>
                </a:solidFill>
                <a:effectLst/>
                <a:uFillTx/>
                <a:latin typeface="Segoe UI"/>
              </a:rPr>
              <a:t>Communes</a:t>
            </a:r>
            <a:endParaRPr lang="fr-FR" sz="1800" b="0" u="none" strike="noStrike">
              <a:solidFill>
                <a:srgbClr val="FFFFFF"/>
              </a:solidFill>
              <a:effectLst/>
              <a:uFillTx/>
              <a:latin typeface="Arial"/>
            </a:endParaRPr>
          </a:p>
        </p:txBody>
      </p:sp>
      <p:sp>
        <p:nvSpPr>
          <p:cNvPr id="137" name="TextBox 15"/>
          <p:cNvSpPr/>
          <p:nvPr/>
        </p:nvSpPr>
        <p:spPr>
          <a:xfrm>
            <a:off x="8229600" y="2011680"/>
            <a:ext cx="3108600" cy="82260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500" b="0" u="none" strike="noStrike">
                <a:solidFill>
                  <a:srgbClr val="111827"/>
                </a:solidFill>
                <a:effectLst/>
                <a:uFillTx/>
                <a:latin typeface="Segoe UI"/>
              </a:rPr>
              <a:t>Où se trouve le poste</a:t>
            </a:r>
            <a:endParaRPr lang="fr-FR" sz="1500" b="0" u="none" strike="noStrike">
              <a:solidFill>
                <a:srgbClr val="000000"/>
              </a:solidFill>
              <a:effectLst/>
              <a:uFillTx/>
              <a:latin typeface="Arial"/>
            </a:endParaRPr>
          </a:p>
        </p:txBody>
      </p:sp>
      <p:sp>
        <p:nvSpPr>
          <p:cNvPr id="138" name="Rounded Rectangle 16"/>
          <p:cNvSpPr/>
          <p:nvPr/>
        </p:nvSpPr>
        <p:spPr>
          <a:xfrm>
            <a:off x="548640" y="3108960"/>
            <a:ext cx="3474360" cy="1599840"/>
          </a:xfrm>
          <a:prstGeom prst="roundRect">
            <a:avLst>
              <a:gd name="adj" fmla="val 6857"/>
            </a:avLst>
          </a:prstGeom>
          <a:solidFill>
            <a:srgbClr val="FFFFFF"/>
          </a:solidFill>
          <a:ln w="15875">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39" name="Rounded Rectangle 17"/>
          <p:cNvSpPr/>
          <p:nvPr/>
        </p:nvSpPr>
        <p:spPr>
          <a:xfrm>
            <a:off x="548640" y="3108960"/>
            <a:ext cx="3474360" cy="594000"/>
          </a:xfrm>
          <a:prstGeom prst="roundRect">
            <a:avLst>
              <a:gd name="adj" fmla="val 18461"/>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800" b="1" u="none" strike="noStrike">
                <a:solidFill>
                  <a:srgbClr val="FFFFFF"/>
                </a:solidFill>
                <a:effectLst/>
                <a:uFillTx/>
                <a:latin typeface="Segoe UI"/>
              </a:rPr>
              <a:t>Métiers</a:t>
            </a:r>
            <a:endParaRPr lang="fr-FR" sz="1800" b="0" u="none" strike="noStrike">
              <a:solidFill>
                <a:srgbClr val="FFFFFF"/>
              </a:solidFill>
              <a:effectLst/>
              <a:uFillTx/>
              <a:latin typeface="Arial"/>
            </a:endParaRPr>
          </a:p>
        </p:txBody>
      </p:sp>
      <p:sp>
        <p:nvSpPr>
          <p:cNvPr id="140" name="TextBox 18"/>
          <p:cNvSpPr/>
          <p:nvPr/>
        </p:nvSpPr>
        <p:spPr>
          <a:xfrm>
            <a:off x="731520" y="3840480"/>
            <a:ext cx="3108600" cy="82260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500" b="0" u="none" strike="noStrike">
                <a:solidFill>
                  <a:srgbClr val="111827"/>
                </a:solidFill>
                <a:effectLst/>
                <a:uFillTx/>
                <a:latin typeface="Segoe UI"/>
              </a:rPr>
              <a:t>Le métier officiel et son secteur</a:t>
            </a:r>
            <a:endParaRPr lang="fr-FR" sz="1500" b="0" u="none" strike="noStrike">
              <a:solidFill>
                <a:srgbClr val="000000"/>
              </a:solidFill>
              <a:effectLst/>
              <a:uFillTx/>
              <a:latin typeface="Arial"/>
            </a:endParaRPr>
          </a:p>
        </p:txBody>
      </p:sp>
      <p:sp>
        <p:nvSpPr>
          <p:cNvPr id="141" name="Rounded Rectangle 19"/>
          <p:cNvSpPr/>
          <p:nvPr/>
        </p:nvSpPr>
        <p:spPr>
          <a:xfrm>
            <a:off x="4297680" y="3108960"/>
            <a:ext cx="3474360" cy="1599840"/>
          </a:xfrm>
          <a:prstGeom prst="roundRect">
            <a:avLst>
              <a:gd name="adj" fmla="val 6857"/>
            </a:avLst>
          </a:prstGeom>
          <a:solidFill>
            <a:srgbClr val="FFFFFF"/>
          </a:solidFill>
          <a:ln w="15875">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42" name="Rounded Rectangle 20"/>
          <p:cNvSpPr/>
          <p:nvPr/>
        </p:nvSpPr>
        <p:spPr>
          <a:xfrm>
            <a:off x="4297680" y="3108960"/>
            <a:ext cx="3474360" cy="594000"/>
          </a:xfrm>
          <a:prstGeom prst="roundRect">
            <a:avLst>
              <a:gd name="adj" fmla="val 18461"/>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800" b="1" u="none" strike="noStrike">
                <a:solidFill>
                  <a:srgbClr val="FFFFFF"/>
                </a:solidFill>
                <a:effectLst/>
                <a:uFillTx/>
                <a:latin typeface="Segoe UI"/>
              </a:rPr>
              <a:t>Compétences</a:t>
            </a:r>
            <a:endParaRPr lang="fr-FR" sz="1800" b="0" u="none" strike="noStrike">
              <a:solidFill>
                <a:srgbClr val="FFFFFF"/>
              </a:solidFill>
              <a:effectLst/>
              <a:uFillTx/>
              <a:latin typeface="Arial"/>
            </a:endParaRPr>
          </a:p>
        </p:txBody>
      </p:sp>
      <p:sp>
        <p:nvSpPr>
          <p:cNvPr id="143" name="TextBox 21"/>
          <p:cNvSpPr/>
          <p:nvPr/>
        </p:nvSpPr>
        <p:spPr>
          <a:xfrm>
            <a:off x="4480560" y="3840480"/>
            <a:ext cx="3108600" cy="82260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500" b="0" u="none" strike="noStrike">
                <a:solidFill>
                  <a:srgbClr val="111827"/>
                </a:solidFill>
                <a:effectLst/>
                <a:uFillTx/>
                <a:latin typeface="Segoe UI"/>
              </a:rPr>
              <a:t>Ce que le poste demande de savoir faire</a:t>
            </a:r>
            <a:endParaRPr lang="fr-FR" sz="1500" b="0" u="none" strike="noStrike">
              <a:solidFill>
                <a:srgbClr val="000000"/>
              </a:solidFill>
              <a:effectLst/>
              <a:uFillTx/>
              <a:latin typeface="Arial"/>
            </a:endParaRPr>
          </a:p>
        </p:txBody>
      </p:sp>
      <p:sp>
        <p:nvSpPr>
          <p:cNvPr id="144" name="Rounded Rectangle 22"/>
          <p:cNvSpPr/>
          <p:nvPr/>
        </p:nvSpPr>
        <p:spPr>
          <a:xfrm>
            <a:off x="8046720" y="3108960"/>
            <a:ext cx="3474360" cy="1599840"/>
          </a:xfrm>
          <a:prstGeom prst="roundRect">
            <a:avLst>
              <a:gd name="adj" fmla="val 6857"/>
            </a:avLst>
          </a:prstGeom>
          <a:solidFill>
            <a:srgbClr val="FFFFFF"/>
          </a:solidFill>
          <a:ln w="15875">
            <a:solidFill>
              <a:srgbClr val="16A34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45" name="Rounded Rectangle 23"/>
          <p:cNvSpPr/>
          <p:nvPr/>
        </p:nvSpPr>
        <p:spPr>
          <a:xfrm>
            <a:off x="8046720" y="3108960"/>
            <a:ext cx="3474360" cy="594000"/>
          </a:xfrm>
          <a:prstGeom prst="roundRect">
            <a:avLst>
              <a:gd name="adj" fmla="val 18461"/>
            </a:avLst>
          </a:prstGeom>
          <a:solidFill>
            <a:srgbClr val="16A3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800" b="1" u="none" strike="noStrike">
                <a:solidFill>
                  <a:srgbClr val="FFFFFF"/>
                </a:solidFill>
                <a:effectLst/>
                <a:uFillTx/>
                <a:latin typeface="Segoe UI"/>
              </a:rPr>
              <a:t>Liens offre ↔ compétence</a:t>
            </a:r>
            <a:endParaRPr lang="fr-FR" sz="1800" b="0" u="none" strike="noStrike">
              <a:solidFill>
                <a:srgbClr val="FFFFFF"/>
              </a:solidFill>
              <a:effectLst/>
              <a:uFillTx/>
              <a:latin typeface="Arial"/>
            </a:endParaRPr>
          </a:p>
        </p:txBody>
      </p:sp>
      <p:sp>
        <p:nvSpPr>
          <p:cNvPr id="146" name="TextBox 24"/>
          <p:cNvSpPr/>
          <p:nvPr/>
        </p:nvSpPr>
        <p:spPr>
          <a:xfrm>
            <a:off x="8229600" y="3840480"/>
            <a:ext cx="3108600" cy="82260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500" b="0" u="none" strike="noStrike">
                <a:solidFill>
                  <a:srgbClr val="111827"/>
                </a:solidFill>
                <a:effectLst/>
                <a:uFillTx/>
                <a:latin typeface="Segoe UI"/>
              </a:rPr>
              <a:t>Compétence exigée ou simplement souhaitée</a:t>
            </a:r>
            <a:endParaRPr lang="fr-FR" sz="1500" b="0" u="none" strike="noStrike">
              <a:solidFill>
                <a:srgbClr val="000000"/>
              </a:solidFill>
              <a:effectLst/>
              <a:uFillTx/>
              <a:latin typeface="Arial"/>
            </a:endParaRPr>
          </a:p>
        </p:txBody>
      </p:sp>
      <p:sp>
        <p:nvSpPr>
          <p:cNvPr id="147" name="Rounded Rectangle 25"/>
          <p:cNvSpPr/>
          <p:nvPr/>
        </p:nvSpPr>
        <p:spPr>
          <a:xfrm>
            <a:off x="548640" y="5120640"/>
            <a:ext cx="11063880" cy="1188360"/>
          </a:xfrm>
          <a:prstGeom prst="roundRect">
            <a:avLst>
              <a:gd name="adj" fmla="val 9230"/>
            </a:avLst>
          </a:prstGeom>
          <a:solidFill>
            <a:srgbClr val="EFF6FF"/>
          </a:solidFill>
          <a:ln w="15875">
            <a:solidFill>
              <a:srgbClr val="16A34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800" b="1" u="none" strike="noStrike">
                <a:solidFill>
                  <a:srgbClr val="111827"/>
                </a:solidFill>
                <a:effectLst/>
                <a:uFillTx/>
                <a:latin typeface="Segoe UI"/>
              </a:rPr>
              <a:t>Chaque information n'est écrite qu'une seule fois</a:t>
            </a:r>
            <a:endParaRPr lang="fr-FR" sz="1800" b="0" u="none" strike="noStrike">
              <a:solidFill>
                <a:srgbClr val="000000"/>
              </a:solidFill>
              <a:effectLst/>
              <a:uFillTx/>
              <a:latin typeface="Arial"/>
            </a:endParaRPr>
          </a:p>
          <a:p>
            <a:pPr algn="ctr" defTabSz="457200">
              <a:lnSpc>
                <a:spcPct val="100000"/>
              </a:lnSpc>
            </a:pPr>
            <a:r>
              <a:rPr lang="en-US" sz="1500" b="0" u="none" strike="noStrike">
                <a:solidFill>
                  <a:srgbClr val="111827"/>
                </a:solidFill>
                <a:effectLst/>
                <a:uFillTx/>
                <a:latin typeface="Segoe UI"/>
              </a:rPr>
              <a:t>→ pas de doublon, pas de contradiction, des recherches rapides</a:t>
            </a:r>
            <a:endParaRPr lang="fr-FR"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Rectangle 1"/>
          <p:cNvSpPr/>
          <p:nvPr/>
        </p:nvSpPr>
        <p:spPr>
          <a:xfrm>
            <a:off x="0" y="0"/>
            <a:ext cx="12191400" cy="959760"/>
          </a:xfrm>
          <a:prstGeom prst="rect">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49" name="TextBox 2"/>
          <p:cNvSpPr/>
          <p:nvPr/>
        </p:nvSpPr>
        <p:spPr>
          <a:xfrm>
            <a:off x="457200" y="164520"/>
            <a:ext cx="8960760" cy="68544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2800" b="1" u="none" strike="noStrike">
                <a:solidFill>
                  <a:srgbClr val="FFFFFF"/>
                </a:solidFill>
                <a:effectLst/>
                <a:uFillTx/>
                <a:latin typeface="Segoe UI"/>
              </a:rPr>
              <a:t>TP1 : comment les tiroirs sont reliés</a:t>
            </a:r>
            <a:endParaRPr lang="fr-FR" sz="2800" b="0" u="none" strike="noStrike">
              <a:solidFill>
                <a:srgbClr val="000000"/>
              </a:solidFill>
              <a:effectLst/>
              <a:uFillTx/>
              <a:latin typeface="Arial"/>
            </a:endParaRPr>
          </a:p>
        </p:txBody>
      </p:sp>
      <p:sp>
        <p:nvSpPr>
          <p:cNvPr id="150" name="TextBox 3"/>
          <p:cNvSpPr/>
          <p:nvPr/>
        </p:nvSpPr>
        <p:spPr>
          <a:xfrm>
            <a:off x="8961120" y="274320"/>
            <a:ext cx="2925720" cy="45684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300" b="0" u="none" strike="noStrike">
                <a:solidFill>
                  <a:srgbClr val="BFDBFE"/>
                </a:solidFill>
                <a:effectLst/>
                <a:uFillTx/>
                <a:latin typeface="Segoe UI"/>
              </a:rPr>
              <a:t>TP1 — Organiser</a:t>
            </a:r>
            <a:endParaRPr lang="fr-FR" sz="1300" b="0" u="none" strike="noStrike">
              <a:solidFill>
                <a:srgbClr val="000000"/>
              </a:solidFill>
              <a:effectLst/>
              <a:uFillTx/>
              <a:latin typeface="Arial"/>
            </a:endParaRPr>
          </a:p>
        </p:txBody>
      </p:sp>
      <p:sp>
        <p:nvSpPr>
          <p:cNvPr id="151" name="Rectangle 4"/>
          <p:cNvSpPr/>
          <p:nvPr/>
        </p:nvSpPr>
        <p:spPr>
          <a:xfrm>
            <a:off x="0" y="6583680"/>
            <a:ext cx="12191400" cy="273960"/>
          </a:xfrm>
          <a:prstGeom prst="rect">
            <a:avLst/>
          </a:prstGeom>
          <a:solidFill>
            <a:srgbClr val="EFF6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52" name="TextBox 5"/>
          <p:cNvSpPr/>
          <p:nvPr/>
        </p:nvSpPr>
        <p:spPr>
          <a:xfrm>
            <a:off x="457200" y="6583680"/>
            <a:ext cx="8229240" cy="27396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000" b="0" u="none" strike="noStrike">
                <a:solidFill>
                  <a:srgbClr val="6B7280"/>
                </a:solidFill>
                <a:effectLst/>
                <a:uFillTx/>
                <a:latin typeface="Segoe UI"/>
              </a:rPr>
              <a:t>Des offres d'emploi brutes à une plateforme de données fiable  •  Théo Mousnier</a:t>
            </a:r>
            <a:endParaRPr lang="fr-FR" sz="1000" b="0" u="none" strike="noStrike">
              <a:solidFill>
                <a:srgbClr val="000000"/>
              </a:solidFill>
              <a:effectLst/>
              <a:uFillTx/>
              <a:latin typeface="Arial"/>
            </a:endParaRPr>
          </a:p>
        </p:txBody>
      </p:sp>
      <p:sp>
        <p:nvSpPr>
          <p:cNvPr id="153" name="TextBox 6"/>
          <p:cNvSpPr/>
          <p:nvPr/>
        </p:nvSpPr>
        <p:spPr>
          <a:xfrm>
            <a:off x="10789920" y="6583680"/>
            <a:ext cx="1005480" cy="27396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000" b="0" u="none" strike="noStrike">
                <a:solidFill>
                  <a:srgbClr val="6B7280"/>
                </a:solidFill>
                <a:effectLst/>
                <a:uFillTx/>
                <a:latin typeface="Segoe UI"/>
              </a:rPr>
              <a:t>6 / 16</a:t>
            </a:r>
            <a:endParaRPr lang="fr-FR" sz="1000" b="0" u="none" strike="noStrike">
              <a:solidFill>
                <a:srgbClr val="000000"/>
              </a:solidFill>
              <a:effectLst/>
              <a:uFillTx/>
              <a:latin typeface="Arial"/>
            </a:endParaRPr>
          </a:p>
        </p:txBody>
      </p:sp>
      <p:sp>
        <p:nvSpPr>
          <p:cNvPr id="154" name="Rounded Rectangle 7"/>
          <p:cNvSpPr/>
          <p:nvPr/>
        </p:nvSpPr>
        <p:spPr>
          <a:xfrm>
            <a:off x="4937760" y="3017520"/>
            <a:ext cx="2285640" cy="1096920"/>
          </a:xfrm>
          <a:prstGeom prst="roundRect">
            <a:avLst>
              <a:gd name="adj" fmla="val 10000"/>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2000" b="1" u="none" strike="noStrike">
                <a:solidFill>
                  <a:srgbClr val="FFFFFF"/>
                </a:solidFill>
                <a:effectLst/>
                <a:uFillTx/>
                <a:latin typeface="Segoe UI"/>
              </a:rPr>
              <a:t>Une offre</a:t>
            </a:r>
            <a:endParaRPr lang="fr-FR" sz="2000" b="0" u="none" strike="noStrike">
              <a:solidFill>
                <a:srgbClr val="FFFFFF"/>
              </a:solidFill>
              <a:effectLst/>
              <a:uFillTx/>
              <a:latin typeface="Arial"/>
            </a:endParaRPr>
          </a:p>
        </p:txBody>
      </p:sp>
      <p:sp>
        <p:nvSpPr>
          <p:cNvPr id="155" name="Rounded Rectangle 8"/>
          <p:cNvSpPr/>
          <p:nvPr/>
        </p:nvSpPr>
        <p:spPr>
          <a:xfrm>
            <a:off x="640080" y="1280160"/>
            <a:ext cx="2559960" cy="1005480"/>
          </a:xfrm>
          <a:prstGeom prst="roundRect">
            <a:avLst>
              <a:gd name="adj" fmla="val 10909"/>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600" b="1" u="none" strike="noStrike">
                <a:solidFill>
                  <a:srgbClr val="FFFFFF"/>
                </a:solidFill>
                <a:effectLst/>
                <a:uFillTx/>
                <a:latin typeface="Segoe UI"/>
              </a:rPr>
              <a:t>Entreprise</a:t>
            </a:r>
            <a:endParaRPr lang="fr-FR" sz="1600" b="0" u="none" strike="noStrike">
              <a:solidFill>
                <a:srgbClr val="FFFFFF"/>
              </a:solidFill>
              <a:effectLst/>
              <a:uFillTx/>
              <a:latin typeface="Arial"/>
            </a:endParaRPr>
          </a:p>
          <a:p>
            <a:pPr algn="ctr" defTabSz="457200">
              <a:lnSpc>
                <a:spcPct val="100000"/>
              </a:lnSpc>
            </a:pPr>
            <a:r>
              <a:rPr lang="en-US" sz="1300" b="0" u="none" strike="noStrike">
                <a:solidFill>
                  <a:srgbClr val="FFFFFF"/>
                </a:solidFill>
                <a:effectLst/>
                <a:uFillTx/>
                <a:latin typeface="Segoe UI"/>
              </a:rPr>
              <a:t>1 seule entreprise</a:t>
            </a:r>
            <a:endParaRPr lang="fr-FR" sz="1300" b="0" u="none" strike="noStrike">
              <a:solidFill>
                <a:srgbClr val="FFFFFF"/>
              </a:solidFill>
              <a:effectLst/>
              <a:uFillTx/>
              <a:latin typeface="Arial"/>
            </a:endParaRPr>
          </a:p>
        </p:txBody>
      </p:sp>
      <p:cxnSp>
        <p:nvCxnSpPr>
          <p:cNvPr id="156" name="Connector 9"/>
          <p:cNvCxnSpPr/>
          <p:nvPr/>
        </p:nvCxnSpPr>
        <p:spPr>
          <a:xfrm flipH="1" flipV="1">
            <a:off x="3200400" y="1783080"/>
            <a:ext cx="1737720" cy="1783440"/>
          </a:xfrm>
          <a:prstGeom prst="straightConnector1">
            <a:avLst/>
          </a:prstGeom>
          <a:ln>
            <a:solidFill>
              <a:srgbClr val="6B7280"/>
            </a:solidFill>
            <a:round/>
            <a:tailEnd len="med" type="triangle" w="med"/>
          </a:ln>
        </p:spPr>
      </p:cxnSp>
      <p:sp>
        <p:nvSpPr>
          <p:cNvPr id="157" name="Rounded Rectangle 10"/>
          <p:cNvSpPr/>
          <p:nvPr/>
        </p:nvSpPr>
        <p:spPr>
          <a:xfrm>
            <a:off x="640080" y="3017520"/>
            <a:ext cx="2559960" cy="1005480"/>
          </a:xfrm>
          <a:prstGeom prst="roundRect">
            <a:avLst>
              <a:gd name="adj" fmla="val 10909"/>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600" b="1" u="none" strike="noStrike">
                <a:solidFill>
                  <a:srgbClr val="FFFFFF"/>
                </a:solidFill>
                <a:effectLst/>
                <a:uFillTx/>
                <a:latin typeface="Segoe UI"/>
              </a:rPr>
              <a:t>Commune</a:t>
            </a:r>
            <a:endParaRPr lang="fr-FR" sz="1600" b="0" u="none" strike="noStrike">
              <a:solidFill>
                <a:srgbClr val="FFFFFF"/>
              </a:solidFill>
              <a:effectLst/>
              <a:uFillTx/>
              <a:latin typeface="Arial"/>
            </a:endParaRPr>
          </a:p>
          <a:p>
            <a:pPr algn="ctr" defTabSz="457200">
              <a:lnSpc>
                <a:spcPct val="100000"/>
              </a:lnSpc>
            </a:pPr>
            <a:r>
              <a:rPr lang="en-US" sz="1300" b="0" u="none" strike="noStrike">
                <a:solidFill>
                  <a:srgbClr val="FFFFFF"/>
                </a:solidFill>
                <a:effectLst/>
                <a:uFillTx/>
                <a:latin typeface="Segoe UI"/>
              </a:rPr>
              <a:t>1 seule commune</a:t>
            </a:r>
            <a:endParaRPr lang="fr-FR" sz="1300" b="0" u="none" strike="noStrike">
              <a:solidFill>
                <a:srgbClr val="FFFFFF"/>
              </a:solidFill>
              <a:effectLst/>
              <a:uFillTx/>
              <a:latin typeface="Arial"/>
            </a:endParaRPr>
          </a:p>
        </p:txBody>
      </p:sp>
      <p:cxnSp>
        <p:nvCxnSpPr>
          <p:cNvPr id="158" name="Connector 11"/>
          <p:cNvCxnSpPr/>
          <p:nvPr/>
        </p:nvCxnSpPr>
        <p:spPr>
          <a:xfrm flipH="1" flipV="1">
            <a:off x="3200400" y="3520080"/>
            <a:ext cx="1737720" cy="46440"/>
          </a:xfrm>
          <a:prstGeom prst="straightConnector1">
            <a:avLst/>
          </a:prstGeom>
          <a:ln>
            <a:solidFill>
              <a:srgbClr val="6B7280"/>
            </a:solidFill>
            <a:round/>
            <a:tailEnd len="med" type="triangle" w="med"/>
          </a:ln>
        </p:spPr>
      </p:cxnSp>
      <p:sp>
        <p:nvSpPr>
          <p:cNvPr id="159" name="Rounded Rectangle 12"/>
          <p:cNvSpPr/>
          <p:nvPr/>
        </p:nvSpPr>
        <p:spPr>
          <a:xfrm>
            <a:off x="640080" y="4754880"/>
            <a:ext cx="2559960" cy="1005480"/>
          </a:xfrm>
          <a:prstGeom prst="roundRect">
            <a:avLst>
              <a:gd name="adj" fmla="val 10909"/>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600" b="1" u="none" strike="noStrike">
                <a:solidFill>
                  <a:srgbClr val="FFFFFF"/>
                </a:solidFill>
                <a:effectLst/>
                <a:uFillTx/>
                <a:latin typeface="Segoe UI"/>
              </a:rPr>
              <a:t>Métier</a:t>
            </a:r>
            <a:endParaRPr lang="fr-FR" sz="1600" b="0" u="none" strike="noStrike">
              <a:solidFill>
                <a:srgbClr val="FFFFFF"/>
              </a:solidFill>
              <a:effectLst/>
              <a:uFillTx/>
              <a:latin typeface="Arial"/>
            </a:endParaRPr>
          </a:p>
          <a:p>
            <a:pPr algn="ctr" defTabSz="457200">
              <a:lnSpc>
                <a:spcPct val="100000"/>
              </a:lnSpc>
            </a:pPr>
            <a:r>
              <a:rPr lang="en-US" sz="1300" b="0" u="none" strike="noStrike">
                <a:solidFill>
                  <a:srgbClr val="FFFFFF"/>
                </a:solidFill>
                <a:effectLst/>
                <a:uFillTx/>
                <a:latin typeface="Segoe UI"/>
              </a:rPr>
              <a:t>1 seul métier</a:t>
            </a:r>
            <a:endParaRPr lang="fr-FR" sz="1300" b="0" u="none" strike="noStrike">
              <a:solidFill>
                <a:srgbClr val="FFFFFF"/>
              </a:solidFill>
              <a:effectLst/>
              <a:uFillTx/>
              <a:latin typeface="Arial"/>
            </a:endParaRPr>
          </a:p>
        </p:txBody>
      </p:sp>
      <p:cxnSp>
        <p:nvCxnSpPr>
          <p:cNvPr id="160" name="Connector 13"/>
          <p:cNvCxnSpPr/>
          <p:nvPr/>
        </p:nvCxnSpPr>
        <p:spPr>
          <a:xfrm flipH="1">
            <a:off x="3200400" y="3566160"/>
            <a:ext cx="1737720" cy="1692000"/>
          </a:xfrm>
          <a:prstGeom prst="straightConnector1">
            <a:avLst/>
          </a:prstGeom>
          <a:ln>
            <a:solidFill>
              <a:srgbClr val="6B7280"/>
            </a:solidFill>
            <a:round/>
            <a:tailEnd len="med" type="triangle" w="med"/>
          </a:ln>
        </p:spPr>
      </p:cxnSp>
      <p:sp>
        <p:nvSpPr>
          <p:cNvPr id="161" name="Rounded Rectangle 14"/>
          <p:cNvSpPr/>
          <p:nvPr/>
        </p:nvSpPr>
        <p:spPr>
          <a:xfrm>
            <a:off x="9144000" y="3017520"/>
            <a:ext cx="2559960" cy="1096920"/>
          </a:xfrm>
          <a:prstGeom prst="roundRect">
            <a:avLst>
              <a:gd name="adj" fmla="val 10000"/>
            </a:avLst>
          </a:prstGeom>
          <a:solidFill>
            <a:srgbClr val="16A3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600" b="1" u="none" strike="noStrike">
                <a:solidFill>
                  <a:srgbClr val="FFFFFF"/>
                </a:solidFill>
                <a:effectLst/>
                <a:uFillTx/>
                <a:latin typeface="Segoe UI"/>
              </a:rPr>
              <a:t>Compétences</a:t>
            </a:r>
            <a:endParaRPr lang="fr-FR" sz="1600" b="0" u="none" strike="noStrike">
              <a:solidFill>
                <a:srgbClr val="FFFFFF"/>
              </a:solidFill>
              <a:effectLst/>
              <a:uFillTx/>
              <a:latin typeface="Arial"/>
            </a:endParaRPr>
          </a:p>
          <a:p>
            <a:pPr algn="ctr" defTabSz="457200">
              <a:lnSpc>
                <a:spcPct val="100000"/>
              </a:lnSpc>
            </a:pPr>
            <a:r>
              <a:rPr lang="en-US" sz="1300" b="0" u="none" strike="noStrike">
                <a:solidFill>
                  <a:srgbClr val="FFFFFF"/>
                </a:solidFill>
                <a:effectLst/>
                <a:uFillTx/>
                <a:latin typeface="Segoe UI"/>
              </a:rPr>
              <a:t>plusieurs par offre</a:t>
            </a:r>
            <a:endParaRPr lang="fr-FR" sz="1300" b="0" u="none" strike="noStrike">
              <a:solidFill>
                <a:srgbClr val="FFFFFF"/>
              </a:solidFill>
              <a:effectLst/>
              <a:uFillTx/>
              <a:latin typeface="Arial"/>
            </a:endParaRPr>
          </a:p>
        </p:txBody>
      </p:sp>
      <p:cxnSp>
        <p:nvCxnSpPr>
          <p:cNvPr id="162" name="Connector 15"/>
          <p:cNvCxnSpPr/>
          <p:nvPr/>
        </p:nvCxnSpPr>
        <p:spPr>
          <a:xfrm>
            <a:off x="7223760" y="3566160"/>
            <a:ext cx="1920600" cy="360"/>
          </a:xfrm>
          <a:prstGeom prst="straightConnector1">
            <a:avLst/>
          </a:prstGeom>
          <a:ln>
            <a:solidFill>
              <a:srgbClr val="6B7280"/>
            </a:solidFill>
            <a:round/>
            <a:tailEnd len="med" type="triangle" w="med"/>
          </a:ln>
        </p:spPr>
      </p:cxnSp>
      <p:sp>
        <p:nvSpPr>
          <p:cNvPr id="163" name="TextBox 16"/>
          <p:cNvSpPr/>
          <p:nvPr/>
        </p:nvSpPr>
        <p:spPr>
          <a:xfrm>
            <a:off x="7315200" y="4297680"/>
            <a:ext cx="4480200" cy="1462680"/>
          </a:xfrm>
          <a:prstGeom prst="rect">
            <a:avLst/>
          </a:prstGeom>
          <a:noFill/>
          <a:ln w="0">
            <a:noFill/>
          </a:ln>
        </p:spPr>
        <p:style>
          <a:lnRef idx="0"/>
          <a:fillRef idx="0"/>
          <a:effectRef idx="0"/>
          <a:fontRef idx="minor"/>
        </p:style>
        <p:txBody>
          <a:bodyPr lIns="45720" tIns="45000" rIns="45720" bIns="45000" anchor="t">
            <a:spAutoFit/>
          </a:bodyPr>
          <a:p>
            <a:pPr defTabSz="457200">
              <a:lnSpc>
                <a:spcPct val="100000"/>
              </a:lnSpc>
            </a:pPr>
            <a:r>
              <a:rPr lang="en-US" sz="1400" b="0" u="none" strike="noStrike">
                <a:solidFill>
                  <a:srgbClr val="6B7280"/>
                </a:solidFill>
                <a:effectLst/>
                <a:uFillTx/>
                <a:latin typeface="Segoe UI"/>
              </a:rPr>
              <a:t>Une offre demande plusieurs compétences,</a:t>
            </a:r>
            <a:endParaRPr lang="fr-FR" sz="1400" b="0" u="none" strike="noStrike">
              <a:solidFill>
                <a:srgbClr val="000000"/>
              </a:solidFill>
              <a:effectLst/>
              <a:uFillTx/>
              <a:latin typeface="Arial"/>
            </a:endParaRPr>
          </a:p>
          <a:p>
            <a:pPr defTabSz="457200">
              <a:lnSpc>
                <a:spcPct val="100000"/>
              </a:lnSpc>
            </a:pPr>
            <a:r>
              <a:rPr lang="en-US" sz="1400" b="0" u="none" strike="noStrike">
                <a:solidFill>
                  <a:srgbClr val="6B7280"/>
                </a:solidFill>
                <a:effectLst/>
                <a:uFillTx/>
                <a:latin typeface="Segoe UI"/>
              </a:rPr>
              <a:t>une compétence est demandée par plusieurs offres</a:t>
            </a:r>
            <a:endParaRPr lang="fr-FR" sz="1400" b="0" u="none" strike="noStrike">
              <a:solidFill>
                <a:srgbClr val="000000"/>
              </a:solidFill>
              <a:effectLst/>
              <a:uFillTx/>
              <a:latin typeface="Arial"/>
            </a:endParaRPr>
          </a:p>
          <a:p>
            <a:pPr defTabSz="457200">
              <a:lnSpc>
                <a:spcPct val="100000"/>
              </a:lnSpc>
            </a:pPr>
            <a:r>
              <a:rPr lang="en-US" sz="1400" b="0" u="none" strike="noStrike">
                <a:solidFill>
                  <a:srgbClr val="6B7280"/>
                </a:solidFill>
                <a:effectLst/>
                <a:uFillTx/>
                <a:latin typeface="Segoe UI"/>
              </a:rPr>
              <a:t>→ chacune marquée « exigée » ou « souhaitée »</a:t>
            </a:r>
            <a:endParaRPr lang="fr-FR"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Rectangle 1"/>
          <p:cNvSpPr/>
          <p:nvPr/>
        </p:nvSpPr>
        <p:spPr>
          <a:xfrm>
            <a:off x="0" y="0"/>
            <a:ext cx="12191400" cy="959760"/>
          </a:xfrm>
          <a:prstGeom prst="rect">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65" name="TextBox 2"/>
          <p:cNvSpPr/>
          <p:nvPr/>
        </p:nvSpPr>
        <p:spPr>
          <a:xfrm>
            <a:off x="457200" y="164520"/>
            <a:ext cx="8960760" cy="68544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2800" b="1" u="none" strike="noStrike">
                <a:solidFill>
                  <a:srgbClr val="FFFFFF"/>
                </a:solidFill>
                <a:effectLst/>
                <a:uFillTx/>
                <a:latin typeface="Segoe UI"/>
              </a:rPr>
              <a:t>TP2 : le pipeline en un coup d'œil</a:t>
            </a:r>
            <a:endParaRPr lang="fr-FR" sz="2800" b="0" u="none" strike="noStrike">
              <a:solidFill>
                <a:srgbClr val="000000"/>
              </a:solidFill>
              <a:effectLst/>
              <a:uFillTx/>
              <a:latin typeface="Arial"/>
            </a:endParaRPr>
          </a:p>
        </p:txBody>
      </p:sp>
      <p:sp>
        <p:nvSpPr>
          <p:cNvPr id="166" name="TextBox 3"/>
          <p:cNvSpPr/>
          <p:nvPr/>
        </p:nvSpPr>
        <p:spPr>
          <a:xfrm>
            <a:off x="8961120" y="274320"/>
            <a:ext cx="2925720" cy="45684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300" b="0" u="none" strike="noStrike">
                <a:solidFill>
                  <a:srgbClr val="BFDBFE"/>
                </a:solidFill>
                <a:effectLst/>
                <a:uFillTx/>
                <a:latin typeface="Segoe UI"/>
              </a:rPr>
              <a:t>TP2 — Automatiser</a:t>
            </a:r>
            <a:endParaRPr lang="fr-FR" sz="1300" b="0" u="none" strike="noStrike">
              <a:solidFill>
                <a:srgbClr val="000000"/>
              </a:solidFill>
              <a:effectLst/>
              <a:uFillTx/>
              <a:latin typeface="Arial"/>
            </a:endParaRPr>
          </a:p>
        </p:txBody>
      </p:sp>
      <p:sp>
        <p:nvSpPr>
          <p:cNvPr id="167" name="Rectangle 4"/>
          <p:cNvSpPr/>
          <p:nvPr/>
        </p:nvSpPr>
        <p:spPr>
          <a:xfrm>
            <a:off x="0" y="6583680"/>
            <a:ext cx="12191400" cy="273960"/>
          </a:xfrm>
          <a:prstGeom prst="rect">
            <a:avLst/>
          </a:prstGeom>
          <a:solidFill>
            <a:srgbClr val="EFF6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68" name="TextBox 5"/>
          <p:cNvSpPr/>
          <p:nvPr/>
        </p:nvSpPr>
        <p:spPr>
          <a:xfrm>
            <a:off x="457200" y="6583680"/>
            <a:ext cx="8229240" cy="27396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000" b="0" u="none" strike="noStrike">
                <a:solidFill>
                  <a:srgbClr val="6B7280"/>
                </a:solidFill>
                <a:effectLst/>
                <a:uFillTx/>
                <a:latin typeface="Segoe UI"/>
              </a:rPr>
              <a:t>Des offres d'emploi brutes à une plateforme de données fiable  •  Théo Mousnier</a:t>
            </a:r>
            <a:endParaRPr lang="fr-FR" sz="1000" b="0" u="none" strike="noStrike">
              <a:solidFill>
                <a:srgbClr val="000000"/>
              </a:solidFill>
              <a:effectLst/>
              <a:uFillTx/>
              <a:latin typeface="Arial"/>
            </a:endParaRPr>
          </a:p>
        </p:txBody>
      </p:sp>
      <p:sp>
        <p:nvSpPr>
          <p:cNvPr id="169" name="TextBox 6"/>
          <p:cNvSpPr/>
          <p:nvPr/>
        </p:nvSpPr>
        <p:spPr>
          <a:xfrm>
            <a:off x="10789920" y="6583680"/>
            <a:ext cx="1005480" cy="27396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000" b="0" u="none" strike="noStrike">
                <a:solidFill>
                  <a:srgbClr val="6B7280"/>
                </a:solidFill>
                <a:effectLst/>
                <a:uFillTx/>
                <a:latin typeface="Segoe UI"/>
              </a:rPr>
              <a:t>7 / 16</a:t>
            </a:r>
            <a:endParaRPr lang="fr-FR" sz="1000" b="0" u="none" strike="noStrike">
              <a:solidFill>
                <a:srgbClr val="000000"/>
              </a:solidFill>
              <a:effectLst/>
              <a:uFillTx/>
              <a:latin typeface="Arial"/>
            </a:endParaRPr>
          </a:p>
        </p:txBody>
      </p:sp>
      <p:sp>
        <p:nvSpPr>
          <p:cNvPr id="170" name="Rounded Rectangle 7"/>
          <p:cNvSpPr/>
          <p:nvPr/>
        </p:nvSpPr>
        <p:spPr>
          <a:xfrm>
            <a:off x="457200" y="2331720"/>
            <a:ext cx="1229400" cy="959760"/>
          </a:xfrm>
          <a:prstGeom prst="roundRect">
            <a:avLst>
              <a:gd name="adj" fmla="val 11428"/>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300" b="1" u="none" strike="noStrike">
                <a:solidFill>
                  <a:srgbClr val="FFFFFF"/>
                </a:solidFill>
                <a:effectLst/>
                <a:uFillTx/>
                <a:latin typeface="Segoe UI"/>
              </a:rPr>
              <a:t>France Travail</a:t>
            </a:r>
            <a:endParaRPr lang="fr-FR" sz="1300" b="0" u="none" strike="noStrike">
              <a:solidFill>
                <a:srgbClr val="FFFFFF"/>
              </a:solidFill>
              <a:effectLst/>
              <a:uFillTx/>
              <a:latin typeface="Arial"/>
            </a:endParaRPr>
          </a:p>
          <a:p>
            <a:pPr algn="ctr" defTabSz="457200">
              <a:lnSpc>
                <a:spcPct val="100000"/>
              </a:lnSpc>
            </a:pPr>
            <a:r>
              <a:rPr lang="en-US" sz="1000" b="0" u="none" strike="noStrike">
                <a:solidFill>
                  <a:srgbClr val="FFFFFF"/>
                </a:solidFill>
                <a:effectLst/>
                <a:uFillTx/>
                <a:latin typeface="Segoe UI"/>
              </a:rPr>
              <a:t>les offres</a:t>
            </a:r>
            <a:endParaRPr lang="fr-FR" sz="1000" b="0" u="none" strike="noStrike">
              <a:solidFill>
                <a:srgbClr val="FFFFFF"/>
              </a:solidFill>
              <a:effectLst/>
              <a:uFillTx/>
              <a:latin typeface="Arial"/>
            </a:endParaRPr>
          </a:p>
        </p:txBody>
      </p:sp>
      <p:sp>
        <p:nvSpPr>
          <p:cNvPr id="171" name="Rounded Rectangle 8"/>
          <p:cNvSpPr/>
          <p:nvPr/>
        </p:nvSpPr>
        <p:spPr>
          <a:xfrm>
            <a:off x="1888200" y="2331720"/>
            <a:ext cx="1229400" cy="959760"/>
          </a:xfrm>
          <a:prstGeom prst="roundRect">
            <a:avLst>
              <a:gd name="adj" fmla="val 11428"/>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300" b="1" u="none" strike="noStrike">
                <a:solidFill>
                  <a:srgbClr val="FFFFFF"/>
                </a:solidFill>
                <a:effectLst/>
                <a:uFillTx/>
                <a:latin typeface="Segoe UI"/>
              </a:rPr>
              <a:t>Collecteur</a:t>
            </a:r>
            <a:endParaRPr lang="fr-FR" sz="1300" b="0" u="none" strike="noStrike">
              <a:solidFill>
                <a:srgbClr val="FFFFFF"/>
              </a:solidFill>
              <a:effectLst/>
              <a:uFillTx/>
              <a:latin typeface="Arial"/>
            </a:endParaRPr>
          </a:p>
          <a:p>
            <a:pPr algn="ctr" defTabSz="457200">
              <a:lnSpc>
                <a:spcPct val="100000"/>
              </a:lnSpc>
            </a:pPr>
            <a:r>
              <a:rPr lang="en-US" sz="1000" b="0" u="none" strike="noStrike">
                <a:solidFill>
                  <a:srgbClr val="FFFFFF"/>
                </a:solidFill>
                <a:effectLst/>
                <a:uFillTx/>
                <a:latin typeface="Segoe UI"/>
              </a:rPr>
              <a:t>toutes les 15 min</a:t>
            </a:r>
            <a:endParaRPr lang="fr-FR" sz="1000" b="0" u="none" strike="noStrike">
              <a:solidFill>
                <a:srgbClr val="FFFFFF"/>
              </a:solidFill>
              <a:effectLst/>
              <a:uFillTx/>
              <a:latin typeface="Arial"/>
            </a:endParaRPr>
          </a:p>
        </p:txBody>
      </p:sp>
      <p:cxnSp>
        <p:nvCxnSpPr>
          <p:cNvPr id="172" name="Connector 9"/>
          <p:cNvCxnSpPr/>
          <p:nvPr/>
        </p:nvCxnSpPr>
        <p:spPr>
          <a:xfrm>
            <a:off x="1705320" y="2811600"/>
            <a:ext cx="164880" cy="360"/>
          </a:xfrm>
          <a:prstGeom prst="straightConnector1">
            <a:avLst/>
          </a:prstGeom>
          <a:ln>
            <a:solidFill>
              <a:srgbClr val="6B7280"/>
            </a:solidFill>
            <a:round/>
            <a:tailEnd len="med" type="triangle" w="med"/>
          </a:ln>
        </p:spPr>
      </p:cxnSp>
      <p:sp>
        <p:nvSpPr>
          <p:cNvPr id="173" name="Rounded Rectangle 10"/>
          <p:cNvSpPr/>
          <p:nvPr/>
        </p:nvSpPr>
        <p:spPr>
          <a:xfrm>
            <a:off x="3319200" y="2331720"/>
            <a:ext cx="1229400" cy="959760"/>
          </a:xfrm>
          <a:prstGeom prst="roundRect">
            <a:avLst>
              <a:gd name="adj" fmla="val 11428"/>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300" b="1" u="none" strike="noStrike">
                <a:solidFill>
                  <a:srgbClr val="FFFFFF"/>
                </a:solidFill>
                <a:effectLst/>
                <a:uFillTx/>
                <a:latin typeface="Segoe UI"/>
              </a:rPr>
              <a:t>Kafka</a:t>
            </a:r>
            <a:endParaRPr lang="fr-FR" sz="1300" b="0" u="none" strike="noStrike">
              <a:solidFill>
                <a:srgbClr val="FFFFFF"/>
              </a:solidFill>
              <a:effectLst/>
              <a:uFillTx/>
              <a:latin typeface="Arial"/>
            </a:endParaRPr>
          </a:p>
          <a:p>
            <a:pPr algn="ctr" defTabSz="457200">
              <a:lnSpc>
                <a:spcPct val="100000"/>
              </a:lnSpc>
            </a:pPr>
            <a:r>
              <a:rPr lang="en-US" sz="1000" b="0" u="none" strike="noStrike">
                <a:solidFill>
                  <a:srgbClr val="FFFFFF"/>
                </a:solidFill>
                <a:effectLst/>
                <a:uFillTx/>
                <a:latin typeface="Segoe UI"/>
              </a:rPr>
              <a:t>file d'attente</a:t>
            </a:r>
            <a:endParaRPr lang="fr-FR" sz="1000" b="0" u="none" strike="noStrike">
              <a:solidFill>
                <a:srgbClr val="FFFFFF"/>
              </a:solidFill>
              <a:effectLst/>
              <a:uFillTx/>
              <a:latin typeface="Arial"/>
            </a:endParaRPr>
          </a:p>
        </p:txBody>
      </p:sp>
      <p:cxnSp>
        <p:nvCxnSpPr>
          <p:cNvPr id="174" name="Connector 11"/>
          <p:cNvCxnSpPr/>
          <p:nvPr/>
        </p:nvCxnSpPr>
        <p:spPr>
          <a:xfrm>
            <a:off x="3136320" y="2811600"/>
            <a:ext cx="164880" cy="360"/>
          </a:xfrm>
          <a:prstGeom prst="straightConnector1">
            <a:avLst/>
          </a:prstGeom>
          <a:ln>
            <a:solidFill>
              <a:srgbClr val="6B7280"/>
            </a:solidFill>
            <a:round/>
            <a:tailEnd len="med" type="triangle" w="med"/>
          </a:ln>
        </p:spPr>
      </p:cxnSp>
      <p:sp>
        <p:nvSpPr>
          <p:cNvPr id="175" name="Rounded Rectangle 12"/>
          <p:cNvSpPr/>
          <p:nvPr/>
        </p:nvSpPr>
        <p:spPr>
          <a:xfrm>
            <a:off x="4750200" y="2331720"/>
            <a:ext cx="1229400" cy="959760"/>
          </a:xfrm>
          <a:prstGeom prst="roundRect">
            <a:avLst>
              <a:gd name="adj" fmla="val 11428"/>
            </a:avLst>
          </a:prstGeom>
          <a:solidFill>
            <a:srgbClr val="16A3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300" b="1" u="none" strike="noStrike">
                <a:solidFill>
                  <a:srgbClr val="FFFFFF"/>
                </a:solidFill>
                <a:effectLst/>
                <a:uFillTx/>
                <a:latin typeface="Segoe UI"/>
              </a:rPr>
              <a:t>Agrégateur</a:t>
            </a:r>
            <a:endParaRPr lang="fr-FR" sz="1300" b="0" u="none" strike="noStrike">
              <a:solidFill>
                <a:srgbClr val="FFFFFF"/>
              </a:solidFill>
              <a:effectLst/>
              <a:uFillTx/>
              <a:latin typeface="Arial"/>
            </a:endParaRPr>
          </a:p>
          <a:p>
            <a:pPr algn="ctr" defTabSz="457200">
              <a:lnSpc>
                <a:spcPct val="100000"/>
              </a:lnSpc>
            </a:pPr>
            <a:r>
              <a:rPr lang="en-US" sz="1000" b="0" u="none" strike="noStrike">
                <a:solidFill>
                  <a:srgbClr val="FFFFFF"/>
                </a:solidFill>
                <a:effectLst/>
                <a:uFillTx/>
                <a:latin typeface="Segoe UI"/>
              </a:rPr>
              <a:t>+ communes</a:t>
            </a:r>
            <a:endParaRPr lang="fr-FR" sz="1000" b="0" u="none" strike="noStrike">
              <a:solidFill>
                <a:srgbClr val="FFFFFF"/>
              </a:solidFill>
              <a:effectLst/>
              <a:uFillTx/>
              <a:latin typeface="Arial"/>
            </a:endParaRPr>
          </a:p>
        </p:txBody>
      </p:sp>
      <p:cxnSp>
        <p:nvCxnSpPr>
          <p:cNvPr id="176" name="Connector 13"/>
          <p:cNvCxnSpPr/>
          <p:nvPr/>
        </p:nvCxnSpPr>
        <p:spPr>
          <a:xfrm>
            <a:off x="4567320" y="2811600"/>
            <a:ext cx="164880" cy="360"/>
          </a:xfrm>
          <a:prstGeom prst="straightConnector1">
            <a:avLst/>
          </a:prstGeom>
          <a:ln>
            <a:solidFill>
              <a:srgbClr val="6B7280"/>
            </a:solidFill>
            <a:round/>
            <a:tailEnd len="med" type="triangle" w="med"/>
          </a:ln>
        </p:spPr>
      </p:cxnSp>
      <p:sp>
        <p:nvSpPr>
          <p:cNvPr id="177" name="Rounded Rectangle 14"/>
          <p:cNvSpPr/>
          <p:nvPr/>
        </p:nvSpPr>
        <p:spPr>
          <a:xfrm>
            <a:off x="6181200" y="2331720"/>
            <a:ext cx="1229400" cy="959760"/>
          </a:xfrm>
          <a:prstGeom prst="roundRect">
            <a:avLst>
              <a:gd name="adj" fmla="val 11428"/>
            </a:avLst>
          </a:prstGeom>
          <a:solidFill>
            <a:srgbClr val="EA58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300" b="1" u="none" strike="noStrike">
                <a:solidFill>
                  <a:srgbClr val="FFFFFF"/>
                </a:solidFill>
                <a:effectLst/>
                <a:uFillTx/>
                <a:latin typeface="Segoe UI"/>
              </a:rPr>
              <a:t>Data Lake</a:t>
            </a:r>
            <a:endParaRPr lang="fr-FR" sz="1300" b="0" u="none" strike="noStrike">
              <a:solidFill>
                <a:srgbClr val="FFFFFF"/>
              </a:solidFill>
              <a:effectLst/>
              <a:uFillTx/>
              <a:latin typeface="Arial"/>
            </a:endParaRPr>
          </a:p>
          <a:p>
            <a:pPr algn="ctr" defTabSz="457200">
              <a:lnSpc>
                <a:spcPct val="100000"/>
              </a:lnSpc>
            </a:pPr>
            <a:r>
              <a:rPr lang="en-US" sz="1000" b="0" u="none" strike="noStrike">
                <a:solidFill>
                  <a:srgbClr val="FFFFFF"/>
                </a:solidFill>
                <a:effectLst/>
                <a:uFillTx/>
                <a:latin typeface="Segoe UI"/>
              </a:rPr>
              <a:t>archives</a:t>
            </a:r>
            <a:endParaRPr lang="fr-FR" sz="1000" b="0" u="none" strike="noStrike">
              <a:solidFill>
                <a:srgbClr val="FFFFFF"/>
              </a:solidFill>
              <a:effectLst/>
              <a:uFillTx/>
              <a:latin typeface="Arial"/>
            </a:endParaRPr>
          </a:p>
        </p:txBody>
      </p:sp>
      <p:cxnSp>
        <p:nvCxnSpPr>
          <p:cNvPr id="178" name="Connector 15"/>
          <p:cNvCxnSpPr/>
          <p:nvPr/>
        </p:nvCxnSpPr>
        <p:spPr>
          <a:xfrm>
            <a:off x="5998320" y="2811600"/>
            <a:ext cx="164880" cy="360"/>
          </a:xfrm>
          <a:prstGeom prst="straightConnector1">
            <a:avLst/>
          </a:prstGeom>
          <a:ln>
            <a:solidFill>
              <a:srgbClr val="6B7280"/>
            </a:solidFill>
            <a:round/>
            <a:tailEnd len="med" type="triangle" w="med"/>
          </a:ln>
        </p:spPr>
      </p:cxnSp>
      <p:sp>
        <p:nvSpPr>
          <p:cNvPr id="179" name="Rounded Rectangle 16"/>
          <p:cNvSpPr/>
          <p:nvPr/>
        </p:nvSpPr>
        <p:spPr>
          <a:xfrm>
            <a:off x="7612560" y="2331720"/>
            <a:ext cx="1229400" cy="959760"/>
          </a:xfrm>
          <a:prstGeom prst="roundRect">
            <a:avLst>
              <a:gd name="adj" fmla="val 11428"/>
            </a:avLst>
          </a:prstGeom>
          <a:solidFill>
            <a:srgbClr val="DC26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300" b="1" u="none" strike="noStrike">
                <a:solidFill>
                  <a:srgbClr val="FFFFFF"/>
                </a:solidFill>
                <a:effectLst/>
                <a:uFillTx/>
                <a:latin typeface="Segoe UI"/>
              </a:rPr>
              <a:t>PySpark</a:t>
            </a:r>
            <a:endParaRPr lang="fr-FR" sz="1300" b="0" u="none" strike="noStrike">
              <a:solidFill>
                <a:srgbClr val="FFFFFF"/>
              </a:solidFill>
              <a:effectLst/>
              <a:uFillTx/>
              <a:latin typeface="Arial"/>
            </a:endParaRPr>
          </a:p>
          <a:p>
            <a:pPr algn="ctr" defTabSz="457200">
              <a:lnSpc>
                <a:spcPct val="100000"/>
              </a:lnSpc>
            </a:pPr>
            <a:r>
              <a:rPr lang="en-US" sz="1000" b="0" u="none" strike="noStrike">
                <a:solidFill>
                  <a:srgbClr val="FFFFFF"/>
                </a:solidFill>
                <a:effectLst/>
                <a:uFillTx/>
                <a:latin typeface="Segoe UI"/>
              </a:rPr>
              <a:t>toutes les 30 min</a:t>
            </a:r>
            <a:endParaRPr lang="fr-FR" sz="1000" b="0" u="none" strike="noStrike">
              <a:solidFill>
                <a:srgbClr val="FFFFFF"/>
              </a:solidFill>
              <a:effectLst/>
              <a:uFillTx/>
              <a:latin typeface="Arial"/>
            </a:endParaRPr>
          </a:p>
        </p:txBody>
      </p:sp>
      <p:cxnSp>
        <p:nvCxnSpPr>
          <p:cNvPr id="180" name="Connector 17"/>
          <p:cNvCxnSpPr/>
          <p:nvPr/>
        </p:nvCxnSpPr>
        <p:spPr>
          <a:xfrm>
            <a:off x="7429320" y="2811600"/>
            <a:ext cx="164880" cy="360"/>
          </a:xfrm>
          <a:prstGeom prst="straightConnector1">
            <a:avLst/>
          </a:prstGeom>
          <a:ln>
            <a:solidFill>
              <a:srgbClr val="6B7280"/>
            </a:solidFill>
            <a:round/>
            <a:tailEnd len="med" type="triangle" w="med"/>
          </a:ln>
        </p:spPr>
      </p:cxnSp>
      <p:sp>
        <p:nvSpPr>
          <p:cNvPr id="181" name="Rounded Rectangle 18"/>
          <p:cNvSpPr/>
          <p:nvPr/>
        </p:nvSpPr>
        <p:spPr>
          <a:xfrm>
            <a:off x="9043560" y="2331720"/>
            <a:ext cx="1229400" cy="959760"/>
          </a:xfrm>
          <a:prstGeom prst="roundRect">
            <a:avLst>
              <a:gd name="adj" fmla="val 11428"/>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300" b="1" u="none" strike="noStrike">
                <a:solidFill>
                  <a:srgbClr val="FFFFFF"/>
                </a:solidFill>
                <a:effectLst/>
                <a:uFillTx/>
                <a:latin typeface="Segoe UI"/>
              </a:rPr>
              <a:t>PostgreSQL</a:t>
            </a:r>
            <a:endParaRPr lang="fr-FR" sz="1300" b="0" u="none" strike="noStrike">
              <a:solidFill>
                <a:srgbClr val="FFFFFF"/>
              </a:solidFill>
              <a:effectLst/>
              <a:uFillTx/>
              <a:latin typeface="Arial"/>
            </a:endParaRPr>
          </a:p>
          <a:p>
            <a:pPr algn="ctr" defTabSz="457200">
              <a:lnSpc>
                <a:spcPct val="100000"/>
              </a:lnSpc>
            </a:pPr>
            <a:r>
              <a:rPr lang="en-US" sz="1000" b="0" u="none" strike="noStrike">
                <a:solidFill>
                  <a:srgbClr val="FFFFFF"/>
                </a:solidFill>
                <a:effectLst/>
                <a:uFillTx/>
                <a:latin typeface="Segoe UI"/>
              </a:rPr>
              <a:t>base de données</a:t>
            </a:r>
            <a:endParaRPr lang="fr-FR" sz="1000" b="0" u="none" strike="noStrike">
              <a:solidFill>
                <a:srgbClr val="FFFFFF"/>
              </a:solidFill>
              <a:effectLst/>
              <a:uFillTx/>
              <a:latin typeface="Arial"/>
            </a:endParaRPr>
          </a:p>
        </p:txBody>
      </p:sp>
      <p:cxnSp>
        <p:nvCxnSpPr>
          <p:cNvPr id="182" name="Connector 19"/>
          <p:cNvCxnSpPr/>
          <p:nvPr/>
        </p:nvCxnSpPr>
        <p:spPr>
          <a:xfrm>
            <a:off x="8860320" y="2811600"/>
            <a:ext cx="164880" cy="360"/>
          </a:xfrm>
          <a:prstGeom prst="straightConnector1">
            <a:avLst/>
          </a:prstGeom>
          <a:ln>
            <a:solidFill>
              <a:srgbClr val="6B7280"/>
            </a:solidFill>
            <a:round/>
            <a:tailEnd len="med" type="triangle" w="med"/>
          </a:ln>
        </p:spPr>
      </p:cxnSp>
      <p:sp>
        <p:nvSpPr>
          <p:cNvPr id="183" name="Rounded Rectangle 20"/>
          <p:cNvSpPr/>
          <p:nvPr/>
        </p:nvSpPr>
        <p:spPr>
          <a:xfrm>
            <a:off x="10474560" y="2331720"/>
            <a:ext cx="1229400" cy="959760"/>
          </a:xfrm>
          <a:prstGeom prst="roundRect">
            <a:avLst>
              <a:gd name="adj" fmla="val 11428"/>
            </a:avLst>
          </a:prstGeom>
          <a:solidFill>
            <a:srgbClr val="16A3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300" b="1" u="none" strike="noStrike">
                <a:solidFill>
                  <a:srgbClr val="FFFFFF"/>
                </a:solidFill>
                <a:effectLst/>
                <a:uFillTx/>
                <a:latin typeface="Segoe UI"/>
              </a:rPr>
              <a:t>Dash / Metabase</a:t>
            </a:r>
            <a:endParaRPr lang="fr-FR" sz="1300" b="0" u="none" strike="noStrike">
              <a:solidFill>
                <a:srgbClr val="FFFFFF"/>
              </a:solidFill>
              <a:effectLst/>
              <a:uFillTx/>
              <a:latin typeface="Arial"/>
            </a:endParaRPr>
          </a:p>
          <a:p>
            <a:pPr algn="ctr" defTabSz="457200">
              <a:lnSpc>
                <a:spcPct val="100000"/>
              </a:lnSpc>
            </a:pPr>
            <a:r>
              <a:rPr lang="en-US" sz="1000" b="0" u="none" strike="noStrike">
                <a:solidFill>
                  <a:srgbClr val="FFFFFF"/>
                </a:solidFill>
                <a:effectLst/>
                <a:uFillTx/>
                <a:latin typeface="Segoe UI"/>
              </a:rPr>
              <a:t>tableaux de bord</a:t>
            </a:r>
            <a:endParaRPr lang="fr-FR" sz="1000" b="0" u="none" strike="noStrike">
              <a:solidFill>
                <a:srgbClr val="FFFFFF"/>
              </a:solidFill>
              <a:effectLst/>
              <a:uFillTx/>
              <a:latin typeface="Arial"/>
            </a:endParaRPr>
          </a:p>
        </p:txBody>
      </p:sp>
      <p:cxnSp>
        <p:nvCxnSpPr>
          <p:cNvPr id="184" name="Connector 21"/>
          <p:cNvCxnSpPr/>
          <p:nvPr/>
        </p:nvCxnSpPr>
        <p:spPr>
          <a:xfrm>
            <a:off x="10291320" y="2811600"/>
            <a:ext cx="164880" cy="360"/>
          </a:xfrm>
          <a:prstGeom prst="straightConnector1">
            <a:avLst/>
          </a:prstGeom>
          <a:ln>
            <a:solidFill>
              <a:srgbClr val="6B7280"/>
            </a:solidFill>
            <a:round/>
            <a:tailEnd len="med" type="triangle" w="med"/>
          </a:ln>
        </p:spPr>
      </p:cxnSp>
      <p:sp>
        <p:nvSpPr>
          <p:cNvPr id="185" name="TextBox 22"/>
          <p:cNvSpPr/>
          <p:nvPr/>
        </p:nvSpPr>
        <p:spPr>
          <a:xfrm>
            <a:off x="411480" y="3364920"/>
            <a:ext cx="1320840" cy="73116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200" b="0" u="none" strike="noStrike">
                <a:solidFill>
                  <a:srgbClr val="111827"/>
                </a:solidFill>
                <a:effectLst/>
                <a:uFillTx/>
                <a:latin typeface="Segoe UI"/>
              </a:rPr>
              <a:t>La source : les offres publiées</a:t>
            </a:r>
            <a:endParaRPr lang="fr-FR" sz="1200" b="0" u="none" strike="noStrike">
              <a:solidFill>
                <a:srgbClr val="000000"/>
              </a:solidFill>
              <a:effectLst/>
              <a:uFillTx/>
              <a:latin typeface="Arial"/>
            </a:endParaRPr>
          </a:p>
        </p:txBody>
      </p:sp>
      <p:sp>
        <p:nvSpPr>
          <p:cNvPr id="186" name="TextBox 23"/>
          <p:cNvSpPr/>
          <p:nvPr/>
        </p:nvSpPr>
        <p:spPr>
          <a:xfrm>
            <a:off x="1842480" y="3364920"/>
            <a:ext cx="1320840" cy="73116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200" b="0" u="none" strike="noStrike">
                <a:solidFill>
                  <a:srgbClr val="111827"/>
                </a:solidFill>
                <a:effectLst/>
                <a:uFillTx/>
                <a:latin typeface="Segoe UI"/>
              </a:rPr>
              <a:t>Va chercher les nouvelles offres</a:t>
            </a:r>
            <a:endParaRPr lang="fr-FR" sz="1200" b="0" u="none" strike="noStrike">
              <a:solidFill>
                <a:srgbClr val="000000"/>
              </a:solidFill>
              <a:effectLst/>
              <a:uFillTx/>
              <a:latin typeface="Arial"/>
            </a:endParaRPr>
          </a:p>
        </p:txBody>
      </p:sp>
      <p:sp>
        <p:nvSpPr>
          <p:cNvPr id="187" name="TextBox 24"/>
          <p:cNvSpPr/>
          <p:nvPr/>
        </p:nvSpPr>
        <p:spPr>
          <a:xfrm>
            <a:off x="3273480" y="3364920"/>
            <a:ext cx="1320840" cy="73116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200" b="0" u="none" strike="noStrike">
                <a:solidFill>
                  <a:srgbClr val="111827"/>
                </a:solidFill>
                <a:effectLst/>
                <a:uFillTx/>
                <a:latin typeface="Segoe UI"/>
              </a:rPr>
              <a:t>Tapis roulant : rien ne se perd</a:t>
            </a:r>
            <a:endParaRPr lang="fr-FR" sz="1200" b="0" u="none" strike="noStrike">
              <a:solidFill>
                <a:srgbClr val="000000"/>
              </a:solidFill>
              <a:effectLst/>
              <a:uFillTx/>
              <a:latin typeface="Arial"/>
            </a:endParaRPr>
          </a:p>
        </p:txBody>
      </p:sp>
      <p:sp>
        <p:nvSpPr>
          <p:cNvPr id="188" name="TextBox 25"/>
          <p:cNvSpPr/>
          <p:nvPr/>
        </p:nvSpPr>
        <p:spPr>
          <a:xfrm>
            <a:off x="4704480" y="3364920"/>
            <a:ext cx="1320840" cy="73116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200" b="0" u="none" strike="noStrike">
                <a:solidFill>
                  <a:srgbClr val="111827"/>
                </a:solidFill>
                <a:effectLst/>
                <a:uFillTx/>
                <a:latin typeface="Segoe UI"/>
              </a:rPr>
              <a:t>Ajoute la vraie commune</a:t>
            </a:r>
            <a:endParaRPr lang="fr-FR" sz="1200" b="0" u="none" strike="noStrike">
              <a:solidFill>
                <a:srgbClr val="000000"/>
              </a:solidFill>
              <a:effectLst/>
              <a:uFillTx/>
              <a:latin typeface="Arial"/>
            </a:endParaRPr>
          </a:p>
        </p:txBody>
      </p:sp>
      <p:sp>
        <p:nvSpPr>
          <p:cNvPr id="189" name="TextBox 26"/>
          <p:cNvSpPr/>
          <p:nvPr/>
        </p:nvSpPr>
        <p:spPr>
          <a:xfrm>
            <a:off x="6135480" y="3364920"/>
            <a:ext cx="1320840" cy="73116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200" b="0" u="none" strike="noStrike">
                <a:solidFill>
                  <a:srgbClr val="111827"/>
                </a:solidFill>
                <a:effectLst/>
                <a:uFillTx/>
                <a:latin typeface="Segoe UI"/>
              </a:rPr>
              <a:t>Garde une copie de l'original</a:t>
            </a:r>
            <a:endParaRPr lang="fr-FR" sz="1200" b="0" u="none" strike="noStrike">
              <a:solidFill>
                <a:srgbClr val="000000"/>
              </a:solidFill>
              <a:effectLst/>
              <a:uFillTx/>
              <a:latin typeface="Arial"/>
            </a:endParaRPr>
          </a:p>
        </p:txBody>
      </p:sp>
      <p:sp>
        <p:nvSpPr>
          <p:cNvPr id="190" name="TextBox 27"/>
          <p:cNvSpPr/>
          <p:nvPr/>
        </p:nvSpPr>
        <p:spPr>
          <a:xfrm>
            <a:off x="7566840" y="3364920"/>
            <a:ext cx="1320840" cy="73116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200" b="0" u="none" strike="noStrike">
                <a:solidFill>
                  <a:srgbClr val="111827"/>
                </a:solidFill>
                <a:effectLst/>
                <a:uFillTx/>
                <a:latin typeface="Segoe UI"/>
              </a:rPr>
              <a:t>Atelier de nettoyage</a:t>
            </a:r>
            <a:endParaRPr lang="fr-FR" sz="1200" b="0" u="none" strike="noStrike">
              <a:solidFill>
                <a:srgbClr val="000000"/>
              </a:solidFill>
              <a:effectLst/>
              <a:uFillTx/>
              <a:latin typeface="Arial"/>
            </a:endParaRPr>
          </a:p>
        </p:txBody>
      </p:sp>
      <p:sp>
        <p:nvSpPr>
          <p:cNvPr id="191" name="TextBox 28"/>
          <p:cNvSpPr/>
          <p:nvPr/>
        </p:nvSpPr>
        <p:spPr>
          <a:xfrm>
            <a:off x="8997840" y="3364920"/>
            <a:ext cx="1320840" cy="73116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200" b="0" u="none" strike="noStrike">
                <a:solidFill>
                  <a:srgbClr val="111827"/>
                </a:solidFill>
                <a:effectLst/>
                <a:uFillTx/>
                <a:latin typeface="Segoe UI"/>
              </a:rPr>
              <a:t>L'armoire bien rangée</a:t>
            </a:r>
            <a:endParaRPr lang="fr-FR" sz="1200" b="0" u="none" strike="noStrike">
              <a:solidFill>
                <a:srgbClr val="000000"/>
              </a:solidFill>
              <a:effectLst/>
              <a:uFillTx/>
              <a:latin typeface="Arial"/>
            </a:endParaRPr>
          </a:p>
        </p:txBody>
      </p:sp>
      <p:sp>
        <p:nvSpPr>
          <p:cNvPr id="192" name="TextBox 29"/>
          <p:cNvSpPr/>
          <p:nvPr/>
        </p:nvSpPr>
        <p:spPr>
          <a:xfrm>
            <a:off x="10428840" y="3364920"/>
            <a:ext cx="1320840" cy="73116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200" b="0" u="none" strike="noStrike">
                <a:solidFill>
                  <a:srgbClr val="111827"/>
                </a:solidFill>
                <a:effectLst/>
                <a:uFillTx/>
                <a:latin typeface="Segoe UI"/>
              </a:rPr>
              <a:t>La vitrine</a:t>
            </a:r>
            <a:endParaRPr lang="fr-FR" sz="1200" b="0" u="none" strike="noStrike">
              <a:solidFill>
                <a:srgbClr val="000000"/>
              </a:solidFill>
              <a:effectLst/>
              <a:uFillTx/>
              <a:latin typeface="Arial"/>
            </a:endParaRPr>
          </a:p>
        </p:txBody>
      </p:sp>
      <p:sp>
        <p:nvSpPr>
          <p:cNvPr id="193" name="Rounded Rectangle 30"/>
          <p:cNvSpPr/>
          <p:nvPr/>
        </p:nvSpPr>
        <p:spPr>
          <a:xfrm>
            <a:off x="4658760" y="1188720"/>
            <a:ext cx="1412280" cy="685440"/>
          </a:xfrm>
          <a:prstGeom prst="roundRect">
            <a:avLst>
              <a:gd name="adj" fmla="val 16000"/>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200" b="1" u="none" strike="noStrike">
                <a:solidFill>
                  <a:srgbClr val="FFFFFF"/>
                </a:solidFill>
                <a:effectLst/>
                <a:uFillTx/>
                <a:latin typeface="Segoe UI"/>
              </a:rPr>
              <a:t>Liste des communes</a:t>
            </a:r>
            <a:endParaRPr lang="fr-FR" sz="1200" b="0" u="none" strike="noStrike">
              <a:solidFill>
                <a:srgbClr val="FFFFFF"/>
              </a:solidFill>
              <a:effectLst/>
              <a:uFillTx/>
              <a:latin typeface="Arial"/>
            </a:endParaRPr>
          </a:p>
          <a:p>
            <a:pPr algn="ctr" defTabSz="457200">
              <a:lnSpc>
                <a:spcPct val="100000"/>
              </a:lnSpc>
            </a:pPr>
            <a:r>
              <a:rPr lang="en-US" sz="900" b="0" u="none" strike="noStrike">
                <a:solidFill>
                  <a:srgbClr val="FFFFFF"/>
                </a:solidFill>
                <a:effectLst/>
                <a:uFillTx/>
                <a:latin typeface="Segoe UI"/>
              </a:rPr>
              <a:t>1 fois par jour</a:t>
            </a:r>
            <a:endParaRPr lang="fr-FR" sz="900" b="0" u="none" strike="noStrike">
              <a:solidFill>
                <a:srgbClr val="FFFFFF"/>
              </a:solidFill>
              <a:effectLst/>
              <a:uFillTx/>
              <a:latin typeface="Arial"/>
            </a:endParaRPr>
          </a:p>
        </p:txBody>
      </p:sp>
      <p:cxnSp>
        <p:nvCxnSpPr>
          <p:cNvPr id="194" name="Connector 31"/>
          <p:cNvCxnSpPr/>
          <p:nvPr/>
        </p:nvCxnSpPr>
        <p:spPr>
          <a:xfrm>
            <a:off x="5365080" y="1874160"/>
            <a:ext cx="360" cy="457920"/>
          </a:xfrm>
          <a:prstGeom prst="straightConnector1">
            <a:avLst/>
          </a:prstGeom>
          <a:ln>
            <a:solidFill>
              <a:srgbClr val="6B7280"/>
            </a:solidFill>
            <a:round/>
            <a:tailEnd len="med" type="triangle" w="med"/>
          </a:ln>
        </p:spPr>
      </p:cxnSp>
      <p:sp>
        <p:nvSpPr>
          <p:cNvPr id="195" name="Rounded Rectangle 32"/>
          <p:cNvSpPr/>
          <p:nvPr/>
        </p:nvSpPr>
        <p:spPr>
          <a:xfrm>
            <a:off x="457200" y="4343400"/>
            <a:ext cx="11246760" cy="914040"/>
          </a:xfrm>
          <a:prstGeom prst="roundRect">
            <a:avLst>
              <a:gd name="adj" fmla="val 12000"/>
            </a:avLst>
          </a:prstGeom>
          <a:solidFill>
            <a:srgbClr val="EFF6FF"/>
          </a:solidFill>
          <a:ln w="15875">
            <a:solidFill>
              <a:srgbClr val="EA580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600" b="1" u="none" strike="noStrike">
                <a:solidFill>
                  <a:srgbClr val="111827"/>
                </a:solidFill>
                <a:effectLst/>
                <a:uFillTx/>
                <a:latin typeface="Segoe UI"/>
              </a:rPr>
              <a:t>Surveillance continue (Prometheus + Grafana)</a:t>
            </a:r>
            <a:endParaRPr lang="fr-FR" sz="1600" b="0" u="none" strike="noStrike">
              <a:solidFill>
                <a:srgbClr val="000000"/>
              </a:solidFill>
              <a:effectLst/>
              <a:uFillTx/>
              <a:latin typeface="Arial"/>
            </a:endParaRPr>
          </a:p>
          <a:p>
            <a:pPr algn="ctr" defTabSz="457200">
              <a:lnSpc>
                <a:spcPct val="100000"/>
              </a:lnSpc>
            </a:pPr>
            <a:r>
              <a:rPr lang="en-US" sz="1300" b="0" u="none" strike="noStrike">
                <a:solidFill>
                  <a:srgbClr val="111827"/>
                </a:solidFill>
                <a:effectLst/>
                <a:uFillTx/>
                <a:latin typeface="Segoe UI"/>
              </a:rPr>
              <a:t>vérifie que chaque étape fonctionne et compte les offres à chaque passage</a:t>
            </a:r>
            <a:endParaRPr lang="fr-FR" sz="1300" b="0" u="none" strike="noStrike">
              <a:solidFill>
                <a:srgbClr val="000000"/>
              </a:solidFill>
              <a:effectLst/>
              <a:uFillTx/>
              <a:latin typeface="Arial"/>
            </a:endParaRPr>
          </a:p>
        </p:txBody>
      </p:sp>
      <p:sp>
        <p:nvSpPr>
          <p:cNvPr id="196" name="Rounded Rectangle 33"/>
          <p:cNvSpPr/>
          <p:nvPr/>
        </p:nvSpPr>
        <p:spPr>
          <a:xfrm>
            <a:off x="548640" y="5486400"/>
            <a:ext cx="11063880" cy="822600"/>
          </a:xfrm>
          <a:prstGeom prst="roundRect">
            <a:avLst>
              <a:gd name="adj" fmla="val 13333"/>
            </a:avLst>
          </a:prstGeom>
          <a:solidFill>
            <a:srgbClr val="EFF6FF"/>
          </a:solidFill>
          <a:ln w="15875">
            <a:solidFill>
              <a:srgbClr val="1E3A8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800" b="1" u="none" strike="noStrike">
                <a:solidFill>
                  <a:srgbClr val="111827"/>
                </a:solidFill>
                <a:effectLst/>
                <a:uFillTx/>
                <a:latin typeface="Segoe UI"/>
              </a:rPr>
              <a:t>Tout démarre avec une seule commande, sur n'importe quel ordinateur (Docker)</a:t>
            </a:r>
            <a:endParaRPr lang="fr-FR"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Rectangle 1"/>
          <p:cNvSpPr/>
          <p:nvPr/>
        </p:nvSpPr>
        <p:spPr>
          <a:xfrm>
            <a:off x="0" y="0"/>
            <a:ext cx="12191400" cy="959760"/>
          </a:xfrm>
          <a:prstGeom prst="rect">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98" name="TextBox 2"/>
          <p:cNvSpPr/>
          <p:nvPr/>
        </p:nvSpPr>
        <p:spPr>
          <a:xfrm>
            <a:off x="457200" y="164520"/>
            <a:ext cx="8960760" cy="68544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2800" b="1" u="none" strike="noStrike">
                <a:solidFill>
                  <a:srgbClr val="FFFFFF"/>
                </a:solidFill>
                <a:effectLst/>
                <a:uFillTx/>
                <a:latin typeface="Segoe UI"/>
              </a:rPr>
              <a:t>TP2 : le pipeline étape par étape</a:t>
            </a:r>
            <a:endParaRPr lang="fr-FR" sz="2800" b="0" u="none" strike="noStrike">
              <a:solidFill>
                <a:srgbClr val="000000"/>
              </a:solidFill>
              <a:effectLst/>
              <a:uFillTx/>
              <a:latin typeface="Arial"/>
            </a:endParaRPr>
          </a:p>
        </p:txBody>
      </p:sp>
      <p:sp>
        <p:nvSpPr>
          <p:cNvPr id="199" name="TextBox 3"/>
          <p:cNvSpPr/>
          <p:nvPr/>
        </p:nvSpPr>
        <p:spPr>
          <a:xfrm>
            <a:off x="8961120" y="274320"/>
            <a:ext cx="2925720" cy="45684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300" b="0" u="none" strike="noStrike">
                <a:solidFill>
                  <a:srgbClr val="BFDBFE"/>
                </a:solidFill>
                <a:effectLst/>
                <a:uFillTx/>
                <a:latin typeface="Segoe UI"/>
              </a:rPr>
              <a:t>TP2 — Automatiser</a:t>
            </a:r>
            <a:endParaRPr lang="fr-FR" sz="1300" b="0" u="none" strike="noStrike">
              <a:solidFill>
                <a:srgbClr val="000000"/>
              </a:solidFill>
              <a:effectLst/>
              <a:uFillTx/>
              <a:latin typeface="Arial"/>
            </a:endParaRPr>
          </a:p>
        </p:txBody>
      </p:sp>
      <p:sp>
        <p:nvSpPr>
          <p:cNvPr id="200" name="Rectangle 4"/>
          <p:cNvSpPr/>
          <p:nvPr/>
        </p:nvSpPr>
        <p:spPr>
          <a:xfrm>
            <a:off x="0" y="6583680"/>
            <a:ext cx="12191400" cy="273960"/>
          </a:xfrm>
          <a:prstGeom prst="rect">
            <a:avLst/>
          </a:prstGeom>
          <a:solidFill>
            <a:srgbClr val="EFF6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01" name="TextBox 5"/>
          <p:cNvSpPr/>
          <p:nvPr/>
        </p:nvSpPr>
        <p:spPr>
          <a:xfrm>
            <a:off x="457200" y="6583680"/>
            <a:ext cx="8229240" cy="27396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000" b="0" u="none" strike="noStrike">
                <a:solidFill>
                  <a:srgbClr val="6B7280"/>
                </a:solidFill>
                <a:effectLst/>
                <a:uFillTx/>
                <a:latin typeface="Segoe UI"/>
              </a:rPr>
              <a:t>Des offres d'emploi brutes à une plateforme de données fiable  •  Théo Mousnier</a:t>
            </a:r>
            <a:endParaRPr lang="fr-FR" sz="1000" b="0" u="none" strike="noStrike">
              <a:solidFill>
                <a:srgbClr val="000000"/>
              </a:solidFill>
              <a:effectLst/>
              <a:uFillTx/>
              <a:latin typeface="Arial"/>
            </a:endParaRPr>
          </a:p>
        </p:txBody>
      </p:sp>
      <p:sp>
        <p:nvSpPr>
          <p:cNvPr id="202" name="TextBox 6"/>
          <p:cNvSpPr/>
          <p:nvPr/>
        </p:nvSpPr>
        <p:spPr>
          <a:xfrm>
            <a:off x="10789920" y="6583680"/>
            <a:ext cx="1005480" cy="27396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000" b="0" u="none" strike="noStrike">
                <a:solidFill>
                  <a:srgbClr val="6B7280"/>
                </a:solidFill>
                <a:effectLst/>
                <a:uFillTx/>
                <a:latin typeface="Segoe UI"/>
              </a:rPr>
              <a:t>8 / 16</a:t>
            </a:r>
            <a:endParaRPr lang="fr-FR" sz="1000" b="0" u="none" strike="noStrike">
              <a:solidFill>
                <a:srgbClr val="000000"/>
              </a:solidFill>
              <a:effectLst/>
              <a:uFillTx/>
              <a:latin typeface="Arial"/>
            </a:endParaRPr>
          </a:p>
        </p:txBody>
      </p:sp>
      <p:graphicFrame>
        <p:nvGraphicFramePr>
          <p:cNvPr id="203" name="Table 7"/>
          <p:cNvGraphicFramePr/>
          <p:nvPr/>
        </p:nvGraphicFramePr>
        <p:xfrm>
          <a:off x="457200" y="1234440"/>
          <a:ext cx="11246760" cy="4937400"/>
        </p:xfrm>
        <a:graphic>
          <a:graphicData uri="http://schemas.openxmlformats.org/drawingml/2006/table">
            <a:tbl>
              <a:tblPr/>
              <a:tblGrid>
                <a:gridCol w="1645920"/>
                <a:gridCol w="2103120"/>
                <a:gridCol w="4206240"/>
                <a:gridCol w="3291840"/>
              </a:tblGrid>
              <a:tr h="548280">
                <a:tc>
                  <a:txBody>
                    <a:bodyPr lIns="73080" rIns="73080" anchor="ctr">
                      <a:noAutofit/>
                    </a:bodyPr>
                    <a:p>
                      <a:pPr defTabSz="457200">
                        <a:lnSpc>
                          <a:spcPct val="100000"/>
                        </a:lnSpc>
                      </a:pPr>
                      <a:r>
                        <a:rPr lang="en-US" sz="1300" b="1" u="none" strike="noStrike">
                          <a:solidFill>
                            <a:srgbClr val="FFFFFF"/>
                          </a:solidFill>
                          <a:effectLst/>
                          <a:uFillTx/>
                          <a:latin typeface="Segoe UI"/>
                        </a:rPr>
                        <a:t>Étape</a:t>
                      </a:r>
                      <a:endParaRPr lang="fr-FR" sz="1300" b="0" u="none" strike="noStrike">
                        <a:solidFill>
                          <a:srgbClr val="FFFFFF"/>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3A8A"/>
                    </a:solidFill>
                  </a:tcPr>
                </a:tc>
                <a:tc>
                  <a:txBody>
                    <a:bodyPr lIns="73080" rIns="73080" anchor="ctr">
                      <a:noAutofit/>
                    </a:bodyPr>
                    <a:p>
                      <a:pPr defTabSz="457200">
                        <a:lnSpc>
                          <a:spcPct val="100000"/>
                        </a:lnSpc>
                      </a:pPr>
                      <a:r>
                        <a:rPr lang="en-US" sz="1300" b="1" u="none" strike="noStrike">
                          <a:solidFill>
                            <a:srgbClr val="FFFFFF"/>
                          </a:solidFill>
                          <a:effectLst/>
                          <a:uFillTx/>
                          <a:latin typeface="Segoe UI"/>
                        </a:rPr>
                        <a:t>Outil</a:t>
                      </a:r>
                      <a:endParaRPr lang="fr-FR" sz="1300" b="0" u="none" strike="noStrike">
                        <a:solidFill>
                          <a:srgbClr val="FFFFFF"/>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3A8A"/>
                    </a:solidFill>
                  </a:tcPr>
                </a:tc>
                <a:tc>
                  <a:txBody>
                    <a:bodyPr lIns="73080" rIns="73080" anchor="ctr">
                      <a:noAutofit/>
                    </a:bodyPr>
                    <a:p>
                      <a:pPr defTabSz="457200">
                        <a:lnSpc>
                          <a:spcPct val="100000"/>
                        </a:lnSpc>
                      </a:pPr>
                      <a:r>
                        <a:rPr lang="en-US" sz="1300" b="1" u="none" strike="noStrike">
                          <a:solidFill>
                            <a:srgbClr val="FFFFFF"/>
                          </a:solidFill>
                          <a:effectLst/>
                          <a:uFillTx/>
                          <a:latin typeface="Segoe UI"/>
                        </a:rPr>
                        <a:t>Ce qu'elle fait</a:t>
                      </a:r>
                      <a:endParaRPr lang="fr-FR" sz="1300" b="0" u="none" strike="noStrike">
                        <a:solidFill>
                          <a:srgbClr val="FFFFFF"/>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3A8A"/>
                    </a:solidFill>
                  </a:tcPr>
                </a:tc>
                <a:tc>
                  <a:txBody>
                    <a:bodyPr lIns="73080" rIns="73080" anchor="ctr">
                      <a:noAutofit/>
                    </a:bodyPr>
                    <a:p>
                      <a:pPr defTabSz="457200">
                        <a:lnSpc>
                          <a:spcPct val="100000"/>
                        </a:lnSpc>
                      </a:pPr>
                      <a:r>
                        <a:rPr lang="en-US" sz="1300" b="1" u="none" strike="noStrike">
                          <a:solidFill>
                            <a:srgbClr val="FFFFFF"/>
                          </a:solidFill>
                          <a:effectLst/>
                          <a:uFillTx/>
                          <a:latin typeface="Segoe UI"/>
                        </a:rPr>
                        <a:t>Pourquoi c'est utile</a:t>
                      </a:r>
                      <a:endParaRPr lang="fr-FR" sz="1300" b="0" u="none" strike="noStrike">
                        <a:solidFill>
                          <a:srgbClr val="FFFFFF"/>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3A8A"/>
                    </a:solidFill>
                  </a:tcPr>
                </a:tc>
              </a:tr>
              <a:tr h="548280">
                <a:tc>
                  <a:txBody>
                    <a:bodyPr lIns="73080" rIns="73080" anchor="ctr">
                      <a:noAutofit/>
                    </a:bodyPr>
                    <a:p>
                      <a:pPr defTabSz="457200">
                        <a:lnSpc>
                          <a:spcPct val="100000"/>
                        </a:lnSpc>
                      </a:pPr>
                      <a:r>
                        <a:rPr lang="en-US" sz="1300" b="0" u="none" strike="noStrike">
                          <a:solidFill>
                            <a:srgbClr val="111827"/>
                          </a:solidFill>
                          <a:effectLst/>
                          <a:uFillTx/>
                          <a:latin typeface="Segoe UI"/>
                        </a:rPr>
                        <a:t>1. Collecter</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FF6FF"/>
                    </a:solidFill>
                  </a:tcPr>
                </a:tc>
                <a:tc>
                  <a:txBody>
                    <a:bodyPr lIns="73080" rIns="73080" anchor="ctr">
                      <a:noAutofit/>
                    </a:bodyPr>
                    <a:p>
                      <a:pPr defTabSz="457200">
                        <a:lnSpc>
                          <a:spcPct val="100000"/>
                        </a:lnSpc>
                      </a:pPr>
                      <a:r>
                        <a:rPr lang="en-US" sz="1300" b="0" u="none" strike="noStrike">
                          <a:solidFill>
                            <a:srgbClr val="111827"/>
                          </a:solidFill>
                          <a:effectLst/>
                          <a:uFillTx/>
                          <a:latin typeface="Segoe UI"/>
                        </a:rPr>
                        <a:t>Collecteur Python</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FF6FF"/>
                    </a:solidFill>
                  </a:tcPr>
                </a:tc>
                <a:tc>
                  <a:txBody>
                    <a:bodyPr lIns="73080" rIns="73080" anchor="ctr">
                      <a:noAutofit/>
                    </a:bodyPr>
                    <a:p>
                      <a:pPr defTabSz="457200">
                        <a:lnSpc>
                          <a:spcPct val="100000"/>
                        </a:lnSpc>
                      </a:pPr>
                      <a:r>
                        <a:rPr lang="en-US" sz="1300" b="0" u="none" strike="noStrike">
                          <a:solidFill>
                            <a:srgbClr val="111827"/>
                          </a:solidFill>
                          <a:effectLst/>
                          <a:uFillTx/>
                          <a:latin typeface="Segoe UI"/>
                        </a:rPr>
                        <a:t>Demande les nouvelles offres à France Travail toutes les 15 min</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FF6FF"/>
                    </a:solidFill>
                  </a:tcPr>
                </a:tc>
                <a:tc>
                  <a:txBody>
                    <a:bodyPr lIns="73080" rIns="73080" anchor="ctr">
                      <a:noAutofit/>
                    </a:bodyPr>
                    <a:p>
                      <a:pPr defTabSz="457200">
                        <a:lnSpc>
                          <a:spcPct val="100000"/>
                        </a:lnSpc>
                      </a:pPr>
                      <a:r>
                        <a:rPr lang="en-US" sz="1300" b="0" u="none" strike="noStrike">
                          <a:solidFill>
                            <a:srgbClr val="111827"/>
                          </a:solidFill>
                          <a:effectLst/>
                          <a:uFillTx/>
                          <a:latin typeface="Segoe UI"/>
                        </a:rPr>
                        <a:t>Les données sont toujours à jour</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FF6FF"/>
                    </a:solidFill>
                  </a:tcPr>
                </a:tc>
              </a:tr>
              <a:tr h="548280">
                <a:tc>
                  <a:txBody>
                    <a:bodyPr lIns="73080" rIns="73080" anchor="ctr">
                      <a:noAutofit/>
                    </a:bodyPr>
                    <a:p>
                      <a:pPr defTabSz="457200">
                        <a:lnSpc>
                          <a:spcPct val="100000"/>
                        </a:lnSpc>
                      </a:pPr>
                      <a:r>
                        <a:rPr lang="en-US" sz="1300" b="0" u="none" strike="noStrike">
                          <a:solidFill>
                            <a:srgbClr val="111827"/>
                          </a:solidFill>
                          <a:effectLst/>
                          <a:uFillTx/>
                          <a:latin typeface="Segoe UI"/>
                        </a:rPr>
                        <a:t>2. Transporter</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anchor="ctr">
                      <a:noAutofit/>
                    </a:bodyPr>
                    <a:p>
                      <a:pPr defTabSz="457200">
                        <a:lnSpc>
                          <a:spcPct val="100000"/>
                        </a:lnSpc>
                      </a:pPr>
                      <a:r>
                        <a:rPr lang="en-US" sz="1300" b="0" u="none" strike="noStrike">
                          <a:solidFill>
                            <a:srgbClr val="111827"/>
                          </a:solidFill>
                          <a:effectLst/>
                          <a:uFillTx/>
                          <a:latin typeface="Segoe UI"/>
                        </a:rPr>
                        <a:t>Kafka</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anchor="ctr">
                      <a:noAutofit/>
                    </a:bodyPr>
                    <a:p>
                      <a:pPr defTabSz="457200">
                        <a:lnSpc>
                          <a:spcPct val="100000"/>
                        </a:lnSpc>
                      </a:pPr>
                      <a:r>
                        <a:rPr lang="en-US" sz="1300" b="0" u="none" strike="noStrike">
                          <a:solidFill>
                            <a:srgbClr val="111827"/>
                          </a:solidFill>
                          <a:effectLst/>
                          <a:uFillTx/>
                          <a:latin typeface="Segoe UI"/>
                        </a:rPr>
                        <a:t>Met les offres dans une file d'attente, comme un tapis roulant</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anchor="ctr">
                      <a:noAutofit/>
                    </a:bodyPr>
                    <a:p>
                      <a:pPr defTabSz="457200">
                        <a:lnSpc>
                          <a:spcPct val="100000"/>
                        </a:lnSpc>
                      </a:pPr>
                      <a:r>
                        <a:rPr lang="en-US" sz="1300" b="0" u="none" strike="noStrike">
                          <a:solidFill>
                            <a:srgbClr val="111827"/>
                          </a:solidFill>
                          <a:effectLst/>
                          <a:uFillTx/>
                          <a:latin typeface="Segoe UI"/>
                        </a:rPr>
                        <a:t>Aucune offre perdue, même en cas de panne</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48280">
                <a:tc>
                  <a:txBody>
                    <a:bodyPr lIns="73080" rIns="73080" anchor="ctr">
                      <a:noAutofit/>
                    </a:bodyPr>
                    <a:p>
                      <a:pPr defTabSz="457200">
                        <a:lnSpc>
                          <a:spcPct val="100000"/>
                        </a:lnSpc>
                      </a:pPr>
                      <a:r>
                        <a:rPr lang="en-US" sz="1300" b="0" u="none" strike="noStrike">
                          <a:solidFill>
                            <a:srgbClr val="111827"/>
                          </a:solidFill>
                          <a:effectLst/>
                          <a:uFillTx/>
                          <a:latin typeface="Segoe UI"/>
                        </a:rPr>
                        <a:t>3. Enrichir</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FF6FF"/>
                    </a:solidFill>
                  </a:tcPr>
                </a:tc>
                <a:tc>
                  <a:txBody>
                    <a:bodyPr lIns="73080" rIns="73080" anchor="ctr">
                      <a:noAutofit/>
                    </a:bodyPr>
                    <a:p>
                      <a:pPr defTabSz="457200">
                        <a:lnSpc>
                          <a:spcPct val="100000"/>
                        </a:lnSpc>
                      </a:pPr>
                      <a:r>
                        <a:rPr lang="en-US" sz="1300" b="0" u="none" strike="noStrike">
                          <a:solidFill>
                            <a:srgbClr val="111827"/>
                          </a:solidFill>
                          <a:effectLst/>
                          <a:uFillTx/>
                          <a:latin typeface="Segoe UI"/>
                        </a:rPr>
                        <a:t>Agrégateur</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FF6FF"/>
                    </a:solidFill>
                  </a:tcPr>
                </a:tc>
                <a:tc>
                  <a:txBody>
                    <a:bodyPr lIns="73080" rIns="73080" anchor="ctr">
                      <a:noAutofit/>
                    </a:bodyPr>
                    <a:p>
                      <a:pPr defTabSz="457200">
                        <a:lnSpc>
                          <a:spcPct val="100000"/>
                        </a:lnSpc>
                      </a:pPr>
                      <a:r>
                        <a:rPr lang="en-US" sz="1300" b="0" u="none" strike="noStrike">
                          <a:solidFill>
                            <a:srgbClr val="111827"/>
                          </a:solidFill>
                          <a:effectLst/>
                          <a:uFillTx/>
                          <a:latin typeface="Segoe UI"/>
                        </a:rPr>
                        <a:t>Ajoute le nom et la position officiels de la commune</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FF6FF"/>
                    </a:solidFill>
                  </a:tcPr>
                </a:tc>
                <a:tc>
                  <a:txBody>
                    <a:bodyPr lIns="73080" rIns="73080" anchor="ctr">
                      <a:noAutofit/>
                    </a:bodyPr>
                    <a:p>
                      <a:pPr defTabSz="457200">
                        <a:lnSpc>
                          <a:spcPct val="100000"/>
                        </a:lnSpc>
                      </a:pPr>
                      <a:r>
                        <a:rPr lang="en-US" sz="1300" b="0" u="none" strike="noStrike">
                          <a:solidFill>
                            <a:srgbClr val="111827"/>
                          </a:solidFill>
                          <a:effectLst/>
                          <a:uFillTx/>
                          <a:latin typeface="Segoe UI"/>
                        </a:rPr>
                        <a:t>Les offres sont bien placées sur la carte</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FF6FF"/>
                    </a:solidFill>
                  </a:tcPr>
                </a:tc>
              </a:tr>
              <a:tr h="548280">
                <a:tc>
                  <a:txBody>
                    <a:bodyPr lIns="73080" rIns="73080" anchor="ctr">
                      <a:noAutofit/>
                    </a:bodyPr>
                    <a:p>
                      <a:pPr defTabSz="457200">
                        <a:lnSpc>
                          <a:spcPct val="100000"/>
                        </a:lnSpc>
                      </a:pPr>
                      <a:r>
                        <a:rPr lang="en-US" sz="1300" b="0" u="none" strike="noStrike">
                          <a:solidFill>
                            <a:srgbClr val="111827"/>
                          </a:solidFill>
                          <a:effectLst/>
                          <a:uFillTx/>
                          <a:latin typeface="Segoe UI"/>
                        </a:rPr>
                        <a:t>4. Archiver</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anchor="ctr">
                      <a:noAutofit/>
                    </a:bodyPr>
                    <a:p>
                      <a:pPr defTabSz="457200">
                        <a:lnSpc>
                          <a:spcPct val="100000"/>
                        </a:lnSpc>
                      </a:pPr>
                      <a:r>
                        <a:rPr lang="en-US" sz="1300" b="0" u="none" strike="noStrike">
                          <a:solidFill>
                            <a:srgbClr val="111827"/>
                          </a:solidFill>
                          <a:effectLst/>
                          <a:uFillTx/>
                          <a:latin typeface="Segoe UI"/>
                        </a:rPr>
                        <a:t>Data Lake</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anchor="ctr">
                      <a:noAutofit/>
                    </a:bodyPr>
                    <a:p>
                      <a:pPr defTabSz="457200">
                        <a:lnSpc>
                          <a:spcPct val="100000"/>
                        </a:lnSpc>
                      </a:pPr>
                      <a:r>
                        <a:rPr lang="en-US" sz="1300" b="0" u="none" strike="noStrike">
                          <a:solidFill>
                            <a:srgbClr val="111827"/>
                          </a:solidFill>
                          <a:effectLst/>
                          <a:uFillTx/>
                          <a:latin typeface="Segoe UI"/>
                        </a:rPr>
                        <a:t>Garde une copie exacte de chaque offre reçue</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anchor="ctr">
                      <a:noAutofit/>
                    </a:bodyPr>
                    <a:p>
                      <a:pPr defTabSz="457200">
                        <a:lnSpc>
                          <a:spcPct val="100000"/>
                        </a:lnSpc>
                      </a:pPr>
                      <a:r>
                        <a:rPr lang="en-US" sz="1300" b="0" u="none" strike="noStrike">
                          <a:solidFill>
                            <a:srgbClr val="111827"/>
                          </a:solidFill>
                          <a:effectLst/>
                          <a:uFillTx/>
                          <a:latin typeface="Segoe UI"/>
                        </a:rPr>
                        <a:t>On peut toujours revenir à l'original</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48280">
                <a:tc>
                  <a:txBody>
                    <a:bodyPr lIns="73080" rIns="73080" anchor="ctr">
                      <a:noAutofit/>
                    </a:bodyPr>
                    <a:p>
                      <a:pPr defTabSz="457200">
                        <a:lnSpc>
                          <a:spcPct val="100000"/>
                        </a:lnSpc>
                      </a:pPr>
                      <a:r>
                        <a:rPr lang="en-US" sz="1300" b="0" u="none" strike="noStrike">
                          <a:solidFill>
                            <a:srgbClr val="111827"/>
                          </a:solidFill>
                          <a:effectLst/>
                          <a:uFillTx/>
                          <a:latin typeface="Segoe UI"/>
                        </a:rPr>
                        <a:t>5. Nettoyer</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FF6FF"/>
                    </a:solidFill>
                  </a:tcPr>
                </a:tc>
                <a:tc>
                  <a:txBody>
                    <a:bodyPr lIns="73080" rIns="73080" anchor="ctr">
                      <a:noAutofit/>
                    </a:bodyPr>
                    <a:p>
                      <a:pPr defTabSz="457200">
                        <a:lnSpc>
                          <a:spcPct val="100000"/>
                        </a:lnSpc>
                      </a:pPr>
                      <a:r>
                        <a:rPr lang="en-US" sz="1300" b="0" u="none" strike="noStrike">
                          <a:solidFill>
                            <a:srgbClr val="111827"/>
                          </a:solidFill>
                          <a:effectLst/>
                          <a:uFillTx/>
                          <a:latin typeface="Segoe UI"/>
                        </a:rPr>
                        <a:t>PySpark</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FF6FF"/>
                    </a:solidFill>
                  </a:tcPr>
                </a:tc>
                <a:tc>
                  <a:txBody>
                    <a:bodyPr lIns="73080" rIns="73080" anchor="ctr">
                      <a:noAutofit/>
                    </a:bodyPr>
                    <a:p>
                      <a:pPr defTabSz="457200">
                        <a:lnSpc>
                          <a:spcPct val="100000"/>
                        </a:lnSpc>
                      </a:pPr>
                      <a:r>
                        <a:rPr lang="en-US" sz="1300" b="0" u="none" strike="noStrike">
                          <a:solidFill>
                            <a:srgbClr val="111827"/>
                          </a:solidFill>
                          <a:effectLst/>
                          <a:uFillTx/>
                          <a:latin typeface="Segoe UI"/>
                        </a:rPr>
                        <a:t>Vérifie, retire les doublons, met de côté les offres incomplètes</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FF6FF"/>
                    </a:solidFill>
                  </a:tcPr>
                </a:tc>
                <a:tc>
                  <a:txBody>
                    <a:bodyPr lIns="73080" rIns="73080" anchor="ctr">
                      <a:noAutofit/>
                    </a:bodyPr>
                    <a:p>
                      <a:pPr defTabSz="457200">
                        <a:lnSpc>
                          <a:spcPct val="100000"/>
                        </a:lnSpc>
                      </a:pPr>
                      <a:r>
                        <a:rPr lang="en-US" sz="1300" b="0" u="none" strike="noStrike">
                          <a:solidFill>
                            <a:srgbClr val="111827"/>
                          </a:solidFill>
                          <a:effectLst/>
                          <a:uFillTx/>
                          <a:latin typeface="Segoe UI"/>
                        </a:rPr>
                        <a:t>Seules des données propres continuent</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FF6FF"/>
                    </a:solidFill>
                  </a:tcPr>
                </a:tc>
              </a:tr>
              <a:tr h="548280">
                <a:tc>
                  <a:txBody>
                    <a:bodyPr lIns="73080" rIns="73080" anchor="ctr">
                      <a:noAutofit/>
                    </a:bodyPr>
                    <a:p>
                      <a:pPr defTabSz="457200">
                        <a:lnSpc>
                          <a:spcPct val="100000"/>
                        </a:lnSpc>
                      </a:pPr>
                      <a:r>
                        <a:rPr lang="en-US" sz="1300" b="0" u="none" strike="noStrike">
                          <a:solidFill>
                            <a:srgbClr val="111827"/>
                          </a:solidFill>
                          <a:effectLst/>
                          <a:uFillTx/>
                          <a:latin typeface="Segoe UI"/>
                        </a:rPr>
                        <a:t>6. Ranger</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anchor="ctr">
                      <a:noAutofit/>
                    </a:bodyPr>
                    <a:p>
                      <a:pPr defTabSz="457200">
                        <a:lnSpc>
                          <a:spcPct val="100000"/>
                        </a:lnSpc>
                      </a:pPr>
                      <a:r>
                        <a:rPr lang="en-US" sz="1300" b="0" u="none" strike="noStrike">
                          <a:solidFill>
                            <a:srgbClr val="111827"/>
                          </a:solidFill>
                          <a:effectLst/>
                          <a:uFillTx/>
                          <a:latin typeface="Segoe UI"/>
                        </a:rPr>
                        <a:t>PostgreSQL</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anchor="ctr">
                      <a:noAutofit/>
                    </a:bodyPr>
                    <a:p>
                      <a:pPr defTabSz="457200">
                        <a:lnSpc>
                          <a:spcPct val="100000"/>
                        </a:lnSpc>
                      </a:pPr>
                      <a:r>
                        <a:rPr lang="en-US" sz="1300" b="0" u="none" strike="noStrike">
                          <a:solidFill>
                            <a:srgbClr val="111827"/>
                          </a:solidFill>
                          <a:effectLst/>
                          <a:uFillTx/>
                          <a:latin typeface="Segoe UI"/>
                        </a:rPr>
                        <a:t>Range les offres dans l'armoire conçue au TP1</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anchor="ctr">
                      <a:noAutofit/>
                    </a:bodyPr>
                    <a:p>
                      <a:pPr defTabSz="457200">
                        <a:lnSpc>
                          <a:spcPct val="100000"/>
                        </a:lnSpc>
                      </a:pPr>
                      <a:r>
                        <a:rPr lang="en-US" sz="1300" b="0" u="none" strike="noStrike">
                          <a:solidFill>
                            <a:srgbClr val="111827"/>
                          </a:solidFill>
                          <a:effectLst/>
                          <a:uFillTx/>
                          <a:latin typeface="Segoe UI"/>
                        </a:rPr>
                        <a:t>Recherches rapides et sans contradiction</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48280">
                <a:tc>
                  <a:txBody>
                    <a:bodyPr lIns="73080" rIns="73080" anchor="ctr">
                      <a:noAutofit/>
                    </a:bodyPr>
                    <a:p>
                      <a:pPr defTabSz="457200">
                        <a:lnSpc>
                          <a:spcPct val="100000"/>
                        </a:lnSpc>
                      </a:pPr>
                      <a:r>
                        <a:rPr lang="en-US" sz="1300" b="0" u="none" strike="noStrike">
                          <a:solidFill>
                            <a:srgbClr val="111827"/>
                          </a:solidFill>
                          <a:effectLst/>
                          <a:uFillTx/>
                          <a:latin typeface="Segoe UI"/>
                        </a:rPr>
                        <a:t>7. Afficher</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FF6FF"/>
                    </a:solidFill>
                  </a:tcPr>
                </a:tc>
                <a:tc>
                  <a:txBody>
                    <a:bodyPr lIns="73080" rIns="73080" anchor="ctr">
                      <a:noAutofit/>
                    </a:bodyPr>
                    <a:p>
                      <a:pPr defTabSz="457200">
                        <a:lnSpc>
                          <a:spcPct val="100000"/>
                        </a:lnSpc>
                      </a:pPr>
                      <a:r>
                        <a:rPr lang="en-US" sz="1300" b="0" u="none" strike="noStrike">
                          <a:solidFill>
                            <a:srgbClr val="111827"/>
                          </a:solidFill>
                          <a:effectLst/>
                          <a:uFillTx/>
                          <a:latin typeface="Segoe UI"/>
                        </a:rPr>
                        <a:t>Dash / Metabase</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FF6FF"/>
                    </a:solidFill>
                  </a:tcPr>
                </a:tc>
                <a:tc>
                  <a:txBody>
                    <a:bodyPr lIns="73080" rIns="73080" anchor="ctr">
                      <a:noAutofit/>
                    </a:bodyPr>
                    <a:p>
                      <a:pPr defTabSz="457200">
                        <a:lnSpc>
                          <a:spcPct val="100000"/>
                        </a:lnSpc>
                      </a:pPr>
                      <a:r>
                        <a:rPr lang="en-US" sz="1300" b="0" u="none" strike="noStrike">
                          <a:solidFill>
                            <a:srgbClr val="111827"/>
                          </a:solidFill>
                          <a:effectLst/>
                          <a:uFillTx/>
                          <a:latin typeface="Segoe UI"/>
                        </a:rPr>
                        <a:t>Présente les offres dans des tableaux de bord</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FF6FF"/>
                    </a:solidFill>
                  </a:tcPr>
                </a:tc>
                <a:tc>
                  <a:txBody>
                    <a:bodyPr lIns="73080" rIns="73080" anchor="ctr">
                      <a:noAutofit/>
                    </a:bodyPr>
                    <a:p>
                      <a:pPr defTabSz="457200">
                        <a:lnSpc>
                          <a:spcPct val="100000"/>
                        </a:lnSpc>
                      </a:pPr>
                      <a:r>
                        <a:rPr lang="en-US" sz="1300" b="0" u="none" strike="noStrike">
                          <a:solidFill>
                            <a:srgbClr val="111827"/>
                          </a:solidFill>
                          <a:effectLst/>
                          <a:uFillTx/>
                          <a:latin typeface="Segoe UI"/>
                        </a:rPr>
                        <a:t>Tout le monde peut les consulter</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FF6FF"/>
                    </a:solidFill>
                  </a:tcPr>
                </a:tc>
              </a:tr>
              <a:tr h="548640">
                <a:tc>
                  <a:txBody>
                    <a:bodyPr lIns="73080" rIns="73080" anchor="ctr">
                      <a:noAutofit/>
                    </a:bodyPr>
                    <a:p>
                      <a:pPr defTabSz="457200">
                        <a:lnSpc>
                          <a:spcPct val="100000"/>
                        </a:lnSpc>
                      </a:pPr>
                      <a:r>
                        <a:rPr lang="en-US" sz="1300" b="0" u="none" strike="noStrike">
                          <a:solidFill>
                            <a:srgbClr val="111827"/>
                          </a:solidFill>
                          <a:effectLst/>
                          <a:uFillTx/>
                          <a:latin typeface="Segoe UI"/>
                        </a:rPr>
                        <a:t>8. Surveiller</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anchor="ctr">
                      <a:noAutofit/>
                    </a:bodyPr>
                    <a:p>
                      <a:pPr defTabSz="457200">
                        <a:lnSpc>
                          <a:spcPct val="100000"/>
                        </a:lnSpc>
                      </a:pPr>
                      <a:r>
                        <a:rPr lang="en-US" sz="1300" b="0" u="none" strike="noStrike">
                          <a:solidFill>
                            <a:srgbClr val="111827"/>
                          </a:solidFill>
                          <a:effectLst/>
                          <a:uFillTx/>
                          <a:latin typeface="Segoe UI"/>
                        </a:rPr>
                        <a:t>Prometheus / Grafana</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anchor="ctr">
                      <a:noAutofit/>
                    </a:bodyPr>
                    <a:p>
                      <a:pPr defTabSz="457200">
                        <a:lnSpc>
                          <a:spcPct val="100000"/>
                        </a:lnSpc>
                      </a:pPr>
                      <a:r>
                        <a:rPr lang="en-US" sz="1300" b="0" u="none" strike="noStrike">
                          <a:solidFill>
                            <a:srgbClr val="111827"/>
                          </a:solidFill>
                          <a:effectLst/>
                          <a:uFillTx/>
                          <a:latin typeface="Segoe UI"/>
                        </a:rPr>
                        <a:t>Contrôle en continu l'état de chaque étape</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anchor="ctr">
                      <a:noAutofit/>
                    </a:bodyPr>
                    <a:p>
                      <a:pPr defTabSz="457200">
                        <a:lnSpc>
                          <a:spcPct val="100000"/>
                        </a:lnSpc>
                      </a:pPr>
                      <a:r>
                        <a:rPr lang="en-US" sz="1300" b="0" u="none" strike="noStrike">
                          <a:solidFill>
                            <a:srgbClr val="111827"/>
                          </a:solidFill>
                          <a:effectLst/>
                          <a:uFillTx/>
                          <a:latin typeface="Segoe UI"/>
                        </a:rPr>
                        <a:t>Une panne se voit tout de suite</a:t>
                      </a:r>
                      <a:endParaRPr lang="fr-FR" sz="13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Rectangle 1"/>
          <p:cNvSpPr/>
          <p:nvPr/>
        </p:nvSpPr>
        <p:spPr>
          <a:xfrm>
            <a:off x="0" y="0"/>
            <a:ext cx="12191400" cy="959760"/>
          </a:xfrm>
          <a:prstGeom prst="rect">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05" name="TextBox 2"/>
          <p:cNvSpPr/>
          <p:nvPr/>
        </p:nvSpPr>
        <p:spPr>
          <a:xfrm>
            <a:off x="457200" y="164520"/>
            <a:ext cx="8960760" cy="68544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2800" b="1" u="none" strike="noStrike">
                <a:solidFill>
                  <a:srgbClr val="FFFFFF"/>
                </a:solidFill>
                <a:effectLst/>
                <a:uFillTx/>
                <a:latin typeface="Segoe UI"/>
              </a:rPr>
              <a:t>TP2 : ce que le pipeline a produit</a:t>
            </a:r>
            <a:endParaRPr lang="fr-FR" sz="2800" b="0" u="none" strike="noStrike">
              <a:solidFill>
                <a:srgbClr val="000000"/>
              </a:solidFill>
              <a:effectLst/>
              <a:uFillTx/>
              <a:latin typeface="Arial"/>
            </a:endParaRPr>
          </a:p>
        </p:txBody>
      </p:sp>
      <p:sp>
        <p:nvSpPr>
          <p:cNvPr id="206" name="TextBox 3"/>
          <p:cNvSpPr/>
          <p:nvPr/>
        </p:nvSpPr>
        <p:spPr>
          <a:xfrm>
            <a:off x="8961120" y="274320"/>
            <a:ext cx="2925720" cy="45684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300" b="0" u="none" strike="noStrike">
                <a:solidFill>
                  <a:srgbClr val="BFDBFE"/>
                </a:solidFill>
                <a:effectLst/>
                <a:uFillTx/>
                <a:latin typeface="Segoe UI"/>
              </a:rPr>
              <a:t>TP2 — Automatiser</a:t>
            </a:r>
            <a:endParaRPr lang="fr-FR" sz="1300" b="0" u="none" strike="noStrike">
              <a:solidFill>
                <a:srgbClr val="000000"/>
              </a:solidFill>
              <a:effectLst/>
              <a:uFillTx/>
              <a:latin typeface="Arial"/>
            </a:endParaRPr>
          </a:p>
        </p:txBody>
      </p:sp>
      <p:sp>
        <p:nvSpPr>
          <p:cNvPr id="207" name="Rectangle 4"/>
          <p:cNvSpPr/>
          <p:nvPr/>
        </p:nvSpPr>
        <p:spPr>
          <a:xfrm>
            <a:off x="0" y="6583680"/>
            <a:ext cx="12191400" cy="273960"/>
          </a:xfrm>
          <a:prstGeom prst="rect">
            <a:avLst/>
          </a:prstGeom>
          <a:solidFill>
            <a:srgbClr val="EFF6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08" name="TextBox 5"/>
          <p:cNvSpPr/>
          <p:nvPr/>
        </p:nvSpPr>
        <p:spPr>
          <a:xfrm>
            <a:off x="457200" y="6583680"/>
            <a:ext cx="8229240" cy="27396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000" b="0" u="none" strike="noStrike">
                <a:solidFill>
                  <a:srgbClr val="6B7280"/>
                </a:solidFill>
                <a:effectLst/>
                <a:uFillTx/>
                <a:latin typeface="Segoe UI"/>
              </a:rPr>
              <a:t>Des offres d'emploi brutes à une plateforme de données fiable  •  Théo Mousnier</a:t>
            </a:r>
            <a:endParaRPr lang="fr-FR" sz="1000" b="0" u="none" strike="noStrike">
              <a:solidFill>
                <a:srgbClr val="000000"/>
              </a:solidFill>
              <a:effectLst/>
              <a:uFillTx/>
              <a:latin typeface="Arial"/>
            </a:endParaRPr>
          </a:p>
        </p:txBody>
      </p:sp>
      <p:sp>
        <p:nvSpPr>
          <p:cNvPr id="209" name="TextBox 6"/>
          <p:cNvSpPr/>
          <p:nvPr/>
        </p:nvSpPr>
        <p:spPr>
          <a:xfrm>
            <a:off x="10789920" y="6583680"/>
            <a:ext cx="1005480" cy="27396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000" b="0" u="none" strike="noStrike">
                <a:solidFill>
                  <a:srgbClr val="6B7280"/>
                </a:solidFill>
                <a:effectLst/>
                <a:uFillTx/>
                <a:latin typeface="Segoe UI"/>
              </a:rPr>
              <a:t>9 / 16</a:t>
            </a:r>
            <a:endParaRPr lang="fr-FR" sz="1000" b="0" u="none" strike="noStrike">
              <a:solidFill>
                <a:srgbClr val="000000"/>
              </a:solidFill>
              <a:effectLst/>
              <a:uFillTx/>
              <a:latin typeface="Arial"/>
            </a:endParaRPr>
          </a:p>
        </p:txBody>
      </p:sp>
      <p:graphicFrame>
        <p:nvGraphicFramePr>
          <p:cNvPr id="210" name="Chart 7"/>
          <p:cNvGraphicFramePr/>
          <p:nvPr/>
        </p:nvGraphicFramePr>
        <p:xfrm>
          <a:off x="548640" y="1188720"/>
          <a:ext cx="6400440" cy="5211720"/>
        </p:xfrm>
        <a:graphic>
          <a:graphicData uri="http://schemas.openxmlformats.org/drawingml/2006/chart">
            <c:chart xmlns:c="http://schemas.openxmlformats.org/drawingml/2006/chart" xmlns:r="http://schemas.openxmlformats.org/officeDocument/2006/relationships" r:id="rId1"/>
          </a:graphicData>
        </a:graphic>
      </p:graphicFrame>
      <p:sp>
        <p:nvSpPr>
          <p:cNvPr id="211" name="TextBox 8"/>
          <p:cNvSpPr/>
          <p:nvPr/>
        </p:nvSpPr>
        <p:spPr>
          <a:xfrm>
            <a:off x="7315200" y="1371600"/>
            <a:ext cx="4480200" cy="4845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700" b="0" u="none" strike="noStrike">
                <a:solidFill>
                  <a:srgbClr val="111827"/>
                </a:solidFill>
                <a:effectLst/>
                <a:uFillTx/>
                <a:latin typeface="Segoe UI"/>
              </a:rPr>
              <a:t>•  42 750 fiches reçues</a:t>
            </a:r>
            <a:endParaRPr lang="fr-FR" sz="1700" b="0" u="none" strike="noStrike">
              <a:solidFill>
                <a:srgbClr val="000000"/>
              </a:solidFill>
              <a:effectLst/>
              <a:uFillTx/>
              <a:latin typeface="Arial"/>
            </a:endParaRPr>
          </a:p>
          <a:p>
            <a:pPr defTabSz="457200">
              <a:lnSpc>
                <a:spcPct val="100000"/>
              </a:lnSpc>
              <a:spcAft>
                <a:spcPts val="799"/>
              </a:spcAft>
            </a:pPr>
            <a:r>
              <a:rPr lang="en-US" sz="1700" b="0" u="none" strike="noStrike">
                <a:solidFill>
                  <a:srgbClr val="111827"/>
                </a:solidFill>
                <a:effectLst/>
                <a:uFillTx/>
                <a:latin typeface="Segoe UI"/>
              </a:rPr>
              <a:t>•  19 540 doublons : la même annonce vue plusieurs fois</a:t>
            </a:r>
            <a:endParaRPr lang="fr-FR" sz="1700" b="0" u="none" strike="noStrike">
              <a:solidFill>
                <a:srgbClr val="000000"/>
              </a:solidFill>
              <a:effectLst/>
              <a:uFillTx/>
              <a:latin typeface="Arial"/>
            </a:endParaRPr>
          </a:p>
          <a:p>
            <a:pPr defTabSz="457200">
              <a:lnSpc>
                <a:spcPct val="100000"/>
              </a:lnSpc>
              <a:spcAft>
                <a:spcPts val="799"/>
              </a:spcAft>
            </a:pPr>
            <a:r>
              <a:rPr lang="en-US" sz="1700" b="0" u="none" strike="noStrike">
                <a:solidFill>
                  <a:srgbClr val="111827"/>
                </a:solidFill>
                <a:effectLst/>
                <a:uFillTx/>
                <a:latin typeface="Segoe UI"/>
              </a:rPr>
              <a:t>•  1 297 offres écartées car incomplètes (mises de côté, pas supprimées)</a:t>
            </a:r>
            <a:endParaRPr lang="fr-FR" sz="1700" b="0" u="none" strike="noStrike">
              <a:solidFill>
                <a:srgbClr val="000000"/>
              </a:solidFill>
              <a:effectLst/>
              <a:uFillTx/>
              <a:latin typeface="Arial"/>
            </a:endParaRPr>
          </a:p>
          <a:p>
            <a:pPr defTabSz="457200">
              <a:lnSpc>
                <a:spcPct val="100000"/>
              </a:lnSpc>
              <a:spcAft>
                <a:spcPts val="799"/>
              </a:spcAft>
            </a:pPr>
            <a:r>
              <a:rPr lang="en-US" sz="1700" b="0" u="none" strike="noStrike">
                <a:solidFill>
                  <a:srgbClr val="111827"/>
                </a:solidFill>
                <a:effectLst/>
                <a:uFillTx/>
                <a:latin typeface="Segoe UI"/>
              </a:rPr>
              <a:t>•  21 913 offres uniques et propres</a:t>
            </a:r>
            <a:endParaRPr lang="fr-FR" sz="1700" b="0" u="none" strike="noStrike">
              <a:solidFill>
                <a:srgbClr val="000000"/>
              </a:solidFill>
              <a:effectLst/>
              <a:uFillTx/>
              <a:latin typeface="Arial"/>
            </a:endParaRPr>
          </a:p>
          <a:p>
            <a:pPr defTabSz="457200">
              <a:lnSpc>
                <a:spcPct val="100000"/>
              </a:lnSpc>
              <a:spcAft>
                <a:spcPts val="799"/>
              </a:spcAft>
            </a:pPr>
            <a:r>
              <a:rPr lang="en-US" sz="1700" b="0" u="none" strike="noStrike">
                <a:solidFill>
                  <a:srgbClr val="111827"/>
                </a:solidFill>
                <a:effectLst/>
                <a:uFillTx/>
                <a:latin typeface="Segoe UI"/>
              </a:rPr>
              <a:t>•  25 passages de nettoyage automatiques</a:t>
            </a:r>
            <a:endParaRPr lang="fr-FR" sz="1700" b="0" u="none" strike="noStrike">
              <a:solidFill>
                <a:srgbClr val="000000"/>
              </a:solidFill>
              <a:effectLst/>
              <a:uFillTx/>
              <a:latin typeface="Arial"/>
            </a:endParaRPr>
          </a:p>
          <a:p>
            <a:pPr defTabSz="457200">
              <a:lnSpc>
                <a:spcPct val="100000"/>
              </a:lnSpc>
              <a:spcAft>
                <a:spcPts val="799"/>
              </a:spcAft>
            </a:pPr>
            <a:r>
              <a:rPr lang="en-US" sz="1700" b="0" u="none" strike="noStrike">
                <a:solidFill>
                  <a:srgbClr val="111827"/>
                </a:solidFill>
                <a:effectLst/>
                <a:uFillTx/>
                <a:latin typeface="Segoe UI"/>
              </a:rPr>
              <a:t>•  Aucune intervention humaine</a:t>
            </a:r>
            <a:endParaRPr lang="fr-FR"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Rectangle 1"/>
          <p:cNvSpPr/>
          <p:nvPr/>
        </p:nvSpPr>
        <p:spPr>
          <a:xfrm>
            <a:off x="0" y="0"/>
            <a:ext cx="12191400" cy="959760"/>
          </a:xfrm>
          <a:prstGeom prst="rect">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13" name="TextBox 2"/>
          <p:cNvSpPr/>
          <p:nvPr/>
        </p:nvSpPr>
        <p:spPr>
          <a:xfrm>
            <a:off x="457200" y="164520"/>
            <a:ext cx="8960760" cy="68544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2800" b="1" u="none" strike="noStrike">
                <a:solidFill>
                  <a:srgbClr val="FFFFFF"/>
                </a:solidFill>
                <a:effectLst/>
                <a:uFillTx/>
                <a:latin typeface="Segoe UI"/>
              </a:rPr>
              <a:t>TP2 : un pipeline qui se surveille lui-même</a:t>
            </a:r>
            <a:endParaRPr lang="fr-FR" sz="2800" b="0" u="none" strike="noStrike">
              <a:solidFill>
                <a:srgbClr val="000000"/>
              </a:solidFill>
              <a:effectLst/>
              <a:uFillTx/>
              <a:latin typeface="Arial"/>
            </a:endParaRPr>
          </a:p>
        </p:txBody>
      </p:sp>
      <p:sp>
        <p:nvSpPr>
          <p:cNvPr id="214" name="TextBox 3"/>
          <p:cNvSpPr/>
          <p:nvPr/>
        </p:nvSpPr>
        <p:spPr>
          <a:xfrm>
            <a:off x="8961120" y="274320"/>
            <a:ext cx="2925720" cy="45684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300" b="0" u="none" strike="noStrike">
                <a:solidFill>
                  <a:srgbClr val="BFDBFE"/>
                </a:solidFill>
                <a:effectLst/>
                <a:uFillTx/>
                <a:latin typeface="Segoe UI"/>
              </a:rPr>
              <a:t>TP2 — Automatiser</a:t>
            </a:r>
            <a:endParaRPr lang="fr-FR" sz="1300" b="0" u="none" strike="noStrike">
              <a:solidFill>
                <a:srgbClr val="000000"/>
              </a:solidFill>
              <a:effectLst/>
              <a:uFillTx/>
              <a:latin typeface="Arial"/>
            </a:endParaRPr>
          </a:p>
        </p:txBody>
      </p:sp>
      <p:sp>
        <p:nvSpPr>
          <p:cNvPr id="215" name="Rectangle 4"/>
          <p:cNvSpPr/>
          <p:nvPr/>
        </p:nvSpPr>
        <p:spPr>
          <a:xfrm>
            <a:off x="0" y="6583680"/>
            <a:ext cx="12191400" cy="273960"/>
          </a:xfrm>
          <a:prstGeom prst="rect">
            <a:avLst/>
          </a:prstGeom>
          <a:solidFill>
            <a:srgbClr val="EFF6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16" name="TextBox 5"/>
          <p:cNvSpPr/>
          <p:nvPr/>
        </p:nvSpPr>
        <p:spPr>
          <a:xfrm>
            <a:off x="457200" y="6583680"/>
            <a:ext cx="8229240" cy="27396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000" b="0" u="none" strike="noStrike">
                <a:solidFill>
                  <a:srgbClr val="6B7280"/>
                </a:solidFill>
                <a:effectLst/>
                <a:uFillTx/>
                <a:latin typeface="Segoe UI"/>
              </a:rPr>
              <a:t>Des offres d'emploi brutes à une plateforme de données fiable  •  Théo Mousnier</a:t>
            </a:r>
            <a:endParaRPr lang="fr-FR" sz="1000" b="0" u="none" strike="noStrike">
              <a:solidFill>
                <a:srgbClr val="000000"/>
              </a:solidFill>
              <a:effectLst/>
              <a:uFillTx/>
              <a:latin typeface="Arial"/>
            </a:endParaRPr>
          </a:p>
        </p:txBody>
      </p:sp>
      <p:sp>
        <p:nvSpPr>
          <p:cNvPr id="217" name="TextBox 6"/>
          <p:cNvSpPr/>
          <p:nvPr/>
        </p:nvSpPr>
        <p:spPr>
          <a:xfrm>
            <a:off x="10789920" y="6583680"/>
            <a:ext cx="1005480" cy="27396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000" b="0" u="none" strike="noStrike">
                <a:solidFill>
                  <a:srgbClr val="6B7280"/>
                </a:solidFill>
                <a:effectLst/>
                <a:uFillTx/>
                <a:latin typeface="Segoe UI"/>
              </a:rPr>
              <a:t>10 / 16</a:t>
            </a:r>
            <a:endParaRPr lang="fr-FR" sz="1000" b="0" u="none" strike="noStrike">
              <a:solidFill>
                <a:srgbClr val="000000"/>
              </a:solidFill>
              <a:effectLst/>
              <a:uFillTx/>
              <a:latin typeface="Arial"/>
            </a:endParaRPr>
          </a:p>
        </p:txBody>
      </p:sp>
      <p:sp>
        <p:nvSpPr>
          <p:cNvPr id="218" name="Rounded Rectangle 7"/>
          <p:cNvSpPr/>
          <p:nvPr/>
        </p:nvSpPr>
        <p:spPr>
          <a:xfrm>
            <a:off x="548640" y="1371600"/>
            <a:ext cx="3565800" cy="2559960"/>
          </a:xfrm>
          <a:prstGeom prst="roundRect">
            <a:avLst>
              <a:gd name="adj" fmla="val 4285"/>
            </a:avLst>
          </a:prstGeom>
          <a:solidFill>
            <a:srgbClr val="FFFFFF"/>
          </a:solidFill>
          <a:ln w="15875">
            <a:solidFill>
              <a:srgbClr val="D1D5D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19" name="Rectangle 8"/>
          <p:cNvSpPr/>
          <p:nvPr/>
        </p:nvSpPr>
        <p:spPr>
          <a:xfrm>
            <a:off x="548640" y="1371600"/>
            <a:ext cx="3565800" cy="109440"/>
          </a:xfrm>
          <a:prstGeom prst="rect">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20" name="TextBox 9"/>
          <p:cNvSpPr/>
          <p:nvPr/>
        </p:nvSpPr>
        <p:spPr>
          <a:xfrm>
            <a:off x="731520" y="1600200"/>
            <a:ext cx="3200040" cy="54828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900" b="1" u="none" strike="noStrike">
                <a:solidFill>
                  <a:srgbClr val="1E3A8A"/>
                </a:solidFill>
                <a:effectLst/>
                <a:uFillTx/>
                <a:latin typeface="Segoe UI"/>
              </a:rPr>
              <a:t>Tout fonctionne ?</a:t>
            </a:r>
            <a:endParaRPr lang="fr-FR" sz="1900" b="0" u="none" strike="noStrike">
              <a:solidFill>
                <a:srgbClr val="000000"/>
              </a:solidFill>
              <a:effectLst/>
              <a:uFillTx/>
              <a:latin typeface="Arial"/>
            </a:endParaRPr>
          </a:p>
        </p:txBody>
      </p:sp>
      <p:sp>
        <p:nvSpPr>
          <p:cNvPr id="221" name="TextBox 10"/>
          <p:cNvSpPr/>
          <p:nvPr/>
        </p:nvSpPr>
        <p:spPr>
          <a:xfrm>
            <a:off x="731520" y="2194560"/>
            <a:ext cx="3200040" cy="164556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600" b="0" u="none" strike="noStrike">
                <a:solidFill>
                  <a:srgbClr val="111827"/>
                </a:solidFill>
                <a:effectLst/>
                <a:uFillTx/>
                <a:latin typeface="Segoe UI"/>
              </a:rPr>
              <a:t>Chaque étape est surveillée</a:t>
            </a:r>
            <a:endParaRPr lang="fr-FR" sz="1600" b="0" u="none" strike="noStrike">
              <a:solidFill>
                <a:srgbClr val="000000"/>
              </a:solidFill>
              <a:effectLst/>
              <a:uFillTx/>
              <a:latin typeface="Arial"/>
            </a:endParaRPr>
          </a:p>
          <a:p>
            <a:pPr algn="ctr" defTabSz="457200">
              <a:lnSpc>
                <a:spcPct val="100000"/>
              </a:lnSpc>
            </a:pPr>
            <a:r>
              <a:rPr lang="en-US" sz="1600" b="0" u="none" strike="noStrike">
                <a:solidFill>
                  <a:srgbClr val="111827"/>
                </a:solidFill>
                <a:effectLst/>
                <a:uFillTx/>
                <a:latin typeface="Segoe UI"/>
              </a:rPr>
              <a:t>Une panne est visible immédiatement</a:t>
            </a:r>
            <a:endParaRPr lang="fr-FR" sz="1600" b="0" u="none" strike="noStrike">
              <a:solidFill>
                <a:srgbClr val="000000"/>
              </a:solidFill>
              <a:effectLst/>
              <a:uFillTx/>
              <a:latin typeface="Arial"/>
            </a:endParaRPr>
          </a:p>
        </p:txBody>
      </p:sp>
      <p:sp>
        <p:nvSpPr>
          <p:cNvPr id="222" name="Rounded Rectangle 11"/>
          <p:cNvSpPr/>
          <p:nvPr/>
        </p:nvSpPr>
        <p:spPr>
          <a:xfrm>
            <a:off x="4343400" y="1371600"/>
            <a:ext cx="3565800" cy="2559960"/>
          </a:xfrm>
          <a:prstGeom prst="roundRect">
            <a:avLst>
              <a:gd name="adj" fmla="val 4285"/>
            </a:avLst>
          </a:prstGeom>
          <a:solidFill>
            <a:srgbClr val="FFFFFF"/>
          </a:solidFill>
          <a:ln w="15875">
            <a:solidFill>
              <a:srgbClr val="D1D5D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23" name="Rectangle 12"/>
          <p:cNvSpPr/>
          <p:nvPr/>
        </p:nvSpPr>
        <p:spPr>
          <a:xfrm>
            <a:off x="4343400" y="1371600"/>
            <a:ext cx="3565800" cy="1094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24" name="TextBox 13"/>
          <p:cNvSpPr/>
          <p:nvPr/>
        </p:nvSpPr>
        <p:spPr>
          <a:xfrm>
            <a:off x="4526280" y="1600200"/>
            <a:ext cx="3200040" cy="54828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900" b="1" u="none" strike="noStrike">
                <a:solidFill>
                  <a:srgbClr val="2563EB"/>
                </a:solidFill>
                <a:effectLst/>
                <a:uFillTx/>
                <a:latin typeface="Segoe UI"/>
              </a:rPr>
              <a:t>Les données arrivent ?</a:t>
            </a:r>
            <a:endParaRPr lang="fr-FR" sz="1900" b="0" u="none" strike="noStrike">
              <a:solidFill>
                <a:srgbClr val="000000"/>
              </a:solidFill>
              <a:effectLst/>
              <a:uFillTx/>
              <a:latin typeface="Arial"/>
            </a:endParaRPr>
          </a:p>
        </p:txBody>
      </p:sp>
      <p:sp>
        <p:nvSpPr>
          <p:cNvPr id="225" name="TextBox 14"/>
          <p:cNvSpPr/>
          <p:nvPr/>
        </p:nvSpPr>
        <p:spPr>
          <a:xfrm>
            <a:off x="4526280" y="2194560"/>
            <a:ext cx="3200040" cy="164556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600" b="0" u="none" strike="noStrike">
                <a:solidFill>
                  <a:srgbClr val="111827"/>
                </a:solidFill>
                <a:effectLst/>
                <a:uFillTx/>
                <a:latin typeface="Segoe UI"/>
              </a:rPr>
              <a:t>Nombre d'offres reçues</a:t>
            </a:r>
            <a:endParaRPr lang="fr-FR" sz="1600" b="0" u="none" strike="noStrike">
              <a:solidFill>
                <a:srgbClr val="000000"/>
              </a:solidFill>
              <a:effectLst/>
              <a:uFillTx/>
              <a:latin typeface="Arial"/>
            </a:endParaRPr>
          </a:p>
          <a:p>
            <a:pPr algn="ctr" defTabSz="457200">
              <a:lnSpc>
                <a:spcPct val="100000"/>
              </a:lnSpc>
            </a:pPr>
            <a:r>
              <a:rPr lang="en-US" sz="1600" b="0" u="none" strike="noStrike">
                <a:solidFill>
                  <a:srgbClr val="111827"/>
                </a:solidFill>
                <a:effectLst/>
                <a:uFillTx/>
                <a:latin typeface="Segoe UI"/>
              </a:rPr>
              <a:t>Offres encore en attente</a:t>
            </a:r>
            <a:endParaRPr lang="fr-FR" sz="1600" b="0" u="none" strike="noStrike">
              <a:solidFill>
                <a:srgbClr val="000000"/>
              </a:solidFill>
              <a:effectLst/>
              <a:uFillTx/>
              <a:latin typeface="Arial"/>
            </a:endParaRPr>
          </a:p>
        </p:txBody>
      </p:sp>
      <p:sp>
        <p:nvSpPr>
          <p:cNvPr id="226" name="Rounded Rectangle 15"/>
          <p:cNvSpPr/>
          <p:nvPr/>
        </p:nvSpPr>
        <p:spPr>
          <a:xfrm>
            <a:off x="8138160" y="1371600"/>
            <a:ext cx="3565800" cy="2559960"/>
          </a:xfrm>
          <a:prstGeom prst="roundRect">
            <a:avLst>
              <a:gd name="adj" fmla="val 4285"/>
            </a:avLst>
          </a:prstGeom>
          <a:solidFill>
            <a:srgbClr val="FFFFFF"/>
          </a:solidFill>
          <a:ln w="15875">
            <a:solidFill>
              <a:srgbClr val="D1D5D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27" name="Rectangle 16"/>
          <p:cNvSpPr/>
          <p:nvPr/>
        </p:nvSpPr>
        <p:spPr>
          <a:xfrm>
            <a:off x="8138160" y="1371600"/>
            <a:ext cx="3565800" cy="109440"/>
          </a:xfrm>
          <a:prstGeom prst="rect">
            <a:avLst/>
          </a:prstGeom>
          <a:solidFill>
            <a:srgbClr val="16A3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28" name="TextBox 17"/>
          <p:cNvSpPr/>
          <p:nvPr/>
        </p:nvSpPr>
        <p:spPr>
          <a:xfrm>
            <a:off x="8321040" y="1600200"/>
            <a:ext cx="3200040" cy="54828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900" b="1" u="none" strike="noStrike">
                <a:solidFill>
                  <a:srgbClr val="16A34A"/>
                </a:solidFill>
                <a:effectLst/>
                <a:uFillTx/>
                <a:latin typeface="Segoe UI"/>
              </a:rPr>
              <a:t>La qualité tient ?</a:t>
            </a:r>
            <a:endParaRPr lang="fr-FR" sz="1900" b="0" u="none" strike="noStrike">
              <a:solidFill>
                <a:srgbClr val="000000"/>
              </a:solidFill>
              <a:effectLst/>
              <a:uFillTx/>
              <a:latin typeface="Arial"/>
            </a:endParaRPr>
          </a:p>
        </p:txBody>
      </p:sp>
      <p:sp>
        <p:nvSpPr>
          <p:cNvPr id="229" name="TextBox 18"/>
          <p:cNvSpPr/>
          <p:nvPr/>
        </p:nvSpPr>
        <p:spPr>
          <a:xfrm>
            <a:off x="8321040" y="2194560"/>
            <a:ext cx="3200040" cy="164556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600" b="0" u="none" strike="noStrike">
                <a:solidFill>
                  <a:srgbClr val="111827"/>
                </a:solidFill>
                <a:effectLst/>
                <a:uFillTx/>
                <a:latin typeface="Segoe UI"/>
              </a:rPr>
              <a:t>Offres brutes, propres et écartées</a:t>
            </a:r>
            <a:endParaRPr lang="fr-FR" sz="1600" b="0" u="none" strike="noStrike">
              <a:solidFill>
                <a:srgbClr val="000000"/>
              </a:solidFill>
              <a:effectLst/>
              <a:uFillTx/>
              <a:latin typeface="Arial"/>
            </a:endParaRPr>
          </a:p>
          <a:p>
            <a:pPr algn="ctr" defTabSz="457200">
              <a:lnSpc>
                <a:spcPct val="100000"/>
              </a:lnSpc>
            </a:pPr>
            <a:r>
              <a:rPr lang="en-US" sz="1600" b="0" u="none" strike="noStrike">
                <a:solidFill>
                  <a:srgbClr val="111827"/>
                </a:solidFill>
                <a:effectLst/>
                <a:uFillTx/>
                <a:latin typeface="Segoe UI"/>
              </a:rPr>
              <a:t>Suivi à chaque nettoyage</a:t>
            </a:r>
            <a:endParaRPr lang="fr-FR" sz="1600" b="0" u="none" strike="noStrike">
              <a:solidFill>
                <a:srgbClr val="000000"/>
              </a:solidFill>
              <a:effectLst/>
              <a:uFillTx/>
              <a:latin typeface="Arial"/>
            </a:endParaRPr>
          </a:p>
        </p:txBody>
      </p:sp>
      <p:sp>
        <p:nvSpPr>
          <p:cNvPr id="230" name="Rounded Rectangle 19"/>
          <p:cNvSpPr/>
          <p:nvPr/>
        </p:nvSpPr>
        <p:spPr>
          <a:xfrm>
            <a:off x="1371600" y="4389120"/>
            <a:ext cx="2773440" cy="1096920"/>
          </a:xfrm>
          <a:prstGeom prst="roundRect">
            <a:avLst>
              <a:gd name="adj" fmla="val 10000"/>
            </a:avLst>
          </a:prstGeom>
          <a:solidFill>
            <a:srgbClr val="6B728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700" b="1" u="none" strike="noStrike">
                <a:solidFill>
                  <a:srgbClr val="FFFFFF"/>
                </a:solidFill>
                <a:effectLst/>
                <a:uFillTx/>
                <a:latin typeface="Segoe UI"/>
              </a:rPr>
              <a:t>Reçues</a:t>
            </a:r>
            <a:endParaRPr lang="fr-FR" sz="1700" b="0" u="none" strike="noStrike">
              <a:solidFill>
                <a:srgbClr val="FFFFFF"/>
              </a:solidFill>
              <a:effectLst/>
              <a:uFillTx/>
              <a:latin typeface="Arial"/>
            </a:endParaRPr>
          </a:p>
          <a:p>
            <a:pPr algn="ctr" defTabSz="457200">
              <a:lnSpc>
                <a:spcPct val="100000"/>
              </a:lnSpc>
            </a:pPr>
            <a:r>
              <a:rPr lang="en-US" sz="1400" b="0" u="none" strike="noStrike">
                <a:solidFill>
                  <a:srgbClr val="FFFFFF"/>
                </a:solidFill>
                <a:effectLst/>
                <a:uFillTx/>
                <a:latin typeface="Segoe UI"/>
              </a:rPr>
              <a:t>42 750 fiches</a:t>
            </a:r>
            <a:endParaRPr lang="fr-FR" sz="1400" b="0" u="none" strike="noStrike">
              <a:solidFill>
                <a:srgbClr val="FFFFFF"/>
              </a:solidFill>
              <a:effectLst/>
              <a:uFillTx/>
              <a:latin typeface="Arial"/>
            </a:endParaRPr>
          </a:p>
        </p:txBody>
      </p:sp>
      <p:sp>
        <p:nvSpPr>
          <p:cNvPr id="231" name="Rounded Rectangle 20"/>
          <p:cNvSpPr/>
          <p:nvPr/>
        </p:nvSpPr>
        <p:spPr>
          <a:xfrm>
            <a:off x="4694040" y="4389120"/>
            <a:ext cx="2773440" cy="1096920"/>
          </a:xfrm>
          <a:prstGeom prst="roundRect">
            <a:avLst>
              <a:gd name="adj" fmla="val 10000"/>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700" b="1" u="none" strike="noStrike">
                <a:solidFill>
                  <a:srgbClr val="FFFFFF"/>
                </a:solidFill>
                <a:effectLst/>
                <a:uFillTx/>
                <a:latin typeface="Segoe UI"/>
              </a:rPr>
              <a:t>Nettoyage</a:t>
            </a:r>
            <a:endParaRPr lang="fr-FR" sz="1700" b="0" u="none" strike="noStrike">
              <a:solidFill>
                <a:srgbClr val="FFFFFF"/>
              </a:solidFill>
              <a:effectLst/>
              <a:uFillTx/>
              <a:latin typeface="Arial"/>
            </a:endParaRPr>
          </a:p>
          <a:p>
            <a:pPr algn="ctr" defTabSz="457200">
              <a:lnSpc>
                <a:spcPct val="100000"/>
              </a:lnSpc>
            </a:pPr>
            <a:r>
              <a:rPr lang="en-US" sz="1400" b="0" u="none" strike="noStrike">
                <a:solidFill>
                  <a:srgbClr val="FFFFFF"/>
                </a:solidFill>
                <a:effectLst/>
                <a:uFillTx/>
                <a:latin typeface="Segoe UI"/>
              </a:rPr>
              <a:t>automatique</a:t>
            </a:r>
            <a:endParaRPr lang="fr-FR" sz="1400" b="0" u="none" strike="noStrike">
              <a:solidFill>
                <a:srgbClr val="FFFFFF"/>
              </a:solidFill>
              <a:effectLst/>
              <a:uFillTx/>
              <a:latin typeface="Arial"/>
            </a:endParaRPr>
          </a:p>
        </p:txBody>
      </p:sp>
      <p:cxnSp>
        <p:nvCxnSpPr>
          <p:cNvPr id="232" name="Connector 21"/>
          <p:cNvCxnSpPr/>
          <p:nvPr/>
        </p:nvCxnSpPr>
        <p:spPr>
          <a:xfrm>
            <a:off x="4163400" y="4937400"/>
            <a:ext cx="512280" cy="360"/>
          </a:xfrm>
          <a:prstGeom prst="straightConnector1">
            <a:avLst/>
          </a:prstGeom>
          <a:ln>
            <a:solidFill>
              <a:srgbClr val="6B7280"/>
            </a:solidFill>
            <a:round/>
            <a:tailEnd len="med" type="triangle" w="med"/>
          </a:ln>
        </p:spPr>
      </p:cxnSp>
      <p:sp>
        <p:nvSpPr>
          <p:cNvPr id="233" name="Rounded Rectangle 22"/>
          <p:cNvSpPr/>
          <p:nvPr/>
        </p:nvSpPr>
        <p:spPr>
          <a:xfrm>
            <a:off x="8016120" y="4389120"/>
            <a:ext cx="2773440" cy="1096920"/>
          </a:xfrm>
          <a:prstGeom prst="roundRect">
            <a:avLst>
              <a:gd name="adj" fmla="val 10000"/>
            </a:avLst>
          </a:prstGeom>
          <a:solidFill>
            <a:srgbClr val="16A3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700" b="1" u="none" strike="noStrike">
                <a:solidFill>
                  <a:srgbClr val="FFFFFF"/>
                </a:solidFill>
                <a:effectLst/>
                <a:uFillTx/>
                <a:latin typeface="Segoe UI"/>
              </a:rPr>
              <a:t>Propres</a:t>
            </a:r>
            <a:endParaRPr lang="fr-FR" sz="1700" b="0" u="none" strike="noStrike">
              <a:solidFill>
                <a:srgbClr val="FFFFFF"/>
              </a:solidFill>
              <a:effectLst/>
              <a:uFillTx/>
              <a:latin typeface="Arial"/>
            </a:endParaRPr>
          </a:p>
          <a:p>
            <a:pPr algn="ctr" defTabSz="457200">
              <a:lnSpc>
                <a:spcPct val="100000"/>
              </a:lnSpc>
            </a:pPr>
            <a:r>
              <a:rPr lang="en-US" sz="1400" b="0" u="none" strike="noStrike">
                <a:solidFill>
                  <a:srgbClr val="FFFFFF"/>
                </a:solidFill>
                <a:effectLst/>
                <a:uFillTx/>
                <a:latin typeface="Segoe UI"/>
              </a:rPr>
              <a:t>21 913 offres</a:t>
            </a:r>
            <a:endParaRPr lang="fr-FR" sz="1400" b="0" u="none" strike="noStrike">
              <a:solidFill>
                <a:srgbClr val="FFFFFF"/>
              </a:solidFill>
              <a:effectLst/>
              <a:uFillTx/>
              <a:latin typeface="Arial"/>
            </a:endParaRPr>
          </a:p>
        </p:txBody>
      </p:sp>
      <p:cxnSp>
        <p:nvCxnSpPr>
          <p:cNvPr id="234" name="Connector 23"/>
          <p:cNvCxnSpPr/>
          <p:nvPr/>
        </p:nvCxnSpPr>
        <p:spPr>
          <a:xfrm>
            <a:off x="7485840" y="4937400"/>
            <a:ext cx="512280" cy="360"/>
          </a:xfrm>
          <a:prstGeom prst="straightConnector1">
            <a:avLst/>
          </a:prstGeom>
          <a:ln>
            <a:solidFill>
              <a:srgbClr val="6B7280"/>
            </a:solidFill>
            <a:round/>
            <a:tailEnd len="med" type="triangle" w="med"/>
          </a:ln>
        </p:spPr>
      </p:cxnSp>
      <p:sp>
        <p:nvSpPr>
          <p:cNvPr id="235" name="TextBox 24"/>
          <p:cNvSpPr/>
          <p:nvPr/>
        </p:nvSpPr>
        <p:spPr>
          <a:xfrm>
            <a:off x="548640" y="5760720"/>
            <a:ext cx="11063880" cy="54828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600" b="0" u="none" strike="noStrike">
                <a:solidFill>
                  <a:srgbClr val="6B7280"/>
                </a:solidFill>
                <a:effectLst/>
                <a:uFillTx/>
                <a:latin typeface="Segoe UI"/>
              </a:rPr>
              <a:t>Comme un tableau de bord de voiture : on sait à tout moment si tout va bien</a:t>
            </a:r>
            <a:endParaRPr lang="fr-FR"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Rectangle 1"/>
          <p:cNvSpPr/>
          <p:nvPr/>
        </p:nvSpPr>
        <p:spPr>
          <a:xfrm>
            <a:off x="0" y="0"/>
            <a:ext cx="12191400" cy="959760"/>
          </a:xfrm>
          <a:prstGeom prst="rect">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37" name="TextBox 2"/>
          <p:cNvSpPr/>
          <p:nvPr/>
        </p:nvSpPr>
        <p:spPr>
          <a:xfrm>
            <a:off x="457200" y="164520"/>
            <a:ext cx="8960760" cy="68544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2800" b="1" u="none" strike="noStrike">
                <a:solidFill>
                  <a:srgbClr val="FFFFFF"/>
                </a:solidFill>
                <a:effectLst/>
                <a:uFillTx/>
                <a:latin typeface="Segoe UI"/>
              </a:rPr>
              <a:t>TP3 : vérifier que les données sont fiables</a:t>
            </a:r>
            <a:endParaRPr lang="fr-FR" sz="2800" b="0" u="none" strike="noStrike">
              <a:solidFill>
                <a:srgbClr val="000000"/>
              </a:solidFill>
              <a:effectLst/>
              <a:uFillTx/>
              <a:latin typeface="Arial"/>
            </a:endParaRPr>
          </a:p>
        </p:txBody>
      </p:sp>
      <p:sp>
        <p:nvSpPr>
          <p:cNvPr id="238" name="TextBox 3"/>
          <p:cNvSpPr/>
          <p:nvPr/>
        </p:nvSpPr>
        <p:spPr>
          <a:xfrm>
            <a:off x="8961120" y="274320"/>
            <a:ext cx="2925720" cy="45684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300" b="0" u="none" strike="noStrike">
                <a:solidFill>
                  <a:srgbClr val="BFDBFE"/>
                </a:solidFill>
                <a:effectLst/>
                <a:uFillTx/>
                <a:latin typeface="Segoe UI"/>
              </a:rPr>
              <a:t>TP3 — Fiabiliser</a:t>
            </a:r>
            <a:endParaRPr lang="fr-FR" sz="1300" b="0" u="none" strike="noStrike">
              <a:solidFill>
                <a:srgbClr val="000000"/>
              </a:solidFill>
              <a:effectLst/>
              <a:uFillTx/>
              <a:latin typeface="Arial"/>
            </a:endParaRPr>
          </a:p>
        </p:txBody>
      </p:sp>
      <p:sp>
        <p:nvSpPr>
          <p:cNvPr id="239" name="Rectangle 4"/>
          <p:cNvSpPr/>
          <p:nvPr/>
        </p:nvSpPr>
        <p:spPr>
          <a:xfrm>
            <a:off x="0" y="6583680"/>
            <a:ext cx="12191400" cy="273960"/>
          </a:xfrm>
          <a:prstGeom prst="rect">
            <a:avLst/>
          </a:prstGeom>
          <a:solidFill>
            <a:srgbClr val="EFF6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40" name="TextBox 5"/>
          <p:cNvSpPr/>
          <p:nvPr/>
        </p:nvSpPr>
        <p:spPr>
          <a:xfrm>
            <a:off x="457200" y="6583680"/>
            <a:ext cx="8229240" cy="27396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000" b="0" u="none" strike="noStrike">
                <a:solidFill>
                  <a:srgbClr val="6B7280"/>
                </a:solidFill>
                <a:effectLst/>
                <a:uFillTx/>
                <a:latin typeface="Segoe UI"/>
              </a:rPr>
              <a:t>Des offres d'emploi brutes à une plateforme de données fiable  •  Théo Mousnier</a:t>
            </a:r>
            <a:endParaRPr lang="fr-FR" sz="1000" b="0" u="none" strike="noStrike">
              <a:solidFill>
                <a:srgbClr val="000000"/>
              </a:solidFill>
              <a:effectLst/>
              <a:uFillTx/>
              <a:latin typeface="Arial"/>
            </a:endParaRPr>
          </a:p>
        </p:txBody>
      </p:sp>
      <p:sp>
        <p:nvSpPr>
          <p:cNvPr id="241" name="TextBox 6"/>
          <p:cNvSpPr/>
          <p:nvPr/>
        </p:nvSpPr>
        <p:spPr>
          <a:xfrm>
            <a:off x="10789920" y="6583680"/>
            <a:ext cx="1005480" cy="27396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000" b="0" u="none" strike="noStrike">
                <a:solidFill>
                  <a:srgbClr val="6B7280"/>
                </a:solidFill>
                <a:effectLst/>
                <a:uFillTx/>
                <a:latin typeface="Segoe UI"/>
              </a:rPr>
              <a:t>11 / 16</a:t>
            </a:r>
            <a:endParaRPr lang="fr-FR" sz="1000" b="0" u="none" strike="noStrike">
              <a:solidFill>
                <a:srgbClr val="000000"/>
              </a:solidFill>
              <a:effectLst/>
              <a:uFillTx/>
              <a:latin typeface="Arial"/>
            </a:endParaRPr>
          </a:p>
        </p:txBody>
      </p:sp>
      <p:sp>
        <p:nvSpPr>
          <p:cNvPr id="242" name="Rounded Rectangle 7"/>
          <p:cNvSpPr/>
          <p:nvPr/>
        </p:nvSpPr>
        <p:spPr>
          <a:xfrm>
            <a:off x="457200" y="1371600"/>
            <a:ext cx="2102760" cy="2651400"/>
          </a:xfrm>
          <a:prstGeom prst="roundRect">
            <a:avLst>
              <a:gd name="adj" fmla="val 5217"/>
            </a:avLst>
          </a:prstGeom>
          <a:solidFill>
            <a:srgbClr val="FFFFFF"/>
          </a:solidFill>
          <a:ln w="15875">
            <a:solidFill>
              <a:srgbClr val="D1D5D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43" name="Rectangle 8"/>
          <p:cNvSpPr/>
          <p:nvPr/>
        </p:nvSpPr>
        <p:spPr>
          <a:xfrm>
            <a:off x="457200" y="1371600"/>
            <a:ext cx="2102760" cy="109440"/>
          </a:xfrm>
          <a:prstGeom prst="rect">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44" name="TextBox 9"/>
          <p:cNvSpPr/>
          <p:nvPr/>
        </p:nvSpPr>
        <p:spPr>
          <a:xfrm>
            <a:off x="640080" y="1600200"/>
            <a:ext cx="1737000" cy="54828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800" b="1" u="none" strike="noStrike">
                <a:solidFill>
                  <a:srgbClr val="1E3A8A"/>
                </a:solidFill>
                <a:effectLst/>
                <a:uFillTx/>
                <a:latin typeface="Segoe UI"/>
              </a:rPr>
              <a:t>Complet ?</a:t>
            </a:r>
            <a:endParaRPr lang="fr-FR" sz="1800" b="0" u="none" strike="noStrike">
              <a:solidFill>
                <a:srgbClr val="000000"/>
              </a:solidFill>
              <a:effectLst/>
              <a:uFillTx/>
              <a:latin typeface="Arial"/>
            </a:endParaRPr>
          </a:p>
        </p:txBody>
      </p:sp>
      <p:sp>
        <p:nvSpPr>
          <p:cNvPr id="245" name="TextBox 10"/>
          <p:cNvSpPr/>
          <p:nvPr/>
        </p:nvSpPr>
        <p:spPr>
          <a:xfrm>
            <a:off x="640080" y="2194560"/>
            <a:ext cx="1737000" cy="173700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400" b="0" u="none" strike="noStrike">
                <a:solidFill>
                  <a:srgbClr val="111827"/>
                </a:solidFill>
                <a:effectLst/>
                <a:uFillTx/>
                <a:latin typeface="Segoe UI"/>
              </a:rPr>
              <a:t>Rien d'important ne manque</a:t>
            </a:r>
            <a:endParaRPr lang="fr-FR" sz="1400" b="0" u="none" strike="noStrike">
              <a:solidFill>
                <a:srgbClr val="000000"/>
              </a:solidFill>
              <a:effectLst/>
              <a:uFillTx/>
              <a:latin typeface="Arial"/>
            </a:endParaRPr>
          </a:p>
        </p:txBody>
      </p:sp>
      <p:sp>
        <p:nvSpPr>
          <p:cNvPr id="246" name="Rounded Rectangle 11"/>
          <p:cNvSpPr/>
          <p:nvPr/>
        </p:nvSpPr>
        <p:spPr>
          <a:xfrm>
            <a:off x="2743200" y="1371600"/>
            <a:ext cx="2102760" cy="2651400"/>
          </a:xfrm>
          <a:prstGeom prst="roundRect">
            <a:avLst>
              <a:gd name="adj" fmla="val 5217"/>
            </a:avLst>
          </a:prstGeom>
          <a:solidFill>
            <a:srgbClr val="FFFFFF"/>
          </a:solidFill>
          <a:ln w="15875">
            <a:solidFill>
              <a:srgbClr val="D1D5D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47" name="Rectangle 12"/>
          <p:cNvSpPr/>
          <p:nvPr/>
        </p:nvSpPr>
        <p:spPr>
          <a:xfrm>
            <a:off x="2743200" y="1371600"/>
            <a:ext cx="2102760" cy="1094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48" name="TextBox 13"/>
          <p:cNvSpPr/>
          <p:nvPr/>
        </p:nvSpPr>
        <p:spPr>
          <a:xfrm>
            <a:off x="2926080" y="1600200"/>
            <a:ext cx="1737000" cy="54828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800" b="1" u="none" strike="noStrike">
                <a:solidFill>
                  <a:srgbClr val="2563EB"/>
                </a:solidFill>
                <a:effectLst/>
                <a:uFillTx/>
                <a:latin typeface="Segoe UI"/>
              </a:rPr>
              <a:t>Unique ?</a:t>
            </a:r>
            <a:endParaRPr lang="fr-FR" sz="1800" b="0" u="none" strike="noStrike">
              <a:solidFill>
                <a:srgbClr val="000000"/>
              </a:solidFill>
              <a:effectLst/>
              <a:uFillTx/>
              <a:latin typeface="Arial"/>
            </a:endParaRPr>
          </a:p>
        </p:txBody>
      </p:sp>
      <p:sp>
        <p:nvSpPr>
          <p:cNvPr id="249" name="TextBox 14"/>
          <p:cNvSpPr/>
          <p:nvPr/>
        </p:nvSpPr>
        <p:spPr>
          <a:xfrm>
            <a:off x="2926080" y="2194560"/>
            <a:ext cx="1737000" cy="173700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400" b="0" u="none" strike="noStrike">
                <a:solidFill>
                  <a:srgbClr val="111827"/>
                </a:solidFill>
                <a:effectLst/>
                <a:uFillTx/>
                <a:latin typeface="Segoe UI"/>
              </a:rPr>
              <a:t>Rien n'est en double</a:t>
            </a:r>
            <a:endParaRPr lang="fr-FR" sz="1400" b="0" u="none" strike="noStrike">
              <a:solidFill>
                <a:srgbClr val="000000"/>
              </a:solidFill>
              <a:effectLst/>
              <a:uFillTx/>
              <a:latin typeface="Arial"/>
            </a:endParaRPr>
          </a:p>
        </p:txBody>
      </p:sp>
      <p:sp>
        <p:nvSpPr>
          <p:cNvPr id="250" name="Rounded Rectangle 15"/>
          <p:cNvSpPr/>
          <p:nvPr/>
        </p:nvSpPr>
        <p:spPr>
          <a:xfrm>
            <a:off x="5029200" y="1371600"/>
            <a:ext cx="2102760" cy="2651400"/>
          </a:xfrm>
          <a:prstGeom prst="roundRect">
            <a:avLst>
              <a:gd name="adj" fmla="val 5217"/>
            </a:avLst>
          </a:prstGeom>
          <a:solidFill>
            <a:srgbClr val="FFFFFF"/>
          </a:solidFill>
          <a:ln w="15875">
            <a:solidFill>
              <a:srgbClr val="D1D5D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51" name="Rectangle 16"/>
          <p:cNvSpPr/>
          <p:nvPr/>
        </p:nvSpPr>
        <p:spPr>
          <a:xfrm>
            <a:off x="5029200" y="1371600"/>
            <a:ext cx="2102760" cy="109440"/>
          </a:xfrm>
          <a:prstGeom prst="rect">
            <a:avLst/>
          </a:prstGeom>
          <a:solidFill>
            <a:srgbClr val="EA58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52" name="TextBox 17"/>
          <p:cNvSpPr/>
          <p:nvPr/>
        </p:nvSpPr>
        <p:spPr>
          <a:xfrm>
            <a:off x="5212080" y="1600200"/>
            <a:ext cx="1737000" cy="54828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800" b="1" u="none" strike="noStrike">
                <a:solidFill>
                  <a:srgbClr val="EA580C"/>
                </a:solidFill>
                <a:effectLst/>
                <a:uFillTx/>
                <a:latin typeface="Segoe UI"/>
              </a:rPr>
              <a:t>Plausible ?</a:t>
            </a:r>
            <a:endParaRPr lang="fr-FR" sz="1800" b="0" u="none" strike="noStrike">
              <a:solidFill>
                <a:srgbClr val="000000"/>
              </a:solidFill>
              <a:effectLst/>
              <a:uFillTx/>
              <a:latin typeface="Arial"/>
            </a:endParaRPr>
          </a:p>
        </p:txBody>
      </p:sp>
      <p:sp>
        <p:nvSpPr>
          <p:cNvPr id="253" name="TextBox 18"/>
          <p:cNvSpPr/>
          <p:nvPr/>
        </p:nvSpPr>
        <p:spPr>
          <a:xfrm>
            <a:off x="5212080" y="2194560"/>
            <a:ext cx="1737000" cy="173700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400" b="0" u="none" strike="noStrike">
                <a:solidFill>
                  <a:srgbClr val="111827"/>
                </a:solidFill>
                <a:effectLst/>
                <a:uFillTx/>
                <a:latin typeface="Segoe UI"/>
              </a:rPr>
              <a:t>Les valeurs sont réalistes</a:t>
            </a:r>
            <a:endParaRPr lang="fr-FR" sz="1400" b="0" u="none" strike="noStrike">
              <a:solidFill>
                <a:srgbClr val="000000"/>
              </a:solidFill>
              <a:effectLst/>
              <a:uFillTx/>
              <a:latin typeface="Arial"/>
            </a:endParaRPr>
          </a:p>
        </p:txBody>
      </p:sp>
      <p:sp>
        <p:nvSpPr>
          <p:cNvPr id="254" name="Rounded Rectangle 19"/>
          <p:cNvSpPr/>
          <p:nvPr/>
        </p:nvSpPr>
        <p:spPr>
          <a:xfrm>
            <a:off x="7315200" y="1371600"/>
            <a:ext cx="2102760" cy="2651400"/>
          </a:xfrm>
          <a:prstGeom prst="roundRect">
            <a:avLst>
              <a:gd name="adj" fmla="val 5217"/>
            </a:avLst>
          </a:prstGeom>
          <a:solidFill>
            <a:srgbClr val="FFFFFF"/>
          </a:solidFill>
          <a:ln w="15875">
            <a:solidFill>
              <a:srgbClr val="D1D5D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55" name="Rectangle 20"/>
          <p:cNvSpPr/>
          <p:nvPr/>
        </p:nvSpPr>
        <p:spPr>
          <a:xfrm>
            <a:off x="7315200" y="1371600"/>
            <a:ext cx="2102760" cy="109440"/>
          </a:xfrm>
          <a:prstGeom prst="rect">
            <a:avLst/>
          </a:prstGeom>
          <a:solidFill>
            <a:srgbClr val="16A3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56" name="TextBox 21"/>
          <p:cNvSpPr/>
          <p:nvPr/>
        </p:nvSpPr>
        <p:spPr>
          <a:xfrm>
            <a:off x="7498080" y="1600200"/>
            <a:ext cx="1737000" cy="54828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800" b="1" u="none" strike="noStrike">
                <a:solidFill>
                  <a:srgbClr val="16A34A"/>
                </a:solidFill>
                <a:effectLst/>
                <a:uFillTx/>
                <a:latin typeface="Segoe UI"/>
              </a:rPr>
              <a:t>Cohérent ?</a:t>
            </a:r>
            <a:endParaRPr lang="fr-FR" sz="1800" b="0" u="none" strike="noStrike">
              <a:solidFill>
                <a:srgbClr val="000000"/>
              </a:solidFill>
              <a:effectLst/>
              <a:uFillTx/>
              <a:latin typeface="Arial"/>
            </a:endParaRPr>
          </a:p>
        </p:txBody>
      </p:sp>
      <p:sp>
        <p:nvSpPr>
          <p:cNvPr id="257" name="TextBox 22"/>
          <p:cNvSpPr/>
          <p:nvPr/>
        </p:nvSpPr>
        <p:spPr>
          <a:xfrm>
            <a:off x="7498080" y="2194560"/>
            <a:ext cx="1737000" cy="173700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400" b="0" u="none" strike="noStrike">
                <a:solidFill>
                  <a:srgbClr val="111827"/>
                </a:solidFill>
                <a:effectLst/>
                <a:uFillTx/>
                <a:latin typeface="Segoe UI"/>
              </a:rPr>
              <a:t>Les informations ne se contredisent pas</a:t>
            </a:r>
            <a:endParaRPr lang="fr-FR" sz="1400" b="0" u="none" strike="noStrike">
              <a:solidFill>
                <a:srgbClr val="000000"/>
              </a:solidFill>
              <a:effectLst/>
              <a:uFillTx/>
              <a:latin typeface="Arial"/>
            </a:endParaRPr>
          </a:p>
        </p:txBody>
      </p:sp>
      <p:sp>
        <p:nvSpPr>
          <p:cNvPr id="258" name="Rounded Rectangle 23"/>
          <p:cNvSpPr/>
          <p:nvPr/>
        </p:nvSpPr>
        <p:spPr>
          <a:xfrm>
            <a:off x="9601200" y="1371600"/>
            <a:ext cx="2102760" cy="2651400"/>
          </a:xfrm>
          <a:prstGeom prst="roundRect">
            <a:avLst>
              <a:gd name="adj" fmla="val 5217"/>
            </a:avLst>
          </a:prstGeom>
          <a:solidFill>
            <a:srgbClr val="FFFFFF"/>
          </a:solidFill>
          <a:ln w="15875">
            <a:solidFill>
              <a:srgbClr val="D1D5D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59" name="Rectangle 24"/>
          <p:cNvSpPr/>
          <p:nvPr/>
        </p:nvSpPr>
        <p:spPr>
          <a:xfrm>
            <a:off x="9601200" y="1371600"/>
            <a:ext cx="2102760" cy="109440"/>
          </a:xfrm>
          <a:prstGeom prst="rect">
            <a:avLst/>
          </a:prstGeom>
          <a:solidFill>
            <a:srgbClr val="DC26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60" name="TextBox 25"/>
          <p:cNvSpPr/>
          <p:nvPr/>
        </p:nvSpPr>
        <p:spPr>
          <a:xfrm>
            <a:off x="9784080" y="1600200"/>
            <a:ext cx="1737000" cy="54828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800" b="1" u="none" strike="noStrike">
                <a:solidFill>
                  <a:srgbClr val="DC2626"/>
                </a:solidFill>
                <a:effectLst/>
                <a:uFillTx/>
                <a:latin typeface="Segoe UI"/>
              </a:rPr>
              <a:t>Bien relié ?</a:t>
            </a:r>
            <a:endParaRPr lang="fr-FR" sz="1800" b="0" u="none" strike="noStrike">
              <a:solidFill>
                <a:srgbClr val="000000"/>
              </a:solidFill>
              <a:effectLst/>
              <a:uFillTx/>
              <a:latin typeface="Arial"/>
            </a:endParaRPr>
          </a:p>
        </p:txBody>
      </p:sp>
      <p:sp>
        <p:nvSpPr>
          <p:cNvPr id="261" name="TextBox 26"/>
          <p:cNvSpPr/>
          <p:nvPr/>
        </p:nvSpPr>
        <p:spPr>
          <a:xfrm>
            <a:off x="9784080" y="2194560"/>
            <a:ext cx="1737000" cy="173700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400" b="0" u="none" strike="noStrike">
                <a:solidFill>
                  <a:srgbClr val="111827"/>
                </a:solidFill>
                <a:effectLst/>
                <a:uFillTx/>
                <a:latin typeface="Segoe UI"/>
              </a:rPr>
              <a:t>Chaque offre pointe vers une vraie commune, entreprise et métier</a:t>
            </a:r>
            <a:endParaRPr lang="fr-FR" sz="1400" b="0" u="none" strike="noStrike">
              <a:solidFill>
                <a:srgbClr val="000000"/>
              </a:solidFill>
              <a:effectLst/>
              <a:uFillTx/>
              <a:latin typeface="Arial"/>
            </a:endParaRPr>
          </a:p>
        </p:txBody>
      </p:sp>
      <p:sp>
        <p:nvSpPr>
          <p:cNvPr id="262" name="Rounded Rectangle 27"/>
          <p:cNvSpPr/>
          <p:nvPr/>
        </p:nvSpPr>
        <p:spPr>
          <a:xfrm>
            <a:off x="457200" y="4389120"/>
            <a:ext cx="2571480" cy="1005480"/>
          </a:xfrm>
          <a:prstGeom prst="roundRect">
            <a:avLst>
              <a:gd name="adj" fmla="val 10909"/>
            </a:avLst>
          </a:prstGeom>
          <a:solidFill>
            <a:srgbClr val="6B728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500" b="1" u="none" strike="noStrike">
                <a:solidFill>
                  <a:srgbClr val="FFFFFF"/>
                </a:solidFill>
                <a:effectLst/>
                <a:uFillTx/>
                <a:latin typeface="Segoe UI"/>
              </a:rPr>
              <a:t>Mesurer</a:t>
            </a:r>
            <a:endParaRPr lang="fr-FR" sz="1500" b="0" u="none" strike="noStrike">
              <a:solidFill>
                <a:srgbClr val="FFFFFF"/>
              </a:solidFill>
              <a:effectLst/>
              <a:uFillTx/>
              <a:latin typeface="Arial"/>
            </a:endParaRPr>
          </a:p>
          <a:p>
            <a:pPr algn="ctr" defTabSz="457200">
              <a:lnSpc>
                <a:spcPct val="100000"/>
              </a:lnSpc>
            </a:pPr>
            <a:r>
              <a:rPr lang="en-US" sz="1200" b="0" u="none" strike="noStrike">
                <a:solidFill>
                  <a:srgbClr val="FFFFFF"/>
                </a:solidFill>
                <a:effectLst/>
                <a:uFillTx/>
                <a:latin typeface="Segoe UI"/>
              </a:rPr>
              <a:t>avant</a:t>
            </a:r>
            <a:endParaRPr lang="fr-FR" sz="1200" b="0" u="none" strike="noStrike">
              <a:solidFill>
                <a:srgbClr val="FFFFFF"/>
              </a:solidFill>
              <a:effectLst/>
              <a:uFillTx/>
              <a:latin typeface="Arial"/>
            </a:endParaRPr>
          </a:p>
        </p:txBody>
      </p:sp>
      <p:sp>
        <p:nvSpPr>
          <p:cNvPr id="263" name="Rounded Rectangle 28"/>
          <p:cNvSpPr/>
          <p:nvPr/>
        </p:nvSpPr>
        <p:spPr>
          <a:xfrm>
            <a:off x="3349080" y="4389120"/>
            <a:ext cx="2571480" cy="1005480"/>
          </a:xfrm>
          <a:prstGeom prst="roundRect">
            <a:avLst>
              <a:gd name="adj" fmla="val 10909"/>
            </a:avLst>
          </a:prstGeom>
          <a:solidFill>
            <a:srgbClr val="EA58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500" b="1" u="none" strike="noStrike">
                <a:solidFill>
                  <a:srgbClr val="FFFFFF"/>
                </a:solidFill>
                <a:effectLst/>
                <a:uFillTx/>
                <a:latin typeface="Segoe UI"/>
              </a:rPr>
              <a:t>Corriger</a:t>
            </a:r>
            <a:endParaRPr lang="fr-FR" sz="1500" b="0" u="none" strike="noStrike">
              <a:solidFill>
                <a:srgbClr val="FFFFFF"/>
              </a:solidFill>
              <a:effectLst/>
              <a:uFillTx/>
              <a:latin typeface="Arial"/>
            </a:endParaRPr>
          </a:p>
          <a:p>
            <a:pPr algn="ctr" defTabSz="457200">
              <a:lnSpc>
                <a:spcPct val="100000"/>
              </a:lnSpc>
            </a:pPr>
            <a:r>
              <a:rPr lang="en-US" sz="1200" b="0" u="none" strike="noStrike">
                <a:solidFill>
                  <a:srgbClr val="FFFFFF"/>
                </a:solidFill>
                <a:effectLst/>
                <a:uFillTx/>
                <a:latin typeface="Segoe UI"/>
              </a:rPr>
              <a:t>avec des règles claires</a:t>
            </a:r>
            <a:endParaRPr lang="fr-FR" sz="1200" b="0" u="none" strike="noStrike">
              <a:solidFill>
                <a:srgbClr val="FFFFFF"/>
              </a:solidFill>
              <a:effectLst/>
              <a:uFillTx/>
              <a:latin typeface="Arial"/>
            </a:endParaRPr>
          </a:p>
        </p:txBody>
      </p:sp>
      <p:cxnSp>
        <p:nvCxnSpPr>
          <p:cNvPr id="264" name="Connector 29"/>
          <p:cNvCxnSpPr/>
          <p:nvPr/>
        </p:nvCxnSpPr>
        <p:spPr>
          <a:xfrm>
            <a:off x="3047040" y="4892040"/>
            <a:ext cx="283680" cy="360"/>
          </a:xfrm>
          <a:prstGeom prst="straightConnector1">
            <a:avLst/>
          </a:prstGeom>
          <a:ln>
            <a:solidFill>
              <a:srgbClr val="6B7280"/>
            </a:solidFill>
            <a:round/>
            <a:tailEnd len="med" type="triangle" w="med"/>
          </a:ln>
        </p:spPr>
      </p:cxnSp>
      <p:sp>
        <p:nvSpPr>
          <p:cNvPr id="265" name="Rounded Rectangle 30"/>
          <p:cNvSpPr/>
          <p:nvPr/>
        </p:nvSpPr>
        <p:spPr>
          <a:xfrm>
            <a:off x="6240960" y="4389120"/>
            <a:ext cx="2571480" cy="1005480"/>
          </a:xfrm>
          <a:prstGeom prst="roundRect">
            <a:avLst>
              <a:gd name="adj" fmla="val 10909"/>
            </a:avLst>
          </a:prstGeom>
          <a:solidFill>
            <a:srgbClr val="16A3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500" b="1" u="none" strike="noStrike">
                <a:solidFill>
                  <a:srgbClr val="FFFFFF"/>
                </a:solidFill>
                <a:effectLst/>
                <a:uFillTx/>
                <a:latin typeface="Segoe UI"/>
              </a:rPr>
              <a:t>Mesurer</a:t>
            </a:r>
            <a:endParaRPr lang="fr-FR" sz="1500" b="0" u="none" strike="noStrike">
              <a:solidFill>
                <a:srgbClr val="FFFFFF"/>
              </a:solidFill>
              <a:effectLst/>
              <a:uFillTx/>
              <a:latin typeface="Arial"/>
            </a:endParaRPr>
          </a:p>
          <a:p>
            <a:pPr algn="ctr" defTabSz="457200">
              <a:lnSpc>
                <a:spcPct val="100000"/>
              </a:lnSpc>
            </a:pPr>
            <a:r>
              <a:rPr lang="en-US" sz="1200" b="0" u="none" strike="noStrike">
                <a:solidFill>
                  <a:srgbClr val="FFFFFF"/>
                </a:solidFill>
                <a:effectLst/>
                <a:uFillTx/>
                <a:latin typeface="Segoe UI"/>
              </a:rPr>
              <a:t>après</a:t>
            </a:r>
            <a:endParaRPr lang="fr-FR" sz="1200" b="0" u="none" strike="noStrike">
              <a:solidFill>
                <a:srgbClr val="FFFFFF"/>
              </a:solidFill>
              <a:effectLst/>
              <a:uFillTx/>
              <a:latin typeface="Arial"/>
            </a:endParaRPr>
          </a:p>
        </p:txBody>
      </p:sp>
      <p:cxnSp>
        <p:nvCxnSpPr>
          <p:cNvPr id="266" name="Connector 31"/>
          <p:cNvCxnSpPr/>
          <p:nvPr/>
        </p:nvCxnSpPr>
        <p:spPr>
          <a:xfrm>
            <a:off x="5938920" y="4892040"/>
            <a:ext cx="283680" cy="360"/>
          </a:xfrm>
          <a:prstGeom prst="straightConnector1">
            <a:avLst/>
          </a:prstGeom>
          <a:ln>
            <a:solidFill>
              <a:srgbClr val="6B7280"/>
            </a:solidFill>
            <a:round/>
            <a:tailEnd len="med" type="triangle" w="med"/>
          </a:ln>
        </p:spPr>
      </p:cxnSp>
      <p:sp>
        <p:nvSpPr>
          <p:cNvPr id="267" name="Rounded Rectangle 32"/>
          <p:cNvSpPr/>
          <p:nvPr/>
        </p:nvSpPr>
        <p:spPr>
          <a:xfrm>
            <a:off x="9132480" y="4389120"/>
            <a:ext cx="2571480" cy="1005480"/>
          </a:xfrm>
          <a:prstGeom prst="roundRect">
            <a:avLst>
              <a:gd name="adj" fmla="val 10909"/>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500" b="1" u="none" strike="noStrike">
                <a:solidFill>
                  <a:srgbClr val="FFFFFF"/>
                </a:solidFill>
                <a:effectLst/>
                <a:uFillTx/>
                <a:latin typeface="Segoe UI"/>
              </a:rPr>
              <a:t>Comparer</a:t>
            </a:r>
            <a:endParaRPr lang="fr-FR" sz="1500" b="0" u="none" strike="noStrike">
              <a:solidFill>
                <a:srgbClr val="FFFFFF"/>
              </a:solidFill>
              <a:effectLst/>
              <a:uFillTx/>
              <a:latin typeface="Arial"/>
            </a:endParaRPr>
          </a:p>
          <a:p>
            <a:pPr algn="ctr" defTabSz="457200">
              <a:lnSpc>
                <a:spcPct val="100000"/>
              </a:lnSpc>
            </a:pPr>
            <a:r>
              <a:rPr lang="en-US" sz="1200" b="0" u="none" strike="noStrike">
                <a:solidFill>
                  <a:srgbClr val="FFFFFF"/>
                </a:solidFill>
                <a:effectLst/>
                <a:uFillTx/>
                <a:latin typeface="Segoe UI"/>
              </a:rPr>
              <a:t>et documenter</a:t>
            </a:r>
            <a:endParaRPr lang="fr-FR" sz="1200" b="0" u="none" strike="noStrike">
              <a:solidFill>
                <a:srgbClr val="FFFFFF"/>
              </a:solidFill>
              <a:effectLst/>
              <a:uFillTx/>
              <a:latin typeface="Arial"/>
            </a:endParaRPr>
          </a:p>
        </p:txBody>
      </p:sp>
      <p:cxnSp>
        <p:nvCxnSpPr>
          <p:cNvPr id="268" name="Connector 33"/>
          <p:cNvCxnSpPr/>
          <p:nvPr/>
        </p:nvCxnSpPr>
        <p:spPr>
          <a:xfrm>
            <a:off x="8830800" y="4892040"/>
            <a:ext cx="283680" cy="360"/>
          </a:xfrm>
          <a:prstGeom prst="straightConnector1">
            <a:avLst/>
          </a:prstGeom>
          <a:ln>
            <a:solidFill>
              <a:srgbClr val="6B7280"/>
            </a:solidFill>
            <a:round/>
            <a:tailEnd len="med" type="triangle" w="med"/>
          </a:ln>
        </p:spPr>
      </p:cxnSp>
      <p:sp>
        <p:nvSpPr>
          <p:cNvPr id="269" name="TextBox 34"/>
          <p:cNvSpPr/>
          <p:nvPr/>
        </p:nvSpPr>
        <p:spPr>
          <a:xfrm>
            <a:off x="548640" y="5669280"/>
            <a:ext cx="11063880" cy="54828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700" b="1" u="none" strike="noStrike">
                <a:solidFill>
                  <a:srgbClr val="1E3A8A"/>
                </a:solidFill>
                <a:effectLst/>
                <a:uFillTx/>
                <a:latin typeface="Segoe UI"/>
              </a:rPr>
              <a:t>17 vérifications automatiques, relancées à chaque contrôle</a:t>
            </a:r>
            <a:endParaRPr lang="fr-FR"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Rectangle 1"/>
          <p:cNvSpPr/>
          <p:nvPr/>
        </p:nvSpPr>
        <p:spPr>
          <a:xfrm>
            <a:off x="0" y="0"/>
            <a:ext cx="12191400" cy="959760"/>
          </a:xfrm>
          <a:prstGeom prst="rect">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71" name="TextBox 2"/>
          <p:cNvSpPr/>
          <p:nvPr/>
        </p:nvSpPr>
        <p:spPr>
          <a:xfrm>
            <a:off x="457200" y="164520"/>
            <a:ext cx="8960760" cy="68544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2800" b="1" u="none" strike="noStrike">
                <a:solidFill>
                  <a:srgbClr val="FFFFFF"/>
                </a:solidFill>
                <a:effectLst/>
                <a:uFillTx/>
                <a:latin typeface="Segoe UI"/>
              </a:rPr>
              <a:t>TP3 : ce que j'ai trouvé et corrigé</a:t>
            </a:r>
            <a:endParaRPr lang="fr-FR" sz="2800" b="0" u="none" strike="noStrike">
              <a:solidFill>
                <a:srgbClr val="000000"/>
              </a:solidFill>
              <a:effectLst/>
              <a:uFillTx/>
              <a:latin typeface="Arial"/>
            </a:endParaRPr>
          </a:p>
        </p:txBody>
      </p:sp>
      <p:sp>
        <p:nvSpPr>
          <p:cNvPr id="272" name="TextBox 3"/>
          <p:cNvSpPr/>
          <p:nvPr/>
        </p:nvSpPr>
        <p:spPr>
          <a:xfrm>
            <a:off x="8961120" y="274320"/>
            <a:ext cx="2925720" cy="45684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300" b="0" u="none" strike="noStrike">
                <a:solidFill>
                  <a:srgbClr val="BFDBFE"/>
                </a:solidFill>
                <a:effectLst/>
                <a:uFillTx/>
                <a:latin typeface="Segoe UI"/>
              </a:rPr>
              <a:t>TP3 — Fiabiliser</a:t>
            </a:r>
            <a:endParaRPr lang="fr-FR" sz="1300" b="0" u="none" strike="noStrike">
              <a:solidFill>
                <a:srgbClr val="000000"/>
              </a:solidFill>
              <a:effectLst/>
              <a:uFillTx/>
              <a:latin typeface="Arial"/>
            </a:endParaRPr>
          </a:p>
        </p:txBody>
      </p:sp>
      <p:sp>
        <p:nvSpPr>
          <p:cNvPr id="273" name="Rectangle 4"/>
          <p:cNvSpPr/>
          <p:nvPr/>
        </p:nvSpPr>
        <p:spPr>
          <a:xfrm>
            <a:off x="0" y="6583680"/>
            <a:ext cx="12191400" cy="273960"/>
          </a:xfrm>
          <a:prstGeom prst="rect">
            <a:avLst/>
          </a:prstGeom>
          <a:solidFill>
            <a:srgbClr val="EFF6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74" name="TextBox 5"/>
          <p:cNvSpPr/>
          <p:nvPr/>
        </p:nvSpPr>
        <p:spPr>
          <a:xfrm>
            <a:off x="457200" y="6583680"/>
            <a:ext cx="8229240" cy="27396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000" b="0" u="none" strike="noStrike">
                <a:solidFill>
                  <a:srgbClr val="6B7280"/>
                </a:solidFill>
                <a:effectLst/>
                <a:uFillTx/>
                <a:latin typeface="Segoe UI"/>
              </a:rPr>
              <a:t>Des offres d'emploi brutes à une plateforme de données fiable  •  Théo Mousnier</a:t>
            </a:r>
            <a:endParaRPr lang="fr-FR" sz="1000" b="0" u="none" strike="noStrike">
              <a:solidFill>
                <a:srgbClr val="000000"/>
              </a:solidFill>
              <a:effectLst/>
              <a:uFillTx/>
              <a:latin typeface="Arial"/>
            </a:endParaRPr>
          </a:p>
        </p:txBody>
      </p:sp>
      <p:sp>
        <p:nvSpPr>
          <p:cNvPr id="275" name="TextBox 6"/>
          <p:cNvSpPr/>
          <p:nvPr/>
        </p:nvSpPr>
        <p:spPr>
          <a:xfrm>
            <a:off x="10789920" y="6583680"/>
            <a:ext cx="1005480" cy="27396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000" b="0" u="none" strike="noStrike">
                <a:solidFill>
                  <a:srgbClr val="6B7280"/>
                </a:solidFill>
                <a:effectLst/>
                <a:uFillTx/>
                <a:latin typeface="Segoe UI"/>
              </a:rPr>
              <a:t>12 / 16</a:t>
            </a:r>
            <a:endParaRPr lang="fr-FR" sz="1000" b="0" u="none" strike="noStrike">
              <a:solidFill>
                <a:srgbClr val="000000"/>
              </a:solidFill>
              <a:effectLst/>
              <a:uFillTx/>
              <a:latin typeface="Arial"/>
            </a:endParaRPr>
          </a:p>
        </p:txBody>
      </p:sp>
      <p:graphicFrame>
        <p:nvGraphicFramePr>
          <p:cNvPr id="276" name="Table 7"/>
          <p:cNvGraphicFramePr/>
          <p:nvPr/>
        </p:nvGraphicFramePr>
        <p:xfrm>
          <a:off x="457200" y="1280160"/>
          <a:ext cx="6949080" cy="3566160"/>
        </p:xfrm>
        <a:graphic>
          <a:graphicData uri="http://schemas.openxmlformats.org/drawingml/2006/table">
            <a:tbl>
              <a:tblPr/>
              <a:tblGrid>
                <a:gridCol w="3840480"/>
                <a:gridCol w="1554480"/>
                <a:gridCol w="1554480"/>
              </a:tblGrid>
              <a:tr h="594360">
                <a:tc>
                  <a:txBody>
                    <a:bodyPr lIns="73080" rIns="73080" anchor="ctr">
                      <a:noAutofit/>
                    </a:bodyPr>
                    <a:p>
                      <a:pPr defTabSz="457200">
                        <a:lnSpc>
                          <a:spcPct val="100000"/>
                        </a:lnSpc>
                      </a:pPr>
                      <a:r>
                        <a:rPr lang="en-US" sz="1700" b="1" u="none" strike="noStrike">
                          <a:solidFill>
                            <a:srgbClr val="FFFFFF"/>
                          </a:solidFill>
                          <a:effectLst/>
                          <a:uFillTx/>
                          <a:latin typeface="Segoe UI"/>
                        </a:rPr>
                        <a:t>Problème détecté</a:t>
                      </a:r>
                      <a:endParaRPr lang="fr-FR" sz="1700" b="0" u="none" strike="noStrike">
                        <a:solidFill>
                          <a:srgbClr val="FFFFFF"/>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3A8A"/>
                    </a:solidFill>
                  </a:tcPr>
                </a:tc>
                <a:tc>
                  <a:txBody>
                    <a:bodyPr lIns="73080" rIns="73080" anchor="ctr">
                      <a:noAutofit/>
                    </a:bodyPr>
                    <a:p>
                      <a:pPr defTabSz="457200">
                        <a:lnSpc>
                          <a:spcPct val="100000"/>
                        </a:lnSpc>
                      </a:pPr>
                      <a:r>
                        <a:rPr lang="en-US" sz="1700" b="1" u="none" strike="noStrike">
                          <a:solidFill>
                            <a:srgbClr val="FFFFFF"/>
                          </a:solidFill>
                          <a:effectLst/>
                          <a:uFillTx/>
                          <a:latin typeface="Segoe UI"/>
                        </a:rPr>
                        <a:t>Avant</a:t>
                      </a:r>
                      <a:endParaRPr lang="fr-FR" sz="1700" b="0" u="none" strike="noStrike">
                        <a:solidFill>
                          <a:srgbClr val="FFFFFF"/>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3A8A"/>
                    </a:solidFill>
                  </a:tcPr>
                </a:tc>
                <a:tc>
                  <a:txBody>
                    <a:bodyPr lIns="73080" rIns="73080" anchor="ctr">
                      <a:noAutofit/>
                    </a:bodyPr>
                    <a:p>
                      <a:pPr defTabSz="457200">
                        <a:lnSpc>
                          <a:spcPct val="100000"/>
                        </a:lnSpc>
                      </a:pPr>
                      <a:r>
                        <a:rPr lang="en-US" sz="1700" b="1" u="none" strike="noStrike">
                          <a:solidFill>
                            <a:srgbClr val="FFFFFF"/>
                          </a:solidFill>
                          <a:effectLst/>
                          <a:uFillTx/>
                          <a:latin typeface="Segoe UI"/>
                        </a:rPr>
                        <a:t>Après</a:t>
                      </a:r>
                      <a:endParaRPr lang="fr-FR" sz="1700" b="0" u="none" strike="noStrike">
                        <a:solidFill>
                          <a:srgbClr val="FFFFFF"/>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E3A8A"/>
                    </a:solidFill>
                  </a:tcPr>
                </a:tc>
              </a:tr>
              <a:tr h="594360">
                <a:tc>
                  <a:txBody>
                    <a:bodyPr lIns="73080" rIns="73080" anchor="ctr">
                      <a:noAutofit/>
                    </a:bodyPr>
                    <a:p>
                      <a:pPr defTabSz="457200">
                        <a:lnSpc>
                          <a:spcPct val="100000"/>
                        </a:lnSpc>
                      </a:pPr>
                      <a:r>
                        <a:rPr lang="en-US" sz="1700" b="0" u="none" strike="noStrike">
                          <a:solidFill>
                            <a:srgbClr val="111827"/>
                          </a:solidFill>
                          <a:effectLst/>
                          <a:uFillTx/>
                          <a:latin typeface="Segoe UI"/>
                        </a:rPr>
                        <a:t>Salaires irréalistes</a:t>
                      </a:r>
                      <a:endParaRPr lang="fr-FR" sz="17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FF6FF"/>
                    </a:solidFill>
                  </a:tcPr>
                </a:tc>
                <a:tc>
                  <a:txBody>
                    <a:bodyPr lIns="73080" rIns="73080" anchor="ctr">
                      <a:noAutofit/>
                    </a:bodyPr>
                    <a:p>
                      <a:pPr defTabSz="457200">
                        <a:lnSpc>
                          <a:spcPct val="100000"/>
                        </a:lnSpc>
                      </a:pPr>
                      <a:r>
                        <a:rPr lang="en-US" sz="1700" b="0" u="none" strike="noStrike">
                          <a:solidFill>
                            <a:srgbClr val="111827"/>
                          </a:solidFill>
                          <a:effectLst/>
                          <a:uFillTx/>
                          <a:latin typeface="Segoe UI"/>
                        </a:rPr>
                        <a:t>7 614</a:t>
                      </a:r>
                      <a:endParaRPr lang="fr-FR" sz="17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FF6FF"/>
                    </a:solidFill>
                  </a:tcPr>
                </a:tc>
                <a:tc>
                  <a:txBody>
                    <a:bodyPr lIns="73080" rIns="73080" anchor="ctr">
                      <a:noAutofit/>
                    </a:bodyPr>
                    <a:p>
                      <a:pPr defTabSz="457200">
                        <a:lnSpc>
                          <a:spcPct val="100000"/>
                        </a:lnSpc>
                      </a:pPr>
                      <a:r>
                        <a:rPr lang="en-US" sz="1700" b="0" u="none" strike="noStrike">
                          <a:solidFill>
                            <a:srgbClr val="111827"/>
                          </a:solidFill>
                          <a:effectLst/>
                          <a:uFillTx/>
                          <a:latin typeface="Segoe UI"/>
                        </a:rPr>
                        <a:t>0</a:t>
                      </a:r>
                      <a:endParaRPr lang="fr-FR" sz="17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FF6FF"/>
                    </a:solidFill>
                  </a:tcPr>
                </a:tc>
              </a:tr>
              <a:tr h="594360">
                <a:tc>
                  <a:txBody>
                    <a:bodyPr lIns="73080" rIns="73080" anchor="ctr">
                      <a:noAutofit/>
                    </a:bodyPr>
                    <a:p>
                      <a:pPr defTabSz="457200">
                        <a:lnSpc>
                          <a:spcPct val="100000"/>
                        </a:lnSpc>
                      </a:pPr>
                      <a:r>
                        <a:rPr lang="en-US" sz="1700" b="0" u="none" strike="noStrike">
                          <a:solidFill>
                            <a:srgbClr val="111827"/>
                          </a:solidFill>
                          <a:effectLst/>
                          <a:uFillTx/>
                          <a:latin typeface="Segoe UI"/>
                        </a:rPr>
                        <a:t>Compétences en double</a:t>
                      </a:r>
                      <a:endParaRPr lang="fr-FR" sz="17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anchor="ctr">
                      <a:noAutofit/>
                    </a:bodyPr>
                    <a:p>
                      <a:pPr defTabSz="457200">
                        <a:lnSpc>
                          <a:spcPct val="100000"/>
                        </a:lnSpc>
                      </a:pPr>
                      <a:r>
                        <a:rPr lang="en-US" sz="1700" b="0" u="none" strike="noStrike">
                          <a:solidFill>
                            <a:srgbClr val="111827"/>
                          </a:solidFill>
                          <a:effectLst/>
                          <a:uFillTx/>
                          <a:latin typeface="Segoe UI"/>
                        </a:rPr>
                        <a:t>114</a:t>
                      </a:r>
                      <a:endParaRPr lang="fr-FR" sz="17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anchor="ctr">
                      <a:noAutofit/>
                    </a:bodyPr>
                    <a:p>
                      <a:pPr defTabSz="457200">
                        <a:lnSpc>
                          <a:spcPct val="100000"/>
                        </a:lnSpc>
                      </a:pPr>
                      <a:r>
                        <a:rPr lang="en-US" sz="1700" b="0" u="none" strike="noStrike">
                          <a:solidFill>
                            <a:srgbClr val="111827"/>
                          </a:solidFill>
                          <a:effectLst/>
                          <a:uFillTx/>
                          <a:latin typeface="Segoe UI"/>
                        </a:rPr>
                        <a:t>0</a:t>
                      </a:r>
                      <a:endParaRPr lang="fr-FR" sz="17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94360">
                <a:tc>
                  <a:txBody>
                    <a:bodyPr lIns="73080" rIns="73080" anchor="ctr">
                      <a:noAutofit/>
                    </a:bodyPr>
                    <a:p>
                      <a:pPr defTabSz="457200">
                        <a:lnSpc>
                          <a:spcPct val="100000"/>
                        </a:lnSpc>
                      </a:pPr>
                      <a:r>
                        <a:rPr lang="en-US" sz="1700" b="0" u="none" strike="noStrike">
                          <a:solidFill>
                            <a:srgbClr val="111827"/>
                          </a:solidFill>
                          <a:effectLst/>
                          <a:uFillTx/>
                          <a:latin typeface="Segoe UI"/>
                        </a:rPr>
                        <a:t>Entreprises en double</a:t>
                      </a:r>
                      <a:endParaRPr lang="fr-FR" sz="17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FF6FF"/>
                    </a:solidFill>
                  </a:tcPr>
                </a:tc>
                <a:tc>
                  <a:txBody>
                    <a:bodyPr lIns="73080" rIns="73080" anchor="ctr">
                      <a:noAutofit/>
                    </a:bodyPr>
                    <a:p>
                      <a:pPr defTabSz="457200">
                        <a:lnSpc>
                          <a:spcPct val="100000"/>
                        </a:lnSpc>
                      </a:pPr>
                      <a:r>
                        <a:rPr lang="en-US" sz="1700" b="0" u="none" strike="noStrike">
                          <a:solidFill>
                            <a:srgbClr val="111827"/>
                          </a:solidFill>
                          <a:effectLst/>
                          <a:uFillTx/>
                          <a:latin typeface="Segoe UI"/>
                        </a:rPr>
                        <a:t>20</a:t>
                      </a:r>
                      <a:endParaRPr lang="fr-FR" sz="17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FF6FF"/>
                    </a:solidFill>
                  </a:tcPr>
                </a:tc>
                <a:tc>
                  <a:txBody>
                    <a:bodyPr lIns="73080" rIns="73080" anchor="ctr">
                      <a:noAutofit/>
                    </a:bodyPr>
                    <a:p>
                      <a:pPr defTabSz="457200">
                        <a:lnSpc>
                          <a:spcPct val="100000"/>
                        </a:lnSpc>
                      </a:pPr>
                      <a:r>
                        <a:rPr lang="en-US" sz="1700" b="0" u="none" strike="noStrike">
                          <a:solidFill>
                            <a:srgbClr val="111827"/>
                          </a:solidFill>
                          <a:effectLst/>
                          <a:uFillTx/>
                          <a:latin typeface="Segoe UI"/>
                        </a:rPr>
                        <a:t>0</a:t>
                      </a:r>
                      <a:endParaRPr lang="fr-FR" sz="17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FF6FF"/>
                    </a:solidFill>
                  </a:tcPr>
                </a:tc>
              </a:tr>
              <a:tr h="594360">
                <a:tc>
                  <a:txBody>
                    <a:bodyPr lIns="73080" rIns="73080" anchor="ctr">
                      <a:noAutofit/>
                    </a:bodyPr>
                    <a:p>
                      <a:pPr defTabSz="457200">
                        <a:lnSpc>
                          <a:spcPct val="100000"/>
                        </a:lnSpc>
                      </a:pPr>
                      <a:r>
                        <a:rPr lang="en-US" sz="1700" b="0" u="none" strike="noStrike">
                          <a:solidFill>
                            <a:srgbClr val="111827"/>
                          </a:solidFill>
                          <a:effectLst/>
                          <a:uFillTx/>
                          <a:latin typeface="Segoe UI"/>
                        </a:rPr>
                        <a:t>Offres mal reliées</a:t>
                      </a:r>
                      <a:endParaRPr lang="fr-FR" sz="17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anchor="ctr">
                      <a:noAutofit/>
                    </a:bodyPr>
                    <a:p>
                      <a:pPr defTabSz="457200">
                        <a:lnSpc>
                          <a:spcPct val="100000"/>
                        </a:lnSpc>
                      </a:pPr>
                      <a:r>
                        <a:rPr lang="en-US" sz="1700" b="0" u="none" strike="noStrike">
                          <a:solidFill>
                            <a:srgbClr val="111827"/>
                          </a:solidFill>
                          <a:effectLst/>
                          <a:uFillTx/>
                          <a:latin typeface="Segoe UI"/>
                        </a:rPr>
                        <a:t>0</a:t>
                      </a:r>
                      <a:endParaRPr lang="fr-FR" sz="17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rIns="73080" anchor="ctr">
                      <a:noAutofit/>
                    </a:bodyPr>
                    <a:p>
                      <a:pPr defTabSz="457200">
                        <a:lnSpc>
                          <a:spcPct val="100000"/>
                        </a:lnSpc>
                      </a:pPr>
                      <a:r>
                        <a:rPr lang="en-US" sz="1700" b="0" u="none" strike="noStrike">
                          <a:solidFill>
                            <a:srgbClr val="111827"/>
                          </a:solidFill>
                          <a:effectLst/>
                          <a:uFillTx/>
                          <a:latin typeface="Segoe UI"/>
                        </a:rPr>
                        <a:t>0</a:t>
                      </a:r>
                      <a:endParaRPr lang="fr-FR" sz="17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94360">
                <a:tc>
                  <a:txBody>
                    <a:bodyPr lIns="73080" rIns="73080" anchor="ctr">
                      <a:noAutofit/>
                    </a:bodyPr>
                    <a:p>
                      <a:pPr defTabSz="457200">
                        <a:lnSpc>
                          <a:spcPct val="100000"/>
                        </a:lnSpc>
                      </a:pPr>
                      <a:r>
                        <a:rPr lang="en-US" sz="1700" b="0" u="none" strike="noStrike">
                          <a:solidFill>
                            <a:srgbClr val="111827"/>
                          </a:solidFill>
                          <a:effectLst/>
                          <a:uFillTx/>
                          <a:latin typeface="Segoe UI"/>
                        </a:rPr>
                        <a:t>Offres en double</a:t>
                      </a:r>
                      <a:endParaRPr lang="fr-FR" sz="17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FF6FF"/>
                    </a:solidFill>
                  </a:tcPr>
                </a:tc>
                <a:tc>
                  <a:txBody>
                    <a:bodyPr lIns="73080" rIns="73080" anchor="ctr">
                      <a:noAutofit/>
                    </a:bodyPr>
                    <a:p>
                      <a:pPr defTabSz="457200">
                        <a:lnSpc>
                          <a:spcPct val="100000"/>
                        </a:lnSpc>
                      </a:pPr>
                      <a:r>
                        <a:rPr lang="en-US" sz="1700" b="0" u="none" strike="noStrike">
                          <a:solidFill>
                            <a:srgbClr val="111827"/>
                          </a:solidFill>
                          <a:effectLst/>
                          <a:uFillTx/>
                          <a:latin typeface="Segoe UI"/>
                        </a:rPr>
                        <a:t>0</a:t>
                      </a:r>
                      <a:endParaRPr lang="fr-FR" sz="17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FF6FF"/>
                    </a:solidFill>
                  </a:tcPr>
                </a:tc>
                <a:tc>
                  <a:txBody>
                    <a:bodyPr lIns="73080" rIns="73080" anchor="ctr">
                      <a:noAutofit/>
                    </a:bodyPr>
                    <a:p>
                      <a:pPr defTabSz="457200">
                        <a:lnSpc>
                          <a:spcPct val="100000"/>
                        </a:lnSpc>
                      </a:pPr>
                      <a:r>
                        <a:rPr lang="en-US" sz="1700" b="0" u="none" strike="noStrike">
                          <a:solidFill>
                            <a:srgbClr val="111827"/>
                          </a:solidFill>
                          <a:effectLst/>
                          <a:uFillTx/>
                          <a:latin typeface="Segoe UI"/>
                        </a:rPr>
                        <a:t>0</a:t>
                      </a:r>
                      <a:endParaRPr lang="fr-FR" sz="1700" b="0" u="none" strike="noStrike">
                        <a:solidFill>
                          <a:srgbClr val="000000"/>
                        </a:solidFill>
                        <a:effectLst/>
                        <a:uFillTx/>
                        <a:latin typeface="Arial"/>
                      </a:endParaRPr>
                    </a:p>
                  </a:txBody>
                  <a:tcPr anchor="ct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FF6FF"/>
                    </a:solidFill>
                  </a:tcPr>
                </a:tc>
              </a:tr>
            </a:tbl>
          </a:graphicData>
        </a:graphic>
      </p:graphicFrame>
      <p:sp>
        <p:nvSpPr>
          <p:cNvPr id="277" name="Rounded Rectangle 8"/>
          <p:cNvSpPr/>
          <p:nvPr/>
        </p:nvSpPr>
        <p:spPr>
          <a:xfrm>
            <a:off x="7772400" y="1280160"/>
            <a:ext cx="3931560" cy="3565800"/>
          </a:xfrm>
          <a:prstGeom prst="roundRect">
            <a:avLst>
              <a:gd name="adj" fmla="val 3076"/>
            </a:avLst>
          </a:prstGeom>
          <a:solidFill>
            <a:srgbClr val="FFFFFF"/>
          </a:solidFill>
          <a:ln w="15875">
            <a:solidFill>
              <a:srgbClr val="EA580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78" name="TextBox 9"/>
          <p:cNvSpPr/>
          <p:nvPr/>
        </p:nvSpPr>
        <p:spPr>
          <a:xfrm>
            <a:off x="7955280" y="1417320"/>
            <a:ext cx="3565800" cy="45684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800" b="1" u="none" strike="noStrike">
                <a:solidFill>
                  <a:srgbClr val="EA580C"/>
                </a:solidFill>
                <a:effectLst/>
                <a:uFillTx/>
                <a:latin typeface="Segoe UI"/>
              </a:rPr>
              <a:t>Exemple réel</a:t>
            </a:r>
            <a:endParaRPr lang="fr-FR" sz="1800" b="0" u="none" strike="noStrike">
              <a:solidFill>
                <a:srgbClr val="000000"/>
              </a:solidFill>
              <a:effectLst/>
              <a:uFillTx/>
              <a:latin typeface="Arial"/>
            </a:endParaRPr>
          </a:p>
        </p:txBody>
      </p:sp>
      <p:sp>
        <p:nvSpPr>
          <p:cNvPr id="279" name="TextBox 10"/>
          <p:cNvSpPr/>
          <p:nvPr/>
        </p:nvSpPr>
        <p:spPr>
          <a:xfrm>
            <a:off x="7955280" y="1920240"/>
            <a:ext cx="3565800" cy="82260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600" b="0" u="none" strike="noStrike">
                <a:solidFill>
                  <a:srgbClr val="111827"/>
                </a:solidFill>
                <a:effectLst/>
                <a:uFillTx/>
                <a:latin typeface="Segoe UI"/>
              </a:rPr>
              <a:t>Chauffeur de car scolaire</a:t>
            </a:r>
            <a:endParaRPr lang="fr-FR" sz="1600" b="0" u="none" strike="noStrike">
              <a:solidFill>
                <a:srgbClr val="000000"/>
              </a:solidFill>
              <a:effectLst/>
              <a:uFillTx/>
              <a:latin typeface="Arial"/>
            </a:endParaRPr>
          </a:p>
        </p:txBody>
      </p:sp>
      <p:sp>
        <p:nvSpPr>
          <p:cNvPr id="280" name="TextBox 11"/>
          <p:cNvSpPr/>
          <p:nvPr/>
        </p:nvSpPr>
        <p:spPr>
          <a:xfrm>
            <a:off x="7955280" y="2468880"/>
            <a:ext cx="3565800" cy="63972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2800" b="1" u="none" strike="noStrike">
                <a:solidFill>
                  <a:srgbClr val="DC2626"/>
                </a:solidFill>
                <a:effectLst/>
                <a:uFillTx/>
                <a:latin typeface="Segoe UI"/>
              </a:rPr>
              <a:t>12 € par an</a:t>
            </a:r>
            <a:endParaRPr lang="fr-FR" sz="2800" b="0" u="none" strike="noStrike">
              <a:solidFill>
                <a:srgbClr val="000000"/>
              </a:solidFill>
              <a:effectLst/>
              <a:uFillTx/>
              <a:latin typeface="Arial"/>
            </a:endParaRPr>
          </a:p>
        </p:txBody>
      </p:sp>
      <p:sp>
        <p:nvSpPr>
          <p:cNvPr id="281" name="TextBox 12"/>
          <p:cNvSpPr/>
          <p:nvPr/>
        </p:nvSpPr>
        <p:spPr>
          <a:xfrm>
            <a:off x="7955280" y="3063240"/>
            <a:ext cx="3565800" cy="45684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2400" b="0" u="none" strike="noStrike">
                <a:solidFill>
                  <a:srgbClr val="6B7280"/>
                </a:solidFill>
                <a:effectLst/>
                <a:uFillTx/>
                <a:latin typeface="Segoe UI"/>
              </a:rPr>
              <a:t>↓</a:t>
            </a:r>
            <a:endParaRPr lang="fr-FR" sz="2400" b="0" u="none" strike="noStrike">
              <a:solidFill>
                <a:srgbClr val="000000"/>
              </a:solidFill>
              <a:effectLst/>
              <a:uFillTx/>
              <a:latin typeface="Arial"/>
            </a:endParaRPr>
          </a:p>
        </p:txBody>
      </p:sp>
      <p:sp>
        <p:nvSpPr>
          <p:cNvPr id="282" name="TextBox 13"/>
          <p:cNvSpPr/>
          <p:nvPr/>
        </p:nvSpPr>
        <p:spPr>
          <a:xfrm>
            <a:off x="7955280" y="3520440"/>
            <a:ext cx="3565800" cy="63972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2800" b="1" u="none" strike="noStrike">
                <a:solidFill>
                  <a:srgbClr val="16A34A"/>
                </a:solidFill>
                <a:effectLst/>
                <a:uFillTx/>
                <a:latin typeface="Segoe UI"/>
              </a:rPr>
              <a:t>25 480 € par an</a:t>
            </a:r>
            <a:endParaRPr lang="fr-FR" sz="2800" b="0" u="none" strike="noStrike">
              <a:solidFill>
                <a:srgbClr val="000000"/>
              </a:solidFill>
              <a:effectLst/>
              <a:uFillTx/>
              <a:latin typeface="Arial"/>
            </a:endParaRPr>
          </a:p>
        </p:txBody>
      </p:sp>
      <p:sp>
        <p:nvSpPr>
          <p:cNvPr id="283" name="TextBox 14"/>
          <p:cNvSpPr/>
          <p:nvPr/>
        </p:nvSpPr>
        <p:spPr>
          <a:xfrm>
            <a:off x="7955280" y="4160520"/>
            <a:ext cx="3565800" cy="54828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300" b="0" u="none" strike="noStrike">
                <a:solidFill>
                  <a:srgbClr val="6B7280"/>
                </a:solidFill>
                <a:effectLst/>
                <a:uFillTx/>
                <a:latin typeface="Segoe UI"/>
              </a:rPr>
              <a:t>salaire horaire correctement converti</a:t>
            </a:r>
            <a:endParaRPr lang="fr-FR" sz="1300" b="0" u="none" strike="noStrike">
              <a:solidFill>
                <a:srgbClr val="000000"/>
              </a:solidFill>
              <a:effectLst/>
              <a:uFillTx/>
              <a:latin typeface="Arial"/>
            </a:endParaRPr>
          </a:p>
        </p:txBody>
      </p:sp>
      <p:sp>
        <p:nvSpPr>
          <p:cNvPr id="284" name="Rounded Rectangle 15"/>
          <p:cNvSpPr/>
          <p:nvPr/>
        </p:nvSpPr>
        <p:spPr>
          <a:xfrm>
            <a:off x="548640" y="5303520"/>
            <a:ext cx="11063880" cy="1096920"/>
          </a:xfrm>
          <a:prstGeom prst="roundRect">
            <a:avLst>
              <a:gd name="adj" fmla="val 10000"/>
            </a:avLst>
          </a:prstGeom>
          <a:solidFill>
            <a:srgbClr val="EFF6FF"/>
          </a:solidFill>
          <a:ln w="15875">
            <a:solidFill>
              <a:srgbClr val="16A34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800" b="1" u="none" strike="noStrike">
                <a:solidFill>
                  <a:srgbClr val="111827"/>
                </a:solidFill>
                <a:effectLst/>
                <a:uFillTx/>
                <a:latin typeface="Segoe UI"/>
              </a:rPr>
              <a:t>Toutes les erreurs graves sont à zéro</a:t>
            </a:r>
            <a:endParaRPr lang="fr-FR" sz="1800" b="0" u="none" strike="noStrike">
              <a:solidFill>
                <a:srgbClr val="000000"/>
              </a:solidFill>
              <a:effectLst/>
              <a:uFillTx/>
              <a:latin typeface="Arial"/>
            </a:endParaRPr>
          </a:p>
          <a:p>
            <a:pPr algn="ctr" defTabSz="457200">
              <a:lnSpc>
                <a:spcPct val="100000"/>
              </a:lnSpc>
            </a:pPr>
            <a:r>
              <a:rPr lang="en-US" sz="1500" b="0" u="none" strike="noStrike">
                <a:solidFill>
                  <a:srgbClr val="111827"/>
                </a:solidFill>
                <a:effectLst/>
                <a:uFillTx/>
                <a:latin typeface="Segoe UI"/>
              </a:rPr>
              <a:t>et la règle est corrigée dans le pipeline : elles ne reviendront pas</a:t>
            </a:r>
            <a:endParaRPr lang="fr-FR"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Rectangle 1"/>
          <p:cNvSpPr/>
          <p:nvPr/>
        </p:nvSpPr>
        <p:spPr>
          <a:xfrm>
            <a:off x="0" y="0"/>
            <a:ext cx="12191400" cy="959760"/>
          </a:xfrm>
          <a:prstGeom prst="rect">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86" name="TextBox 2"/>
          <p:cNvSpPr/>
          <p:nvPr/>
        </p:nvSpPr>
        <p:spPr>
          <a:xfrm>
            <a:off x="457200" y="164520"/>
            <a:ext cx="8960760" cy="68544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2800" b="1" u="none" strike="noStrike">
                <a:solidFill>
                  <a:srgbClr val="FFFFFF"/>
                </a:solidFill>
                <a:effectLst/>
                <a:uFillTx/>
                <a:latin typeface="Segoe UI"/>
              </a:rPr>
              <a:t>TP3 : ce que j'ai choisi de ne pas inventer</a:t>
            </a:r>
            <a:endParaRPr lang="fr-FR" sz="2800" b="0" u="none" strike="noStrike">
              <a:solidFill>
                <a:srgbClr val="000000"/>
              </a:solidFill>
              <a:effectLst/>
              <a:uFillTx/>
              <a:latin typeface="Arial"/>
            </a:endParaRPr>
          </a:p>
        </p:txBody>
      </p:sp>
      <p:sp>
        <p:nvSpPr>
          <p:cNvPr id="287" name="TextBox 3"/>
          <p:cNvSpPr/>
          <p:nvPr/>
        </p:nvSpPr>
        <p:spPr>
          <a:xfrm>
            <a:off x="8961120" y="274320"/>
            <a:ext cx="2925720" cy="45684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300" b="0" u="none" strike="noStrike">
                <a:solidFill>
                  <a:srgbClr val="BFDBFE"/>
                </a:solidFill>
                <a:effectLst/>
                <a:uFillTx/>
                <a:latin typeface="Segoe UI"/>
              </a:rPr>
              <a:t>TP3 — Fiabiliser</a:t>
            </a:r>
            <a:endParaRPr lang="fr-FR" sz="1300" b="0" u="none" strike="noStrike">
              <a:solidFill>
                <a:srgbClr val="000000"/>
              </a:solidFill>
              <a:effectLst/>
              <a:uFillTx/>
              <a:latin typeface="Arial"/>
            </a:endParaRPr>
          </a:p>
        </p:txBody>
      </p:sp>
      <p:sp>
        <p:nvSpPr>
          <p:cNvPr id="288" name="Rectangle 4"/>
          <p:cNvSpPr/>
          <p:nvPr/>
        </p:nvSpPr>
        <p:spPr>
          <a:xfrm>
            <a:off x="0" y="6583680"/>
            <a:ext cx="12191400" cy="273960"/>
          </a:xfrm>
          <a:prstGeom prst="rect">
            <a:avLst/>
          </a:prstGeom>
          <a:solidFill>
            <a:srgbClr val="EFF6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89" name="TextBox 5"/>
          <p:cNvSpPr/>
          <p:nvPr/>
        </p:nvSpPr>
        <p:spPr>
          <a:xfrm>
            <a:off x="457200" y="6583680"/>
            <a:ext cx="8229240" cy="27396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000" b="0" u="none" strike="noStrike">
                <a:solidFill>
                  <a:srgbClr val="6B7280"/>
                </a:solidFill>
                <a:effectLst/>
                <a:uFillTx/>
                <a:latin typeface="Segoe UI"/>
              </a:rPr>
              <a:t>Des offres d'emploi brutes à une plateforme de données fiable  •  Théo Mousnier</a:t>
            </a:r>
            <a:endParaRPr lang="fr-FR" sz="1000" b="0" u="none" strike="noStrike">
              <a:solidFill>
                <a:srgbClr val="000000"/>
              </a:solidFill>
              <a:effectLst/>
              <a:uFillTx/>
              <a:latin typeface="Arial"/>
            </a:endParaRPr>
          </a:p>
        </p:txBody>
      </p:sp>
      <p:sp>
        <p:nvSpPr>
          <p:cNvPr id="290" name="TextBox 6"/>
          <p:cNvSpPr/>
          <p:nvPr/>
        </p:nvSpPr>
        <p:spPr>
          <a:xfrm>
            <a:off x="10789920" y="6583680"/>
            <a:ext cx="1005480" cy="27396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000" b="0" u="none" strike="noStrike">
                <a:solidFill>
                  <a:srgbClr val="6B7280"/>
                </a:solidFill>
                <a:effectLst/>
                <a:uFillTx/>
                <a:latin typeface="Segoe UI"/>
              </a:rPr>
              <a:t>13 / 16</a:t>
            </a:r>
            <a:endParaRPr lang="fr-FR" sz="1000" b="0" u="none" strike="noStrike">
              <a:solidFill>
                <a:srgbClr val="000000"/>
              </a:solidFill>
              <a:effectLst/>
              <a:uFillTx/>
              <a:latin typeface="Arial"/>
            </a:endParaRPr>
          </a:p>
        </p:txBody>
      </p:sp>
      <p:sp>
        <p:nvSpPr>
          <p:cNvPr id="291" name="Rounded Rectangle 7"/>
          <p:cNvSpPr/>
          <p:nvPr/>
        </p:nvSpPr>
        <p:spPr>
          <a:xfrm>
            <a:off x="731520" y="1463040"/>
            <a:ext cx="3382920" cy="1737000"/>
          </a:xfrm>
          <a:prstGeom prst="roundRect">
            <a:avLst>
              <a:gd name="adj" fmla="val 6315"/>
            </a:avLst>
          </a:prstGeom>
          <a:solidFill>
            <a:srgbClr val="FFFFFF"/>
          </a:solidFill>
          <a:ln w="15875">
            <a:solidFill>
              <a:srgbClr val="D1D5D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92" name="TextBox 8"/>
          <p:cNvSpPr/>
          <p:nvPr/>
        </p:nvSpPr>
        <p:spPr>
          <a:xfrm>
            <a:off x="731520" y="1600200"/>
            <a:ext cx="3382920" cy="731160"/>
          </a:xfrm>
          <a:prstGeom prst="rect">
            <a:avLst/>
          </a:prstGeom>
          <a:noFill/>
          <a:ln w="0">
            <a:noFill/>
          </a:ln>
        </p:spPr>
        <p:style>
          <a:lnRef idx="0"/>
          <a:fillRef idx="0"/>
          <a:effectRef idx="0"/>
          <a:fontRef idx="minor"/>
        </p:style>
        <p:txBody>
          <a:bodyPr lIns="45720" tIns="45000" rIns="45720" bIns="45000" anchor="ctr">
            <a:spAutoFit/>
          </a:bodyPr>
          <a:p>
            <a:pPr algn="ctr" defTabSz="457200">
              <a:lnSpc>
                <a:spcPct val="100000"/>
              </a:lnSpc>
            </a:pPr>
            <a:r>
              <a:rPr lang="en-US" sz="4400" b="1" u="none" strike="noStrike">
                <a:solidFill>
                  <a:srgbClr val="EA580C"/>
                </a:solidFill>
                <a:effectLst/>
                <a:uFillTx/>
                <a:latin typeface="Segoe UI"/>
              </a:rPr>
              <a:t>27 %</a:t>
            </a:r>
            <a:endParaRPr lang="fr-FR" sz="4400" b="0" u="none" strike="noStrike">
              <a:solidFill>
                <a:srgbClr val="000000"/>
              </a:solidFill>
              <a:effectLst/>
              <a:uFillTx/>
              <a:latin typeface="Arial"/>
            </a:endParaRPr>
          </a:p>
        </p:txBody>
      </p:sp>
      <p:sp>
        <p:nvSpPr>
          <p:cNvPr id="293" name="TextBox 9"/>
          <p:cNvSpPr/>
          <p:nvPr/>
        </p:nvSpPr>
        <p:spPr>
          <a:xfrm>
            <a:off x="822960" y="2331720"/>
            <a:ext cx="3200040" cy="82260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400" b="0" u="none" strike="noStrike">
                <a:solidFill>
                  <a:srgbClr val="6B7280"/>
                </a:solidFill>
                <a:effectLst/>
                <a:uFillTx/>
                <a:latin typeface="Segoe UI"/>
              </a:rPr>
              <a:t>des offres sans salaire indiqué</a:t>
            </a:r>
            <a:endParaRPr lang="fr-FR" sz="1400" b="0" u="none" strike="noStrike">
              <a:solidFill>
                <a:srgbClr val="000000"/>
              </a:solidFill>
              <a:effectLst/>
              <a:uFillTx/>
              <a:latin typeface="Arial"/>
            </a:endParaRPr>
          </a:p>
        </p:txBody>
      </p:sp>
      <p:sp>
        <p:nvSpPr>
          <p:cNvPr id="294" name="Rounded Rectangle 10"/>
          <p:cNvSpPr/>
          <p:nvPr/>
        </p:nvSpPr>
        <p:spPr>
          <a:xfrm>
            <a:off x="4389120" y="1463040"/>
            <a:ext cx="3382920" cy="1737000"/>
          </a:xfrm>
          <a:prstGeom prst="roundRect">
            <a:avLst>
              <a:gd name="adj" fmla="val 6315"/>
            </a:avLst>
          </a:prstGeom>
          <a:solidFill>
            <a:srgbClr val="FFFFFF"/>
          </a:solidFill>
          <a:ln w="15875">
            <a:solidFill>
              <a:srgbClr val="D1D5D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95" name="TextBox 11"/>
          <p:cNvSpPr/>
          <p:nvPr/>
        </p:nvSpPr>
        <p:spPr>
          <a:xfrm>
            <a:off x="4389120" y="1600200"/>
            <a:ext cx="3382920" cy="731160"/>
          </a:xfrm>
          <a:prstGeom prst="rect">
            <a:avLst/>
          </a:prstGeom>
          <a:noFill/>
          <a:ln w="0">
            <a:noFill/>
          </a:ln>
        </p:spPr>
        <p:style>
          <a:lnRef idx="0"/>
          <a:fillRef idx="0"/>
          <a:effectRef idx="0"/>
          <a:fontRef idx="minor"/>
        </p:style>
        <p:txBody>
          <a:bodyPr lIns="45720" tIns="45000" rIns="45720" bIns="45000" anchor="ctr">
            <a:spAutoFit/>
          </a:bodyPr>
          <a:p>
            <a:pPr algn="ctr" defTabSz="457200">
              <a:lnSpc>
                <a:spcPct val="100000"/>
              </a:lnSpc>
            </a:pPr>
            <a:r>
              <a:rPr lang="en-US" sz="4400" b="1" u="none" strike="noStrike">
                <a:solidFill>
                  <a:srgbClr val="EA580C"/>
                </a:solidFill>
                <a:effectLst/>
                <a:uFillTx/>
                <a:latin typeface="Segoe UI"/>
              </a:rPr>
              <a:t>12 %</a:t>
            </a:r>
            <a:endParaRPr lang="fr-FR" sz="4400" b="0" u="none" strike="noStrike">
              <a:solidFill>
                <a:srgbClr val="000000"/>
              </a:solidFill>
              <a:effectLst/>
              <a:uFillTx/>
              <a:latin typeface="Arial"/>
            </a:endParaRPr>
          </a:p>
        </p:txBody>
      </p:sp>
      <p:sp>
        <p:nvSpPr>
          <p:cNvPr id="296" name="TextBox 12"/>
          <p:cNvSpPr/>
          <p:nvPr/>
        </p:nvSpPr>
        <p:spPr>
          <a:xfrm>
            <a:off x="4480560" y="2331720"/>
            <a:ext cx="3200040" cy="82260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400" b="0" u="none" strike="noStrike">
                <a:solidFill>
                  <a:srgbClr val="6B7280"/>
                </a:solidFill>
                <a:effectLst/>
                <a:uFillTx/>
                <a:latin typeface="Segoe UI"/>
              </a:rPr>
              <a:t>des offres sans compétence listée</a:t>
            </a:r>
            <a:endParaRPr lang="fr-FR" sz="1400" b="0" u="none" strike="noStrike">
              <a:solidFill>
                <a:srgbClr val="000000"/>
              </a:solidFill>
              <a:effectLst/>
              <a:uFillTx/>
              <a:latin typeface="Arial"/>
            </a:endParaRPr>
          </a:p>
        </p:txBody>
      </p:sp>
      <p:sp>
        <p:nvSpPr>
          <p:cNvPr id="297" name="Rounded Rectangle 13"/>
          <p:cNvSpPr/>
          <p:nvPr/>
        </p:nvSpPr>
        <p:spPr>
          <a:xfrm>
            <a:off x="8046720" y="1463040"/>
            <a:ext cx="3382920" cy="1737000"/>
          </a:xfrm>
          <a:prstGeom prst="roundRect">
            <a:avLst>
              <a:gd name="adj" fmla="val 6315"/>
            </a:avLst>
          </a:prstGeom>
          <a:solidFill>
            <a:srgbClr val="FFFFFF"/>
          </a:solidFill>
          <a:ln w="15875">
            <a:solidFill>
              <a:srgbClr val="D1D5D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98" name="TextBox 14"/>
          <p:cNvSpPr/>
          <p:nvPr/>
        </p:nvSpPr>
        <p:spPr>
          <a:xfrm>
            <a:off x="8046720" y="1600200"/>
            <a:ext cx="3382920" cy="731160"/>
          </a:xfrm>
          <a:prstGeom prst="rect">
            <a:avLst/>
          </a:prstGeom>
          <a:noFill/>
          <a:ln w="0">
            <a:noFill/>
          </a:ln>
        </p:spPr>
        <p:style>
          <a:lnRef idx="0"/>
          <a:fillRef idx="0"/>
          <a:effectRef idx="0"/>
          <a:fontRef idx="minor"/>
        </p:style>
        <p:txBody>
          <a:bodyPr lIns="45720" tIns="45000" rIns="45720" bIns="45000" anchor="ctr">
            <a:spAutoFit/>
          </a:bodyPr>
          <a:p>
            <a:pPr algn="ctr" defTabSz="457200">
              <a:lnSpc>
                <a:spcPct val="100000"/>
              </a:lnSpc>
            </a:pPr>
            <a:r>
              <a:rPr lang="en-US" sz="4400" b="1" u="none" strike="noStrike">
                <a:solidFill>
                  <a:srgbClr val="EA580C"/>
                </a:solidFill>
                <a:effectLst/>
                <a:uFillTx/>
                <a:latin typeface="Segoe UI"/>
              </a:rPr>
              <a:t>1,5 %</a:t>
            </a:r>
            <a:endParaRPr lang="fr-FR" sz="4400" b="0" u="none" strike="noStrike">
              <a:solidFill>
                <a:srgbClr val="000000"/>
              </a:solidFill>
              <a:effectLst/>
              <a:uFillTx/>
              <a:latin typeface="Arial"/>
            </a:endParaRPr>
          </a:p>
        </p:txBody>
      </p:sp>
      <p:sp>
        <p:nvSpPr>
          <p:cNvPr id="299" name="TextBox 15"/>
          <p:cNvSpPr/>
          <p:nvPr/>
        </p:nvSpPr>
        <p:spPr>
          <a:xfrm>
            <a:off x="8138160" y="2331720"/>
            <a:ext cx="3200040" cy="82260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400" b="0" u="none" strike="noStrike">
                <a:solidFill>
                  <a:srgbClr val="6B7280"/>
                </a:solidFill>
                <a:effectLst/>
                <a:uFillTx/>
                <a:latin typeface="Segoe UI"/>
              </a:rPr>
              <a:t>des offres dont la commune n'a pas pu être vérifiée</a:t>
            </a:r>
            <a:endParaRPr lang="fr-FR" sz="1400" b="0" u="none" strike="noStrike">
              <a:solidFill>
                <a:srgbClr val="000000"/>
              </a:solidFill>
              <a:effectLst/>
              <a:uFillTx/>
              <a:latin typeface="Arial"/>
            </a:endParaRPr>
          </a:p>
        </p:txBody>
      </p:sp>
      <p:sp>
        <p:nvSpPr>
          <p:cNvPr id="300" name="Rounded Rectangle 16"/>
          <p:cNvSpPr/>
          <p:nvPr/>
        </p:nvSpPr>
        <p:spPr>
          <a:xfrm>
            <a:off x="731520" y="3657600"/>
            <a:ext cx="10698120" cy="1279800"/>
          </a:xfrm>
          <a:prstGeom prst="roundRect">
            <a:avLst>
              <a:gd name="adj" fmla="val 8571"/>
            </a:avLst>
          </a:prstGeom>
          <a:solidFill>
            <a:srgbClr val="EFF6FF"/>
          </a:solidFill>
          <a:ln w="15875">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2200" b="1" u="none" strike="noStrike">
                <a:solidFill>
                  <a:srgbClr val="1E3A8A"/>
                </a:solidFill>
                <a:effectLst/>
                <a:uFillTx/>
                <a:latin typeface="Segoe UI"/>
              </a:rPr>
              <a:t>« Une donnée honnête vaut mieux qu'une donnée complète mais fausse »</a:t>
            </a:r>
            <a:endParaRPr lang="fr-FR" sz="2200" b="0" u="none" strike="noStrike">
              <a:solidFill>
                <a:srgbClr val="000000"/>
              </a:solidFill>
              <a:effectLst/>
              <a:uFillTx/>
              <a:latin typeface="Arial"/>
            </a:endParaRPr>
          </a:p>
        </p:txBody>
      </p:sp>
      <p:sp>
        <p:nvSpPr>
          <p:cNvPr id="301" name="TextBox 17"/>
          <p:cNvSpPr/>
          <p:nvPr/>
        </p:nvSpPr>
        <p:spPr>
          <a:xfrm>
            <a:off x="731520" y="5212080"/>
            <a:ext cx="10698120" cy="91404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700" b="0" u="none" strike="noStrike">
                <a:solidFill>
                  <a:srgbClr val="6B7280"/>
                </a:solidFill>
                <a:effectLst/>
                <a:uFillTx/>
                <a:latin typeface="Segoe UI"/>
              </a:rPr>
              <a:t>Ces manques viennent de la source. Ils sont mesurés à chaque contrôle et affichés comme limites du jeu de données.</a:t>
            </a:r>
            <a:endParaRPr lang="fr-FR"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Rectangle 1"/>
          <p:cNvSpPr/>
          <p:nvPr/>
        </p:nvSpPr>
        <p:spPr>
          <a:xfrm>
            <a:off x="0" y="0"/>
            <a:ext cx="12191400" cy="959760"/>
          </a:xfrm>
          <a:prstGeom prst="rect">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03" name="TextBox 2"/>
          <p:cNvSpPr/>
          <p:nvPr/>
        </p:nvSpPr>
        <p:spPr>
          <a:xfrm>
            <a:off x="457200" y="164520"/>
            <a:ext cx="8960760" cy="68544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2800" b="1" u="none" strike="noStrike">
                <a:solidFill>
                  <a:srgbClr val="FFFFFF"/>
                </a:solidFill>
                <a:effectLst/>
                <a:uFillTx/>
                <a:latin typeface="Segoe UI"/>
              </a:rPr>
              <a:t>Vue globale : les 3 TP dans le pipeline</a:t>
            </a:r>
            <a:endParaRPr lang="fr-FR" sz="2800" b="0" u="none" strike="noStrike">
              <a:solidFill>
                <a:srgbClr val="000000"/>
              </a:solidFill>
              <a:effectLst/>
              <a:uFillTx/>
              <a:latin typeface="Arial"/>
            </a:endParaRPr>
          </a:p>
        </p:txBody>
      </p:sp>
      <p:sp>
        <p:nvSpPr>
          <p:cNvPr id="304" name="TextBox 3"/>
          <p:cNvSpPr/>
          <p:nvPr/>
        </p:nvSpPr>
        <p:spPr>
          <a:xfrm>
            <a:off x="8961120" y="274320"/>
            <a:ext cx="2925720" cy="45684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300" b="0" u="none" strike="noStrike">
                <a:solidFill>
                  <a:srgbClr val="BFDBFE"/>
                </a:solidFill>
                <a:effectLst/>
                <a:uFillTx/>
                <a:latin typeface="Segoe UI"/>
              </a:rPr>
              <a:t>Synthèse</a:t>
            </a:r>
            <a:endParaRPr lang="fr-FR" sz="1300" b="0" u="none" strike="noStrike">
              <a:solidFill>
                <a:srgbClr val="000000"/>
              </a:solidFill>
              <a:effectLst/>
              <a:uFillTx/>
              <a:latin typeface="Arial"/>
            </a:endParaRPr>
          </a:p>
        </p:txBody>
      </p:sp>
      <p:sp>
        <p:nvSpPr>
          <p:cNvPr id="305" name="Rectangle 4"/>
          <p:cNvSpPr/>
          <p:nvPr/>
        </p:nvSpPr>
        <p:spPr>
          <a:xfrm>
            <a:off x="0" y="6583680"/>
            <a:ext cx="12191400" cy="273960"/>
          </a:xfrm>
          <a:prstGeom prst="rect">
            <a:avLst/>
          </a:prstGeom>
          <a:solidFill>
            <a:srgbClr val="EFF6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06" name="TextBox 5"/>
          <p:cNvSpPr/>
          <p:nvPr/>
        </p:nvSpPr>
        <p:spPr>
          <a:xfrm>
            <a:off x="457200" y="6583680"/>
            <a:ext cx="8229240" cy="27396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000" b="0" u="none" strike="noStrike">
                <a:solidFill>
                  <a:srgbClr val="6B7280"/>
                </a:solidFill>
                <a:effectLst/>
                <a:uFillTx/>
                <a:latin typeface="Segoe UI"/>
              </a:rPr>
              <a:t>Des offres d'emploi brutes à une plateforme de données fiable  •  Théo Mousnier</a:t>
            </a:r>
            <a:endParaRPr lang="fr-FR" sz="1000" b="0" u="none" strike="noStrike">
              <a:solidFill>
                <a:srgbClr val="000000"/>
              </a:solidFill>
              <a:effectLst/>
              <a:uFillTx/>
              <a:latin typeface="Arial"/>
            </a:endParaRPr>
          </a:p>
        </p:txBody>
      </p:sp>
      <p:sp>
        <p:nvSpPr>
          <p:cNvPr id="307" name="TextBox 6"/>
          <p:cNvSpPr/>
          <p:nvPr/>
        </p:nvSpPr>
        <p:spPr>
          <a:xfrm>
            <a:off x="10789920" y="6583680"/>
            <a:ext cx="1005480" cy="27396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000" b="0" u="none" strike="noStrike">
                <a:solidFill>
                  <a:srgbClr val="6B7280"/>
                </a:solidFill>
                <a:effectLst/>
                <a:uFillTx/>
                <a:latin typeface="Segoe UI"/>
              </a:rPr>
              <a:t>14 / 16</a:t>
            </a:r>
            <a:endParaRPr lang="fr-FR" sz="1000" b="0" u="none" strike="noStrike">
              <a:solidFill>
                <a:srgbClr val="000000"/>
              </a:solidFill>
              <a:effectLst/>
              <a:uFillTx/>
              <a:latin typeface="Arial"/>
            </a:endParaRPr>
          </a:p>
        </p:txBody>
      </p:sp>
      <p:sp>
        <p:nvSpPr>
          <p:cNvPr id="308" name="Rounded Rectangle 7"/>
          <p:cNvSpPr/>
          <p:nvPr/>
        </p:nvSpPr>
        <p:spPr>
          <a:xfrm>
            <a:off x="457200" y="1280160"/>
            <a:ext cx="1229400" cy="914040"/>
          </a:xfrm>
          <a:prstGeom prst="roundRect">
            <a:avLst>
              <a:gd name="adj" fmla="val 12000"/>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200" b="1" u="none" strike="noStrike">
                <a:solidFill>
                  <a:srgbClr val="FFFFFF"/>
                </a:solidFill>
                <a:effectLst/>
                <a:uFillTx/>
                <a:latin typeface="Segoe UI"/>
              </a:rPr>
              <a:t>France Travail</a:t>
            </a:r>
            <a:endParaRPr lang="fr-FR" sz="1200" b="0" u="none" strike="noStrike">
              <a:solidFill>
                <a:srgbClr val="FFFFFF"/>
              </a:solidFill>
              <a:effectLst/>
              <a:uFillTx/>
              <a:latin typeface="Arial"/>
            </a:endParaRPr>
          </a:p>
          <a:p>
            <a:pPr algn="ctr" defTabSz="457200">
              <a:lnSpc>
                <a:spcPct val="100000"/>
              </a:lnSpc>
            </a:pPr>
            <a:r>
              <a:rPr lang="en-US" sz="900" b="0" u="none" strike="noStrike">
                <a:solidFill>
                  <a:srgbClr val="FFFFFF"/>
                </a:solidFill>
                <a:effectLst/>
                <a:uFillTx/>
                <a:latin typeface="Segoe UI"/>
              </a:rPr>
              <a:t>les offres</a:t>
            </a:r>
            <a:endParaRPr lang="fr-FR" sz="900" b="0" u="none" strike="noStrike">
              <a:solidFill>
                <a:srgbClr val="FFFFFF"/>
              </a:solidFill>
              <a:effectLst/>
              <a:uFillTx/>
              <a:latin typeface="Arial"/>
            </a:endParaRPr>
          </a:p>
        </p:txBody>
      </p:sp>
      <p:sp>
        <p:nvSpPr>
          <p:cNvPr id="309" name="Rounded Rectangle 8"/>
          <p:cNvSpPr/>
          <p:nvPr/>
        </p:nvSpPr>
        <p:spPr>
          <a:xfrm>
            <a:off x="1888200" y="1280160"/>
            <a:ext cx="1229400" cy="914040"/>
          </a:xfrm>
          <a:prstGeom prst="roundRect">
            <a:avLst>
              <a:gd name="adj" fmla="val 12000"/>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200" b="1" u="none" strike="noStrike">
                <a:solidFill>
                  <a:srgbClr val="FFFFFF"/>
                </a:solidFill>
                <a:effectLst/>
                <a:uFillTx/>
                <a:latin typeface="Segoe UI"/>
              </a:rPr>
              <a:t>Collecteur</a:t>
            </a:r>
            <a:endParaRPr lang="fr-FR" sz="1200" b="0" u="none" strike="noStrike">
              <a:solidFill>
                <a:srgbClr val="FFFFFF"/>
              </a:solidFill>
              <a:effectLst/>
              <a:uFillTx/>
              <a:latin typeface="Arial"/>
            </a:endParaRPr>
          </a:p>
          <a:p>
            <a:pPr algn="ctr" defTabSz="457200">
              <a:lnSpc>
                <a:spcPct val="100000"/>
              </a:lnSpc>
            </a:pPr>
            <a:r>
              <a:rPr lang="en-US" sz="900" b="0" u="none" strike="noStrike">
                <a:solidFill>
                  <a:srgbClr val="FFFFFF"/>
                </a:solidFill>
                <a:effectLst/>
                <a:uFillTx/>
                <a:latin typeface="Segoe UI"/>
              </a:rPr>
              <a:t>toutes les 15 min</a:t>
            </a:r>
            <a:endParaRPr lang="fr-FR" sz="900" b="0" u="none" strike="noStrike">
              <a:solidFill>
                <a:srgbClr val="FFFFFF"/>
              </a:solidFill>
              <a:effectLst/>
              <a:uFillTx/>
              <a:latin typeface="Arial"/>
            </a:endParaRPr>
          </a:p>
        </p:txBody>
      </p:sp>
      <p:cxnSp>
        <p:nvCxnSpPr>
          <p:cNvPr id="310" name="Connector 9"/>
          <p:cNvCxnSpPr/>
          <p:nvPr/>
        </p:nvCxnSpPr>
        <p:spPr>
          <a:xfrm>
            <a:off x="1705320" y="1737360"/>
            <a:ext cx="164880" cy="360"/>
          </a:xfrm>
          <a:prstGeom prst="straightConnector1">
            <a:avLst/>
          </a:prstGeom>
          <a:ln>
            <a:solidFill>
              <a:srgbClr val="6B7280"/>
            </a:solidFill>
            <a:round/>
            <a:tailEnd len="med" type="triangle" w="med"/>
          </a:ln>
        </p:spPr>
      </p:cxnSp>
      <p:sp>
        <p:nvSpPr>
          <p:cNvPr id="311" name="Rounded Rectangle 10"/>
          <p:cNvSpPr/>
          <p:nvPr/>
        </p:nvSpPr>
        <p:spPr>
          <a:xfrm>
            <a:off x="3319200" y="1280160"/>
            <a:ext cx="1229400" cy="914040"/>
          </a:xfrm>
          <a:prstGeom prst="roundRect">
            <a:avLst>
              <a:gd name="adj" fmla="val 12000"/>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200" b="1" u="none" strike="noStrike">
                <a:solidFill>
                  <a:srgbClr val="FFFFFF"/>
                </a:solidFill>
                <a:effectLst/>
                <a:uFillTx/>
                <a:latin typeface="Segoe UI"/>
              </a:rPr>
              <a:t>Kafka</a:t>
            </a:r>
            <a:endParaRPr lang="fr-FR" sz="1200" b="0" u="none" strike="noStrike">
              <a:solidFill>
                <a:srgbClr val="FFFFFF"/>
              </a:solidFill>
              <a:effectLst/>
              <a:uFillTx/>
              <a:latin typeface="Arial"/>
            </a:endParaRPr>
          </a:p>
          <a:p>
            <a:pPr algn="ctr" defTabSz="457200">
              <a:lnSpc>
                <a:spcPct val="100000"/>
              </a:lnSpc>
            </a:pPr>
            <a:r>
              <a:rPr lang="en-US" sz="900" b="0" u="none" strike="noStrike">
                <a:solidFill>
                  <a:srgbClr val="FFFFFF"/>
                </a:solidFill>
                <a:effectLst/>
                <a:uFillTx/>
                <a:latin typeface="Segoe UI"/>
              </a:rPr>
              <a:t>file d'attente</a:t>
            </a:r>
            <a:endParaRPr lang="fr-FR" sz="900" b="0" u="none" strike="noStrike">
              <a:solidFill>
                <a:srgbClr val="FFFFFF"/>
              </a:solidFill>
              <a:effectLst/>
              <a:uFillTx/>
              <a:latin typeface="Arial"/>
            </a:endParaRPr>
          </a:p>
        </p:txBody>
      </p:sp>
      <p:cxnSp>
        <p:nvCxnSpPr>
          <p:cNvPr id="312" name="Connector 11"/>
          <p:cNvCxnSpPr/>
          <p:nvPr/>
        </p:nvCxnSpPr>
        <p:spPr>
          <a:xfrm>
            <a:off x="3136320" y="1737360"/>
            <a:ext cx="164880" cy="360"/>
          </a:xfrm>
          <a:prstGeom prst="straightConnector1">
            <a:avLst/>
          </a:prstGeom>
          <a:ln>
            <a:solidFill>
              <a:srgbClr val="6B7280"/>
            </a:solidFill>
            <a:round/>
            <a:tailEnd len="med" type="triangle" w="med"/>
          </a:ln>
        </p:spPr>
      </p:cxnSp>
      <p:sp>
        <p:nvSpPr>
          <p:cNvPr id="313" name="Rounded Rectangle 12"/>
          <p:cNvSpPr/>
          <p:nvPr/>
        </p:nvSpPr>
        <p:spPr>
          <a:xfrm>
            <a:off x="4750200" y="1280160"/>
            <a:ext cx="1229400" cy="914040"/>
          </a:xfrm>
          <a:prstGeom prst="roundRect">
            <a:avLst>
              <a:gd name="adj" fmla="val 12000"/>
            </a:avLst>
          </a:prstGeom>
          <a:solidFill>
            <a:srgbClr val="16A3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200" b="1" u="none" strike="noStrike">
                <a:solidFill>
                  <a:srgbClr val="FFFFFF"/>
                </a:solidFill>
                <a:effectLst/>
                <a:uFillTx/>
                <a:latin typeface="Segoe UI"/>
              </a:rPr>
              <a:t>Agrégateur</a:t>
            </a:r>
            <a:endParaRPr lang="fr-FR" sz="1200" b="0" u="none" strike="noStrike">
              <a:solidFill>
                <a:srgbClr val="FFFFFF"/>
              </a:solidFill>
              <a:effectLst/>
              <a:uFillTx/>
              <a:latin typeface="Arial"/>
            </a:endParaRPr>
          </a:p>
          <a:p>
            <a:pPr algn="ctr" defTabSz="457200">
              <a:lnSpc>
                <a:spcPct val="100000"/>
              </a:lnSpc>
            </a:pPr>
            <a:r>
              <a:rPr lang="en-US" sz="900" b="0" u="none" strike="noStrike">
                <a:solidFill>
                  <a:srgbClr val="FFFFFF"/>
                </a:solidFill>
                <a:effectLst/>
                <a:uFillTx/>
                <a:latin typeface="Segoe UI"/>
              </a:rPr>
              <a:t>+ communes</a:t>
            </a:r>
            <a:endParaRPr lang="fr-FR" sz="900" b="0" u="none" strike="noStrike">
              <a:solidFill>
                <a:srgbClr val="FFFFFF"/>
              </a:solidFill>
              <a:effectLst/>
              <a:uFillTx/>
              <a:latin typeface="Arial"/>
            </a:endParaRPr>
          </a:p>
        </p:txBody>
      </p:sp>
      <p:cxnSp>
        <p:nvCxnSpPr>
          <p:cNvPr id="314" name="Connector 13"/>
          <p:cNvCxnSpPr/>
          <p:nvPr/>
        </p:nvCxnSpPr>
        <p:spPr>
          <a:xfrm>
            <a:off x="4567320" y="1737360"/>
            <a:ext cx="164880" cy="360"/>
          </a:xfrm>
          <a:prstGeom prst="straightConnector1">
            <a:avLst/>
          </a:prstGeom>
          <a:ln>
            <a:solidFill>
              <a:srgbClr val="6B7280"/>
            </a:solidFill>
            <a:round/>
            <a:tailEnd len="med" type="triangle" w="med"/>
          </a:ln>
        </p:spPr>
      </p:cxnSp>
      <p:sp>
        <p:nvSpPr>
          <p:cNvPr id="315" name="Rounded Rectangle 14"/>
          <p:cNvSpPr/>
          <p:nvPr/>
        </p:nvSpPr>
        <p:spPr>
          <a:xfrm>
            <a:off x="6181200" y="1280160"/>
            <a:ext cx="1229400" cy="914040"/>
          </a:xfrm>
          <a:prstGeom prst="roundRect">
            <a:avLst>
              <a:gd name="adj" fmla="val 12000"/>
            </a:avLst>
          </a:prstGeom>
          <a:solidFill>
            <a:srgbClr val="EA58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200" b="1" u="none" strike="noStrike">
                <a:solidFill>
                  <a:srgbClr val="FFFFFF"/>
                </a:solidFill>
                <a:effectLst/>
                <a:uFillTx/>
                <a:latin typeface="Segoe UI"/>
              </a:rPr>
              <a:t>Data Lake</a:t>
            </a:r>
            <a:endParaRPr lang="fr-FR" sz="1200" b="0" u="none" strike="noStrike">
              <a:solidFill>
                <a:srgbClr val="FFFFFF"/>
              </a:solidFill>
              <a:effectLst/>
              <a:uFillTx/>
              <a:latin typeface="Arial"/>
            </a:endParaRPr>
          </a:p>
          <a:p>
            <a:pPr algn="ctr" defTabSz="457200">
              <a:lnSpc>
                <a:spcPct val="100000"/>
              </a:lnSpc>
            </a:pPr>
            <a:r>
              <a:rPr lang="en-US" sz="900" b="0" u="none" strike="noStrike">
                <a:solidFill>
                  <a:srgbClr val="FFFFFF"/>
                </a:solidFill>
                <a:effectLst/>
                <a:uFillTx/>
                <a:latin typeface="Segoe UI"/>
              </a:rPr>
              <a:t>archives</a:t>
            </a:r>
            <a:endParaRPr lang="fr-FR" sz="900" b="0" u="none" strike="noStrike">
              <a:solidFill>
                <a:srgbClr val="FFFFFF"/>
              </a:solidFill>
              <a:effectLst/>
              <a:uFillTx/>
              <a:latin typeface="Arial"/>
            </a:endParaRPr>
          </a:p>
        </p:txBody>
      </p:sp>
      <p:cxnSp>
        <p:nvCxnSpPr>
          <p:cNvPr id="316" name="Connector 15"/>
          <p:cNvCxnSpPr/>
          <p:nvPr/>
        </p:nvCxnSpPr>
        <p:spPr>
          <a:xfrm>
            <a:off x="5998320" y="1737360"/>
            <a:ext cx="164880" cy="360"/>
          </a:xfrm>
          <a:prstGeom prst="straightConnector1">
            <a:avLst/>
          </a:prstGeom>
          <a:ln>
            <a:solidFill>
              <a:srgbClr val="6B7280"/>
            </a:solidFill>
            <a:round/>
            <a:tailEnd len="med" type="triangle" w="med"/>
          </a:ln>
        </p:spPr>
      </p:cxnSp>
      <p:sp>
        <p:nvSpPr>
          <p:cNvPr id="317" name="Rounded Rectangle 16"/>
          <p:cNvSpPr/>
          <p:nvPr/>
        </p:nvSpPr>
        <p:spPr>
          <a:xfrm>
            <a:off x="7612560" y="1280160"/>
            <a:ext cx="1229400" cy="914040"/>
          </a:xfrm>
          <a:prstGeom prst="roundRect">
            <a:avLst>
              <a:gd name="adj" fmla="val 12000"/>
            </a:avLst>
          </a:prstGeom>
          <a:solidFill>
            <a:srgbClr val="DC262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200" b="1" u="none" strike="noStrike">
                <a:solidFill>
                  <a:srgbClr val="FFFFFF"/>
                </a:solidFill>
                <a:effectLst/>
                <a:uFillTx/>
                <a:latin typeface="Segoe UI"/>
              </a:rPr>
              <a:t>PySpark</a:t>
            </a:r>
            <a:endParaRPr lang="fr-FR" sz="1200" b="0" u="none" strike="noStrike">
              <a:solidFill>
                <a:srgbClr val="FFFFFF"/>
              </a:solidFill>
              <a:effectLst/>
              <a:uFillTx/>
              <a:latin typeface="Arial"/>
            </a:endParaRPr>
          </a:p>
          <a:p>
            <a:pPr algn="ctr" defTabSz="457200">
              <a:lnSpc>
                <a:spcPct val="100000"/>
              </a:lnSpc>
            </a:pPr>
            <a:r>
              <a:rPr lang="en-US" sz="900" b="0" u="none" strike="noStrike">
                <a:solidFill>
                  <a:srgbClr val="FFFFFF"/>
                </a:solidFill>
                <a:effectLst/>
                <a:uFillTx/>
                <a:latin typeface="Segoe UI"/>
              </a:rPr>
              <a:t>toutes les 30 min</a:t>
            </a:r>
            <a:endParaRPr lang="fr-FR" sz="900" b="0" u="none" strike="noStrike">
              <a:solidFill>
                <a:srgbClr val="FFFFFF"/>
              </a:solidFill>
              <a:effectLst/>
              <a:uFillTx/>
              <a:latin typeface="Arial"/>
            </a:endParaRPr>
          </a:p>
        </p:txBody>
      </p:sp>
      <p:cxnSp>
        <p:nvCxnSpPr>
          <p:cNvPr id="318" name="Connector 17"/>
          <p:cNvCxnSpPr/>
          <p:nvPr/>
        </p:nvCxnSpPr>
        <p:spPr>
          <a:xfrm>
            <a:off x="7429320" y="1737360"/>
            <a:ext cx="164880" cy="360"/>
          </a:xfrm>
          <a:prstGeom prst="straightConnector1">
            <a:avLst/>
          </a:prstGeom>
          <a:ln>
            <a:solidFill>
              <a:srgbClr val="6B7280"/>
            </a:solidFill>
            <a:round/>
            <a:tailEnd len="med" type="triangle" w="med"/>
          </a:ln>
        </p:spPr>
      </p:cxnSp>
      <p:sp>
        <p:nvSpPr>
          <p:cNvPr id="319" name="Rounded Rectangle 18"/>
          <p:cNvSpPr/>
          <p:nvPr/>
        </p:nvSpPr>
        <p:spPr>
          <a:xfrm>
            <a:off x="9043560" y="1280160"/>
            <a:ext cx="1229400" cy="914040"/>
          </a:xfrm>
          <a:prstGeom prst="roundRect">
            <a:avLst>
              <a:gd name="adj" fmla="val 12000"/>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200" b="1" u="none" strike="noStrike">
                <a:solidFill>
                  <a:srgbClr val="FFFFFF"/>
                </a:solidFill>
                <a:effectLst/>
                <a:uFillTx/>
                <a:latin typeface="Segoe UI"/>
              </a:rPr>
              <a:t>PostgreSQL</a:t>
            </a:r>
            <a:endParaRPr lang="fr-FR" sz="1200" b="0" u="none" strike="noStrike">
              <a:solidFill>
                <a:srgbClr val="FFFFFF"/>
              </a:solidFill>
              <a:effectLst/>
              <a:uFillTx/>
              <a:latin typeface="Arial"/>
            </a:endParaRPr>
          </a:p>
          <a:p>
            <a:pPr algn="ctr" defTabSz="457200">
              <a:lnSpc>
                <a:spcPct val="100000"/>
              </a:lnSpc>
            </a:pPr>
            <a:r>
              <a:rPr lang="en-US" sz="900" b="0" u="none" strike="noStrike">
                <a:solidFill>
                  <a:srgbClr val="FFFFFF"/>
                </a:solidFill>
                <a:effectLst/>
                <a:uFillTx/>
                <a:latin typeface="Segoe UI"/>
              </a:rPr>
              <a:t>base de données</a:t>
            </a:r>
            <a:endParaRPr lang="fr-FR" sz="900" b="0" u="none" strike="noStrike">
              <a:solidFill>
                <a:srgbClr val="FFFFFF"/>
              </a:solidFill>
              <a:effectLst/>
              <a:uFillTx/>
              <a:latin typeface="Arial"/>
            </a:endParaRPr>
          </a:p>
        </p:txBody>
      </p:sp>
      <p:cxnSp>
        <p:nvCxnSpPr>
          <p:cNvPr id="320" name="Connector 19"/>
          <p:cNvCxnSpPr/>
          <p:nvPr/>
        </p:nvCxnSpPr>
        <p:spPr>
          <a:xfrm>
            <a:off x="8860320" y="1737360"/>
            <a:ext cx="164880" cy="360"/>
          </a:xfrm>
          <a:prstGeom prst="straightConnector1">
            <a:avLst/>
          </a:prstGeom>
          <a:ln>
            <a:solidFill>
              <a:srgbClr val="6B7280"/>
            </a:solidFill>
            <a:round/>
            <a:tailEnd len="med" type="triangle" w="med"/>
          </a:ln>
        </p:spPr>
      </p:cxnSp>
      <p:sp>
        <p:nvSpPr>
          <p:cNvPr id="321" name="Rounded Rectangle 20"/>
          <p:cNvSpPr/>
          <p:nvPr/>
        </p:nvSpPr>
        <p:spPr>
          <a:xfrm>
            <a:off x="10474560" y="1280160"/>
            <a:ext cx="1229400" cy="914040"/>
          </a:xfrm>
          <a:prstGeom prst="roundRect">
            <a:avLst>
              <a:gd name="adj" fmla="val 12000"/>
            </a:avLst>
          </a:prstGeom>
          <a:solidFill>
            <a:srgbClr val="16A3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200" b="1" u="none" strike="noStrike">
                <a:solidFill>
                  <a:srgbClr val="FFFFFF"/>
                </a:solidFill>
                <a:effectLst/>
                <a:uFillTx/>
                <a:latin typeface="Segoe UI"/>
              </a:rPr>
              <a:t>Dash / Metabase</a:t>
            </a:r>
            <a:endParaRPr lang="fr-FR" sz="1200" b="0" u="none" strike="noStrike">
              <a:solidFill>
                <a:srgbClr val="FFFFFF"/>
              </a:solidFill>
              <a:effectLst/>
              <a:uFillTx/>
              <a:latin typeface="Arial"/>
            </a:endParaRPr>
          </a:p>
          <a:p>
            <a:pPr algn="ctr" defTabSz="457200">
              <a:lnSpc>
                <a:spcPct val="100000"/>
              </a:lnSpc>
            </a:pPr>
            <a:r>
              <a:rPr lang="en-US" sz="900" b="0" u="none" strike="noStrike">
                <a:solidFill>
                  <a:srgbClr val="FFFFFF"/>
                </a:solidFill>
                <a:effectLst/>
                <a:uFillTx/>
                <a:latin typeface="Segoe UI"/>
              </a:rPr>
              <a:t>tableaux de bord</a:t>
            </a:r>
            <a:endParaRPr lang="fr-FR" sz="900" b="0" u="none" strike="noStrike">
              <a:solidFill>
                <a:srgbClr val="FFFFFF"/>
              </a:solidFill>
              <a:effectLst/>
              <a:uFillTx/>
              <a:latin typeface="Arial"/>
            </a:endParaRPr>
          </a:p>
        </p:txBody>
      </p:sp>
      <p:cxnSp>
        <p:nvCxnSpPr>
          <p:cNvPr id="322" name="Connector 21"/>
          <p:cNvCxnSpPr/>
          <p:nvPr/>
        </p:nvCxnSpPr>
        <p:spPr>
          <a:xfrm>
            <a:off x="10291320" y="1737360"/>
            <a:ext cx="164880" cy="360"/>
          </a:xfrm>
          <a:prstGeom prst="straightConnector1">
            <a:avLst/>
          </a:prstGeom>
          <a:ln>
            <a:solidFill>
              <a:srgbClr val="6B7280"/>
            </a:solidFill>
            <a:round/>
            <a:tailEnd len="med" type="triangle" w="med"/>
          </a:ln>
        </p:spPr>
      </p:cxnSp>
      <p:sp>
        <p:nvSpPr>
          <p:cNvPr id="323" name="Rounded Rectangle 22"/>
          <p:cNvSpPr/>
          <p:nvPr/>
        </p:nvSpPr>
        <p:spPr>
          <a:xfrm>
            <a:off x="457200" y="2514600"/>
            <a:ext cx="11246760" cy="731160"/>
          </a:xfrm>
          <a:prstGeom prst="roundRect">
            <a:avLst>
              <a:gd name="adj" fmla="val 15000"/>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400" b="1" u="none" strike="noStrike">
                <a:solidFill>
                  <a:srgbClr val="FFFFFF"/>
                </a:solidFill>
                <a:effectLst/>
                <a:uFillTx/>
                <a:latin typeface="Segoe UI"/>
              </a:rPr>
              <a:t>TP2 — construit et automatise toute la chaîne</a:t>
            </a:r>
            <a:endParaRPr lang="fr-FR" sz="1400" b="0" u="none" strike="noStrike">
              <a:solidFill>
                <a:srgbClr val="FFFFFF"/>
              </a:solidFill>
              <a:effectLst/>
              <a:uFillTx/>
              <a:latin typeface="Arial"/>
            </a:endParaRPr>
          </a:p>
          <a:p>
            <a:pPr algn="ctr" defTabSz="457200">
              <a:lnSpc>
                <a:spcPct val="100000"/>
              </a:lnSpc>
            </a:pPr>
            <a:r>
              <a:rPr lang="en-US" sz="1100" b="0" u="none" strike="noStrike">
                <a:solidFill>
                  <a:srgbClr val="FFFFFF"/>
                </a:solidFill>
                <a:effectLst/>
                <a:uFillTx/>
                <a:latin typeface="Segoe UI"/>
              </a:rPr>
              <a:t>collecte, transport, archives, nettoyage, chargement, affichage, surveillance</a:t>
            </a:r>
            <a:endParaRPr lang="fr-FR" sz="1100" b="0" u="none" strike="noStrike">
              <a:solidFill>
                <a:srgbClr val="FFFFFF"/>
              </a:solidFill>
              <a:effectLst/>
              <a:uFillTx/>
              <a:latin typeface="Arial"/>
            </a:endParaRPr>
          </a:p>
        </p:txBody>
      </p:sp>
      <p:sp>
        <p:nvSpPr>
          <p:cNvPr id="324" name="Rounded Rectangle 23"/>
          <p:cNvSpPr/>
          <p:nvPr/>
        </p:nvSpPr>
        <p:spPr>
          <a:xfrm>
            <a:off x="457200" y="3474720"/>
            <a:ext cx="2660400" cy="731160"/>
          </a:xfrm>
          <a:prstGeom prst="roundRect">
            <a:avLst>
              <a:gd name="adj" fmla="val 15000"/>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400" b="1" u="none" strike="noStrike">
                <a:solidFill>
                  <a:srgbClr val="FFFFFF"/>
                </a:solidFill>
                <a:effectLst/>
                <a:uFillTx/>
                <a:latin typeface="Segoe UI"/>
              </a:rPr>
              <a:t>TP1 — choisit les sources</a:t>
            </a:r>
            <a:endParaRPr lang="fr-FR" sz="1400" b="0" u="none" strike="noStrike">
              <a:solidFill>
                <a:srgbClr val="FFFFFF"/>
              </a:solidFill>
              <a:effectLst/>
              <a:uFillTx/>
              <a:latin typeface="Arial"/>
            </a:endParaRPr>
          </a:p>
          <a:p>
            <a:pPr algn="ctr" defTabSz="457200">
              <a:lnSpc>
                <a:spcPct val="100000"/>
              </a:lnSpc>
            </a:pPr>
            <a:r>
              <a:rPr lang="en-US" sz="1100" b="0" u="none" strike="noStrike">
                <a:solidFill>
                  <a:srgbClr val="FFFFFF"/>
                </a:solidFill>
                <a:effectLst/>
                <a:uFillTx/>
                <a:latin typeface="Segoe UI"/>
              </a:rPr>
              <a:t>et repère les problèmes</a:t>
            </a:r>
            <a:endParaRPr lang="fr-FR" sz="1100" b="0" u="none" strike="noStrike">
              <a:solidFill>
                <a:srgbClr val="FFFFFF"/>
              </a:solidFill>
              <a:effectLst/>
              <a:uFillTx/>
              <a:latin typeface="Arial"/>
            </a:endParaRPr>
          </a:p>
        </p:txBody>
      </p:sp>
      <p:sp>
        <p:nvSpPr>
          <p:cNvPr id="325" name="Rounded Rectangle 24"/>
          <p:cNvSpPr/>
          <p:nvPr/>
        </p:nvSpPr>
        <p:spPr>
          <a:xfrm>
            <a:off x="9043560" y="3474720"/>
            <a:ext cx="2660400" cy="731160"/>
          </a:xfrm>
          <a:prstGeom prst="roundRect">
            <a:avLst>
              <a:gd name="adj" fmla="val 15000"/>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400" b="1" u="none" strike="noStrike">
                <a:solidFill>
                  <a:srgbClr val="FFFFFF"/>
                </a:solidFill>
                <a:effectLst/>
                <a:uFillTx/>
                <a:latin typeface="Segoe UI"/>
              </a:rPr>
              <a:t>TP1 — conçoit l'armoire</a:t>
            </a:r>
            <a:endParaRPr lang="fr-FR" sz="1400" b="0" u="none" strike="noStrike">
              <a:solidFill>
                <a:srgbClr val="FFFFFF"/>
              </a:solidFill>
              <a:effectLst/>
              <a:uFillTx/>
              <a:latin typeface="Arial"/>
            </a:endParaRPr>
          </a:p>
          <a:p>
            <a:pPr algn="ctr" defTabSz="457200">
              <a:lnSpc>
                <a:spcPct val="100000"/>
              </a:lnSpc>
            </a:pPr>
            <a:r>
              <a:rPr lang="en-US" sz="1100" b="0" u="none" strike="noStrike">
                <a:solidFill>
                  <a:srgbClr val="FFFFFF"/>
                </a:solidFill>
                <a:effectLst/>
                <a:uFillTx/>
                <a:latin typeface="Segoe UI"/>
              </a:rPr>
              <a:t>où les offres sont rangées</a:t>
            </a:r>
            <a:endParaRPr lang="fr-FR" sz="1100" b="0" u="none" strike="noStrike">
              <a:solidFill>
                <a:srgbClr val="FFFFFF"/>
              </a:solidFill>
              <a:effectLst/>
              <a:uFillTx/>
              <a:latin typeface="Arial"/>
            </a:endParaRPr>
          </a:p>
        </p:txBody>
      </p:sp>
      <p:sp>
        <p:nvSpPr>
          <p:cNvPr id="326" name="Rounded Rectangle 25"/>
          <p:cNvSpPr/>
          <p:nvPr/>
        </p:nvSpPr>
        <p:spPr>
          <a:xfrm>
            <a:off x="7612560" y="4434840"/>
            <a:ext cx="4091760" cy="731160"/>
          </a:xfrm>
          <a:prstGeom prst="roundRect">
            <a:avLst>
              <a:gd name="adj" fmla="val 15000"/>
            </a:avLst>
          </a:prstGeom>
          <a:solidFill>
            <a:srgbClr val="EA58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400" b="1" u="none" strike="noStrike">
                <a:solidFill>
                  <a:srgbClr val="FFFFFF"/>
                </a:solidFill>
                <a:effectLst/>
                <a:uFillTx/>
                <a:latin typeface="Segoe UI"/>
              </a:rPr>
              <a:t>TP3 — contrôle la base et corrige</a:t>
            </a:r>
            <a:endParaRPr lang="fr-FR" sz="1400" b="0" u="none" strike="noStrike">
              <a:solidFill>
                <a:srgbClr val="FFFFFF"/>
              </a:solidFill>
              <a:effectLst/>
              <a:uFillTx/>
              <a:latin typeface="Arial"/>
            </a:endParaRPr>
          </a:p>
          <a:p>
            <a:pPr algn="ctr" defTabSz="457200">
              <a:lnSpc>
                <a:spcPct val="100000"/>
              </a:lnSpc>
            </a:pPr>
            <a:r>
              <a:rPr lang="en-US" sz="1100" b="0" u="none" strike="noStrike">
                <a:solidFill>
                  <a:srgbClr val="FFFFFF"/>
                </a:solidFill>
                <a:effectLst/>
                <a:uFillTx/>
                <a:latin typeface="Segoe UI"/>
              </a:rPr>
              <a:t>l'atelier de nettoyage à la source</a:t>
            </a:r>
            <a:endParaRPr lang="fr-FR" sz="1100" b="0" u="none" strike="noStrike">
              <a:solidFill>
                <a:srgbClr val="FFFFFF"/>
              </a:solidFill>
              <a:effectLst/>
              <a:uFillTx/>
              <a:latin typeface="Arial"/>
            </a:endParaRPr>
          </a:p>
        </p:txBody>
      </p:sp>
      <p:sp>
        <p:nvSpPr>
          <p:cNvPr id="327" name="Rounded Rectangle 26"/>
          <p:cNvSpPr/>
          <p:nvPr/>
        </p:nvSpPr>
        <p:spPr>
          <a:xfrm>
            <a:off x="548640" y="5440680"/>
            <a:ext cx="11063880" cy="868320"/>
          </a:xfrm>
          <a:prstGeom prst="roundRect">
            <a:avLst>
              <a:gd name="adj" fmla="val 12631"/>
            </a:avLst>
          </a:prstGeom>
          <a:solidFill>
            <a:srgbClr val="EFF6FF"/>
          </a:solidFill>
          <a:ln w="15875">
            <a:solidFill>
              <a:srgbClr val="EA580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600" b="1" u="none" strike="noStrike">
                <a:solidFill>
                  <a:srgbClr val="111827"/>
                </a:solidFill>
                <a:effectLst/>
                <a:uFillTx/>
                <a:latin typeface="Segoe UI"/>
              </a:rPr>
              <a:t>↺ Une boucle d'amélioration continue :</a:t>
            </a:r>
            <a:endParaRPr lang="fr-FR" sz="1600" b="0" u="none" strike="noStrike">
              <a:solidFill>
                <a:srgbClr val="000000"/>
              </a:solidFill>
              <a:effectLst/>
              <a:uFillTx/>
              <a:latin typeface="Arial"/>
            </a:endParaRPr>
          </a:p>
          <a:p>
            <a:pPr algn="ctr" defTabSz="457200">
              <a:lnSpc>
                <a:spcPct val="100000"/>
              </a:lnSpc>
            </a:pPr>
            <a:r>
              <a:rPr lang="en-US" sz="1300" b="0" u="none" strike="noStrike">
                <a:solidFill>
                  <a:srgbClr val="111827"/>
                </a:solidFill>
                <a:effectLst/>
                <a:uFillTx/>
                <a:latin typeface="Segoe UI"/>
              </a:rPr>
              <a:t>le TP3 améliore le TP2, qui s'appuie sur le TP1</a:t>
            </a:r>
            <a:endParaRPr lang="fr-FR"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Rectangle 1"/>
          <p:cNvSpPr/>
          <p:nvPr/>
        </p:nvSpPr>
        <p:spPr>
          <a:xfrm>
            <a:off x="0" y="0"/>
            <a:ext cx="12191400" cy="959760"/>
          </a:xfrm>
          <a:prstGeom prst="rect">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29" name="TextBox 2"/>
          <p:cNvSpPr/>
          <p:nvPr/>
        </p:nvSpPr>
        <p:spPr>
          <a:xfrm>
            <a:off x="457200" y="164520"/>
            <a:ext cx="8960760" cy="68544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2800" b="1" u="none" strike="noStrike">
                <a:solidFill>
                  <a:srgbClr val="FFFFFF"/>
                </a:solidFill>
                <a:effectLst/>
                <a:uFillTx/>
                <a:latin typeface="Segoe UI"/>
              </a:rPr>
              <a:t>Le résultat : une application pour explorer les offres</a:t>
            </a:r>
            <a:endParaRPr lang="fr-FR" sz="2800" b="0" u="none" strike="noStrike">
              <a:solidFill>
                <a:srgbClr val="000000"/>
              </a:solidFill>
              <a:effectLst/>
              <a:uFillTx/>
              <a:latin typeface="Arial"/>
            </a:endParaRPr>
          </a:p>
        </p:txBody>
      </p:sp>
      <p:sp>
        <p:nvSpPr>
          <p:cNvPr id="330" name="TextBox 3"/>
          <p:cNvSpPr/>
          <p:nvPr/>
        </p:nvSpPr>
        <p:spPr>
          <a:xfrm>
            <a:off x="8961120" y="274320"/>
            <a:ext cx="2925720" cy="45684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300" b="0" u="none" strike="noStrike">
                <a:solidFill>
                  <a:srgbClr val="BFDBFE"/>
                </a:solidFill>
                <a:effectLst/>
                <a:uFillTx/>
                <a:latin typeface="Segoe UI"/>
              </a:rPr>
              <a:t>Synthèse</a:t>
            </a:r>
            <a:endParaRPr lang="fr-FR" sz="1300" b="0" u="none" strike="noStrike">
              <a:solidFill>
                <a:srgbClr val="000000"/>
              </a:solidFill>
              <a:effectLst/>
              <a:uFillTx/>
              <a:latin typeface="Arial"/>
            </a:endParaRPr>
          </a:p>
        </p:txBody>
      </p:sp>
      <p:sp>
        <p:nvSpPr>
          <p:cNvPr id="331" name="Rectangle 4"/>
          <p:cNvSpPr/>
          <p:nvPr/>
        </p:nvSpPr>
        <p:spPr>
          <a:xfrm>
            <a:off x="0" y="6583680"/>
            <a:ext cx="12191400" cy="273960"/>
          </a:xfrm>
          <a:prstGeom prst="rect">
            <a:avLst/>
          </a:prstGeom>
          <a:solidFill>
            <a:srgbClr val="EFF6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32" name="TextBox 5"/>
          <p:cNvSpPr/>
          <p:nvPr/>
        </p:nvSpPr>
        <p:spPr>
          <a:xfrm>
            <a:off x="457200" y="6583680"/>
            <a:ext cx="8229240" cy="27396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000" b="0" u="none" strike="noStrike">
                <a:solidFill>
                  <a:srgbClr val="6B7280"/>
                </a:solidFill>
                <a:effectLst/>
                <a:uFillTx/>
                <a:latin typeface="Segoe UI"/>
              </a:rPr>
              <a:t>Des offres d'emploi brutes à une plateforme de données fiable  •  Théo Mousnier</a:t>
            </a:r>
            <a:endParaRPr lang="fr-FR" sz="1000" b="0" u="none" strike="noStrike">
              <a:solidFill>
                <a:srgbClr val="000000"/>
              </a:solidFill>
              <a:effectLst/>
              <a:uFillTx/>
              <a:latin typeface="Arial"/>
            </a:endParaRPr>
          </a:p>
        </p:txBody>
      </p:sp>
      <p:sp>
        <p:nvSpPr>
          <p:cNvPr id="333" name="TextBox 6"/>
          <p:cNvSpPr/>
          <p:nvPr/>
        </p:nvSpPr>
        <p:spPr>
          <a:xfrm>
            <a:off x="10789920" y="6583680"/>
            <a:ext cx="1005480" cy="27396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000" b="0" u="none" strike="noStrike">
                <a:solidFill>
                  <a:srgbClr val="6B7280"/>
                </a:solidFill>
                <a:effectLst/>
                <a:uFillTx/>
                <a:latin typeface="Segoe UI"/>
              </a:rPr>
              <a:t>15 / 16</a:t>
            </a:r>
            <a:endParaRPr lang="fr-FR" sz="1000" b="0" u="none" strike="noStrike">
              <a:solidFill>
                <a:srgbClr val="000000"/>
              </a:solidFill>
              <a:effectLst/>
              <a:uFillTx/>
              <a:latin typeface="Arial"/>
            </a:endParaRPr>
          </a:p>
        </p:txBody>
      </p:sp>
      <p:pic>
        <p:nvPicPr>
          <p:cNvPr id="334" name="Picture 7" descr="dash.png"/>
          <p:cNvPicPr/>
          <p:nvPr/>
        </p:nvPicPr>
        <p:blipFill>
          <a:blip r:embed="rId1"/>
          <a:stretch/>
        </p:blipFill>
        <p:spPr>
          <a:xfrm>
            <a:off x="365760" y="1188720"/>
            <a:ext cx="5486040" cy="3657240"/>
          </a:xfrm>
          <a:prstGeom prst="rect">
            <a:avLst/>
          </a:prstGeom>
          <a:noFill/>
          <a:ln w="0">
            <a:noFill/>
          </a:ln>
        </p:spPr>
      </p:pic>
      <p:pic>
        <p:nvPicPr>
          <p:cNvPr id="335" name="Picture 8" descr="modal2.png"/>
          <p:cNvPicPr/>
          <p:nvPr/>
        </p:nvPicPr>
        <p:blipFill>
          <a:blip r:embed="rId2"/>
          <a:stretch/>
        </p:blipFill>
        <p:spPr>
          <a:xfrm>
            <a:off x="6126480" y="1188720"/>
            <a:ext cx="5668920" cy="3590280"/>
          </a:xfrm>
          <a:prstGeom prst="rect">
            <a:avLst/>
          </a:prstGeom>
          <a:noFill/>
          <a:ln w="0">
            <a:noFill/>
          </a:ln>
        </p:spPr>
      </p:pic>
      <p:sp>
        <p:nvSpPr>
          <p:cNvPr id="336" name="Rounded Rectangle 9"/>
          <p:cNvSpPr/>
          <p:nvPr/>
        </p:nvSpPr>
        <p:spPr>
          <a:xfrm>
            <a:off x="365760" y="5029200"/>
            <a:ext cx="2697120" cy="1416960"/>
          </a:xfrm>
          <a:prstGeom prst="roundRect">
            <a:avLst>
              <a:gd name="adj" fmla="val 7741"/>
            </a:avLst>
          </a:prstGeom>
          <a:solidFill>
            <a:srgbClr val="FFFFFF"/>
          </a:solidFill>
          <a:ln w="15875">
            <a:solidFill>
              <a:srgbClr val="D1D5D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37" name="TextBox 10"/>
          <p:cNvSpPr/>
          <p:nvPr/>
        </p:nvSpPr>
        <p:spPr>
          <a:xfrm>
            <a:off x="365760" y="5166360"/>
            <a:ext cx="2697120" cy="731160"/>
          </a:xfrm>
          <a:prstGeom prst="rect">
            <a:avLst/>
          </a:prstGeom>
          <a:noFill/>
          <a:ln w="0">
            <a:noFill/>
          </a:ln>
        </p:spPr>
        <p:style>
          <a:lnRef idx="0"/>
          <a:fillRef idx="0"/>
          <a:effectRef idx="0"/>
          <a:fontRef idx="minor"/>
        </p:style>
        <p:txBody>
          <a:bodyPr lIns="45720" tIns="45000" rIns="45720" bIns="45000" anchor="ctr">
            <a:spAutoFit/>
          </a:bodyPr>
          <a:p>
            <a:pPr algn="ctr" defTabSz="457200">
              <a:lnSpc>
                <a:spcPct val="100000"/>
              </a:lnSpc>
            </a:pPr>
            <a:r>
              <a:rPr lang="en-US" sz="2800" b="1" u="none" strike="noStrike">
                <a:solidFill>
                  <a:srgbClr val="16A34A"/>
                </a:solidFill>
                <a:effectLst/>
                <a:uFillTx/>
                <a:latin typeface="Segoe UI"/>
              </a:rPr>
              <a:t>&lt; 1 s</a:t>
            </a:r>
            <a:endParaRPr lang="fr-FR" sz="2800" b="0" u="none" strike="noStrike">
              <a:solidFill>
                <a:srgbClr val="000000"/>
              </a:solidFill>
              <a:effectLst/>
              <a:uFillTx/>
              <a:latin typeface="Arial"/>
            </a:endParaRPr>
          </a:p>
        </p:txBody>
      </p:sp>
      <p:sp>
        <p:nvSpPr>
          <p:cNvPr id="338" name="TextBox 11"/>
          <p:cNvSpPr/>
          <p:nvPr/>
        </p:nvSpPr>
        <p:spPr>
          <a:xfrm>
            <a:off x="457200" y="5897880"/>
            <a:ext cx="2514240" cy="50256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400" b="0" u="none" strike="noStrike">
                <a:solidFill>
                  <a:srgbClr val="6B7280"/>
                </a:solidFill>
                <a:effectLst/>
                <a:uFillTx/>
                <a:latin typeface="Segoe UI"/>
              </a:rPr>
              <a:t>pour mettre à jour l'affichage après un filtre</a:t>
            </a:r>
            <a:endParaRPr lang="fr-FR" sz="1400" b="0" u="none" strike="noStrike">
              <a:solidFill>
                <a:srgbClr val="000000"/>
              </a:solidFill>
              <a:effectLst/>
              <a:uFillTx/>
              <a:latin typeface="Arial"/>
            </a:endParaRPr>
          </a:p>
        </p:txBody>
      </p:sp>
      <p:sp>
        <p:nvSpPr>
          <p:cNvPr id="339" name="Rounded Rectangle 12"/>
          <p:cNvSpPr/>
          <p:nvPr/>
        </p:nvSpPr>
        <p:spPr>
          <a:xfrm>
            <a:off x="3246120" y="5029200"/>
            <a:ext cx="2697120" cy="1416960"/>
          </a:xfrm>
          <a:prstGeom prst="roundRect">
            <a:avLst>
              <a:gd name="adj" fmla="val 7741"/>
            </a:avLst>
          </a:prstGeom>
          <a:solidFill>
            <a:srgbClr val="FFFFFF"/>
          </a:solidFill>
          <a:ln w="15875">
            <a:solidFill>
              <a:srgbClr val="D1D5D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40" name="TextBox 13"/>
          <p:cNvSpPr/>
          <p:nvPr/>
        </p:nvSpPr>
        <p:spPr>
          <a:xfrm>
            <a:off x="3246120" y="5166360"/>
            <a:ext cx="2697120" cy="731160"/>
          </a:xfrm>
          <a:prstGeom prst="rect">
            <a:avLst/>
          </a:prstGeom>
          <a:noFill/>
          <a:ln w="0">
            <a:noFill/>
          </a:ln>
        </p:spPr>
        <p:style>
          <a:lnRef idx="0"/>
          <a:fillRef idx="0"/>
          <a:effectRef idx="0"/>
          <a:fontRef idx="minor"/>
        </p:style>
        <p:txBody>
          <a:bodyPr lIns="45720" tIns="45000" rIns="45720" bIns="45000" anchor="ctr">
            <a:spAutoFit/>
          </a:bodyPr>
          <a:p>
            <a:pPr algn="ctr" defTabSz="457200">
              <a:lnSpc>
                <a:spcPct val="100000"/>
              </a:lnSpc>
            </a:pPr>
            <a:r>
              <a:rPr lang="en-US" sz="2800" b="1" u="none" strike="noStrike">
                <a:solidFill>
                  <a:srgbClr val="2563EB"/>
                </a:solidFill>
                <a:effectLst/>
                <a:uFillTx/>
                <a:latin typeface="Segoe UI"/>
              </a:rPr>
              <a:t>1 clic</a:t>
            </a:r>
            <a:endParaRPr lang="fr-FR" sz="2800" b="0" u="none" strike="noStrike">
              <a:solidFill>
                <a:srgbClr val="000000"/>
              </a:solidFill>
              <a:effectLst/>
              <a:uFillTx/>
              <a:latin typeface="Arial"/>
            </a:endParaRPr>
          </a:p>
        </p:txBody>
      </p:sp>
      <p:sp>
        <p:nvSpPr>
          <p:cNvPr id="341" name="TextBox 14"/>
          <p:cNvSpPr/>
          <p:nvPr/>
        </p:nvSpPr>
        <p:spPr>
          <a:xfrm>
            <a:off x="3337560" y="5897880"/>
            <a:ext cx="2514240" cy="50256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400" b="0" u="none" strike="noStrike">
                <a:solidFill>
                  <a:srgbClr val="6B7280"/>
                </a:solidFill>
                <a:effectLst/>
                <a:uFillTx/>
                <a:latin typeface="Segoe UI"/>
              </a:rPr>
              <a:t>pour ouvrir la fiche complète d'une offre</a:t>
            </a:r>
            <a:endParaRPr lang="fr-FR" sz="1400" b="0" u="none" strike="noStrike">
              <a:solidFill>
                <a:srgbClr val="000000"/>
              </a:solidFill>
              <a:effectLst/>
              <a:uFillTx/>
              <a:latin typeface="Arial"/>
            </a:endParaRPr>
          </a:p>
        </p:txBody>
      </p:sp>
      <p:sp>
        <p:nvSpPr>
          <p:cNvPr id="342" name="Rounded Rectangle 15"/>
          <p:cNvSpPr/>
          <p:nvPr/>
        </p:nvSpPr>
        <p:spPr>
          <a:xfrm>
            <a:off x="6126480" y="5029200"/>
            <a:ext cx="2697120" cy="1416960"/>
          </a:xfrm>
          <a:prstGeom prst="roundRect">
            <a:avLst>
              <a:gd name="adj" fmla="val 7741"/>
            </a:avLst>
          </a:prstGeom>
          <a:solidFill>
            <a:srgbClr val="FFFFFF"/>
          </a:solidFill>
          <a:ln w="15875">
            <a:solidFill>
              <a:srgbClr val="D1D5D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43" name="TextBox 16"/>
          <p:cNvSpPr/>
          <p:nvPr/>
        </p:nvSpPr>
        <p:spPr>
          <a:xfrm>
            <a:off x="6126480" y="5166360"/>
            <a:ext cx="2697120" cy="731160"/>
          </a:xfrm>
          <a:prstGeom prst="rect">
            <a:avLst/>
          </a:prstGeom>
          <a:noFill/>
          <a:ln w="0">
            <a:noFill/>
          </a:ln>
        </p:spPr>
        <p:style>
          <a:lnRef idx="0"/>
          <a:fillRef idx="0"/>
          <a:effectRef idx="0"/>
          <a:fontRef idx="minor"/>
        </p:style>
        <p:txBody>
          <a:bodyPr lIns="45720" tIns="45000" rIns="45720" bIns="45000" anchor="ctr">
            <a:spAutoFit/>
          </a:bodyPr>
          <a:p>
            <a:pPr algn="ctr" defTabSz="457200">
              <a:lnSpc>
                <a:spcPct val="100000"/>
              </a:lnSpc>
            </a:pPr>
            <a:r>
              <a:rPr lang="en-US" sz="2800" b="1" u="none" strike="noStrike">
                <a:solidFill>
                  <a:srgbClr val="1E3A8A"/>
                </a:solidFill>
                <a:effectLst/>
                <a:uFillTx/>
                <a:latin typeface="Segoe UI"/>
              </a:rPr>
              <a:t>Tous écrans</a:t>
            </a:r>
            <a:endParaRPr lang="fr-FR" sz="2800" b="0" u="none" strike="noStrike">
              <a:solidFill>
                <a:srgbClr val="000000"/>
              </a:solidFill>
              <a:effectLst/>
              <a:uFillTx/>
              <a:latin typeface="Arial"/>
            </a:endParaRPr>
          </a:p>
        </p:txBody>
      </p:sp>
      <p:sp>
        <p:nvSpPr>
          <p:cNvPr id="344" name="TextBox 17"/>
          <p:cNvSpPr/>
          <p:nvPr/>
        </p:nvSpPr>
        <p:spPr>
          <a:xfrm>
            <a:off x="6217920" y="5897880"/>
            <a:ext cx="2514240" cy="50256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400" b="0" u="none" strike="noStrike">
                <a:solidFill>
                  <a:srgbClr val="6B7280"/>
                </a:solidFill>
                <a:effectLst/>
                <a:uFillTx/>
                <a:latin typeface="Segoe UI"/>
              </a:rPr>
              <a:t>téléphone, tablette et ordinateur</a:t>
            </a:r>
            <a:endParaRPr lang="fr-FR" sz="1400" b="0" u="none" strike="noStrike">
              <a:solidFill>
                <a:srgbClr val="000000"/>
              </a:solidFill>
              <a:effectLst/>
              <a:uFillTx/>
              <a:latin typeface="Arial"/>
            </a:endParaRPr>
          </a:p>
        </p:txBody>
      </p:sp>
      <p:sp>
        <p:nvSpPr>
          <p:cNvPr id="345" name="Rounded Rectangle 18"/>
          <p:cNvSpPr/>
          <p:nvPr/>
        </p:nvSpPr>
        <p:spPr>
          <a:xfrm>
            <a:off x="9006840" y="5029200"/>
            <a:ext cx="2697120" cy="1416960"/>
          </a:xfrm>
          <a:prstGeom prst="roundRect">
            <a:avLst>
              <a:gd name="adj" fmla="val 7741"/>
            </a:avLst>
          </a:prstGeom>
          <a:solidFill>
            <a:srgbClr val="FFFFFF"/>
          </a:solidFill>
          <a:ln w="15875">
            <a:solidFill>
              <a:srgbClr val="D1D5D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46" name="TextBox 19"/>
          <p:cNvSpPr/>
          <p:nvPr/>
        </p:nvSpPr>
        <p:spPr>
          <a:xfrm>
            <a:off x="9006840" y="5166360"/>
            <a:ext cx="2697120" cy="731160"/>
          </a:xfrm>
          <a:prstGeom prst="rect">
            <a:avLst/>
          </a:prstGeom>
          <a:noFill/>
          <a:ln w="0">
            <a:noFill/>
          </a:ln>
        </p:spPr>
        <p:style>
          <a:lnRef idx="0"/>
          <a:fillRef idx="0"/>
          <a:effectRef idx="0"/>
          <a:fontRef idx="minor"/>
        </p:style>
        <p:txBody>
          <a:bodyPr lIns="45720" tIns="45000" rIns="45720" bIns="45000" anchor="ctr">
            <a:spAutoFit/>
          </a:bodyPr>
          <a:p>
            <a:pPr algn="ctr" defTabSz="457200">
              <a:lnSpc>
                <a:spcPct val="100000"/>
              </a:lnSpc>
            </a:pPr>
            <a:r>
              <a:rPr lang="en-US" sz="2800" b="1" u="none" strike="noStrike">
                <a:solidFill>
                  <a:srgbClr val="EA580C"/>
                </a:solidFill>
                <a:effectLst/>
                <a:uFillTx/>
                <a:latin typeface="Segoe UI"/>
              </a:rPr>
              <a:t>60 s</a:t>
            </a:r>
            <a:endParaRPr lang="fr-FR" sz="2800" b="0" u="none" strike="noStrike">
              <a:solidFill>
                <a:srgbClr val="000000"/>
              </a:solidFill>
              <a:effectLst/>
              <a:uFillTx/>
              <a:latin typeface="Arial"/>
            </a:endParaRPr>
          </a:p>
        </p:txBody>
      </p:sp>
      <p:sp>
        <p:nvSpPr>
          <p:cNvPr id="347" name="TextBox 20"/>
          <p:cNvSpPr/>
          <p:nvPr/>
        </p:nvSpPr>
        <p:spPr>
          <a:xfrm>
            <a:off x="9098280" y="5897880"/>
            <a:ext cx="2514240" cy="50256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1400" b="0" u="none" strike="noStrike">
                <a:solidFill>
                  <a:srgbClr val="6B7280"/>
                </a:solidFill>
                <a:effectLst/>
                <a:uFillTx/>
                <a:latin typeface="Segoe UI"/>
              </a:rPr>
              <a:t>les nouvelles offres apparaissent seules</a:t>
            </a:r>
            <a:endParaRPr lang="fr-FR"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Rectangle 1"/>
          <p:cNvSpPr/>
          <p:nvPr/>
        </p:nvSpPr>
        <p:spPr>
          <a:xfrm>
            <a:off x="0" y="0"/>
            <a:ext cx="12191400" cy="959760"/>
          </a:xfrm>
          <a:prstGeom prst="rect">
            <a:avLst/>
          </a:prstGeom>
          <a:solidFill>
            <a:srgbClr val="1E3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49" name="TextBox 2"/>
          <p:cNvSpPr/>
          <p:nvPr/>
        </p:nvSpPr>
        <p:spPr>
          <a:xfrm>
            <a:off x="457200" y="164520"/>
            <a:ext cx="8960760" cy="68544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2800" b="1" u="none" strike="noStrike">
                <a:solidFill>
                  <a:srgbClr val="FFFFFF"/>
                </a:solidFill>
                <a:effectLst/>
                <a:uFillTx/>
                <a:latin typeface="Segoe UI"/>
              </a:rPr>
              <a:t>Bilan</a:t>
            </a:r>
            <a:endParaRPr lang="fr-FR" sz="2800" b="0" u="none" strike="noStrike">
              <a:solidFill>
                <a:srgbClr val="000000"/>
              </a:solidFill>
              <a:effectLst/>
              <a:uFillTx/>
              <a:latin typeface="Arial"/>
            </a:endParaRPr>
          </a:p>
        </p:txBody>
      </p:sp>
      <p:sp>
        <p:nvSpPr>
          <p:cNvPr id="350" name="TextBox 3"/>
          <p:cNvSpPr/>
          <p:nvPr/>
        </p:nvSpPr>
        <p:spPr>
          <a:xfrm>
            <a:off x="8961120" y="274320"/>
            <a:ext cx="2925720" cy="45684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300" b="0" u="none" strike="noStrike">
                <a:solidFill>
                  <a:srgbClr val="BFDBFE"/>
                </a:solidFill>
                <a:effectLst/>
                <a:uFillTx/>
                <a:latin typeface="Segoe UI"/>
              </a:rPr>
              <a:t>Conclusion</a:t>
            </a:r>
            <a:endParaRPr lang="fr-FR" sz="1300" b="0" u="none" strike="noStrike">
              <a:solidFill>
                <a:srgbClr val="000000"/>
              </a:solidFill>
              <a:effectLst/>
              <a:uFillTx/>
              <a:latin typeface="Arial"/>
            </a:endParaRPr>
          </a:p>
        </p:txBody>
      </p:sp>
      <p:sp>
        <p:nvSpPr>
          <p:cNvPr id="351" name="Rectangle 4"/>
          <p:cNvSpPr/>
          <p:nvPr/>
        </p:nvSpPr>
        <p:spPr>
          <a:xfrm>
            <a:off x="0" y="6583680"/>
            <a:ext cx="12191400" cy="273960"/>
          </a:xfrm>
          <a:prstGeom prst="rect">
            <a:avLst/>
          </a:prstGeom>
          <a:solidFill>
            <a:srgbClr val="EFF6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52" name="TextBox 5"/>
          <p:cNvSpPr/>
          <p:nvPr/>
        </p:nvSpPr>
        <p:spPr>
          <a:xfrm>
            <a:off x="457200" y="6583680"/>
            <a:ext cx="8229240" cy="273960"/>
          </a:xfrm>
          <a:prstGeom prst="rect">
            <a:avLst/>
          </a:prstGeom>
          <a:noFill/>
          <a:ln w="0">
            <a:noFill/>
          </a:ln>
        </p:spPr>
        <p:style>
          <a:lnRef idx="0"/>
          <a:fillRef idx="0"/>
          <a:effectRef idx="0"/>
          <a:fontRef idx="minor"/>
        </p:style>
        <p:txBody>
          <a:bodyPr lIns="45720" tIns="45000" rIns="45720" bIns="45000" anchor="ctr">
            <a:spAutoFit/>
          </a:bodyPr>
          <a:p>
            <a:pPr defTabSz="457200">
              <a:lnSpc>
                <a:spcPct val="100000"/>
              </a:lnSpc>
            </a:pPr>
            <a:r>
              <a:rPr lang="en-US" sz="1000" b="0" u="none" strike="noStrike">
                <a:solidFill>
                  <a:srgbClr val="6B7280"/>
                </a:solidFill>
                <a:effectLst/>
                <a:uFillTx/>
                <a:latin typeface="Segoe UI"/>
              </a:rPr>
              <a:t>Des offres d'emploi brutes à une plateforme de données fiable  •  Théo Mousnier</a:t>
            </a:r>
            <a:endParaRPr lang="fr-FR" sz="1000" b="0" u="none" strike="noStrike">
              <a:solidFill>
                <a:srgbClr val="000000"/>
              </a:solidFill>
              <a:effectLst/>
              <a:uFillTx/>
              <a:latin typeface="Arial"/>
            </a:endParaRPr>
          </a:p>
        </p:txBody>
      </p:sp>
      <p:sp>
        <p:nvSpPr>
          <p:cNvPr id="353" name="TextBox 6"/>
          <p:cNvSpPr/>
          <p:nvPr/>
        </p:nvSpPr>
        <p:spPr>
          <a:xfrm>
            <a:off x="10789920" y="6583680"/>
            <a:ext cx="1005480" cy="273960"/>
          </a:xfrm>
          <a:prstGeom prst="rect">
            <a:avLst/>
          </a:prstGeom>
          <a:noFill/>
          <a:ln w="0">
            <a:noFill/>
          </a:ln>
        </p:spPr>
        <p:style>
          <a:lnRef idx="0"/>
          <a:fillRef idx="0"/>
          <a:effectRef idx="0"/>
          <a:fontRef idx="minor"/>
        </p:style>
        <p:txBody>
          <a:bodyPr lIns="45720" tIns="45000" rIns="45720" bIns="45000" anchor="ctr">
            <a:spAutoFit/>
          </a:bodyPr>
          <a:p>
            <a:pPr algn="r" defTabSz="457200">
              <a:lnSpc>
                <a:spcPct val="100000"/>
              </a:lnSpc>
            </a:pPr>
            <a:r>
              <a:rPr lang="en-US" sz="1000" b="0" u="none" strike="noStrike">
                <a:solidFill>
                  <a:srgbClr val="6B7280"/>
                </a:solidFill>
                <a:effectLst/>
                <a:uFillTx/>
                <a:latin typeface="Segoe UI"/>
              </a:rPr>
              <a:t>16 / 16</a:t>
            </a:r>
            <a:endParaRPr lang="fr-FR" sz="1000" b="0" u="none" strike="noStrike">
              <a:solidFill>
                <a:srgbClr val="000000"/>
              </a:solidFill>
              <a:effectLst/>
              <a:uFillTx/>
              <a:latin typeface="Arial"/>
            </a:endParaRPr>
          </a:p>
        </p:txBody>
      </p:sp>
      <p:sp>
        <p:nvSpPr>
          <p:cNvPr id="354" name="Rounded Rectangle 7"/>
          <p:cNvSpPr/>
          <p:nvPr/>
        </p:nvSpPr>
        <p:spPr>
          <a:xfrm>
            <a:off x="548640" y="1280160"/>
            <a:ext cx="3565800" cy="731160"/>
          </a:xfrm>
          <a:prstGeom prst="roundRect">
            <a:avLst>
              <a:gd name="adj" fmla="val 15000"/>
            </a:avLst>
          </a:prstGeom>
          <a:solidFill>
            <a:srgbClr val="16A34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2000" b="1" u="none" strike="noStrike">
                <a:solidFill>
                  <a:srgbClr val="FFFFFF"/>
                </a:solidFill>
                <a:effectLst/>
                <a:uFillTx/>
                <a:latin typeface="Segoe UI"/>
              </a:rPr>
              <a:t>Ce qui fonctionne</a:t>
            </a:r>
            <a:endParaRPr lang="fr-FR" sz="2000" b="0" u="none" strike="noStrike">
              <a:solidFill>
                <a:srgbClr val="FFFFFF"/>
              </a:solidFill>
              <a:effectLst/>
              <a:uFillTx/>
              <a:latin typeface="Arial"/>
            </a:endParaRPr>
          </a:p>
        </p:txBody>
      </p:sp>
      <p:sp>
        <p:nvSpPr>
          <p:cNvPr id="355" name="TextBox 8"/>
          <p:cNvSpPr/>
          <p:nvPr/>
        </p:nvSpPr>
        <p:spPr>
          <a:xfrm>
            <a:off x="640080" y="2194560"/>
            <a:ext cx="347436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600" b="0" u="none" strike="noStrike">
                <a:solidFill>
                  <a:srgbClr val="111827"/>
                </a:solidFill>
                <a:effectLst/>
                <a:uFillTx/>
                <a:latin typeface="Segoe UI"/>
              </a:rPr>
              <a:t>•  Pipeline 100 % automatique</a:t>
            </a:r>
            <a:endParaRPr lang="fr-FR" sz="1600" b="0" u="none" strike="noStrike">
              <a:solidFill>
                <a:srgbClr val="000000"/>
              </a:solidFill>
              <a:effectLst/>
              <a:uFillTx/>
              <a:latin typeface="Arial"/>
            </a:endParaRPr>
          </a:p>
          <a:p>
            <a:pPr defTabSz="457200">
              <a:lnSpc>
                <a:spcPct val="100000"/>
              </a:lnSpc>
              <a:spcAft>
                <a:spcPts val="799"/>
              </a:spcAft>
            </a:pPr>
            <a:r>
              <a:rPr lang="en-US" sz="1600" b="0" u="none" strike="noStrike">
                <a:solidFill>
                  <a:srgbClr val="111827"/>
                </a:solidFill>
                <a:effectLst/>
                <a:uFillTx/>
                <a:latin typeface="Segoe UI"/>
              </a:rPr>
              <a:t>•  Près de 22 000 offres propres</a:t>
            </a:r>
            <a:endParaRPr lang="fr-FR" sz="1600" b="0" u="none" strike="noStrike">
              <a:solidFill>
                <a:srgbClr val="000000"/>
              </a:solidFill>
              <a:effectLst/>
              <a:uFillTx/>
              <a:latin typeface="Arial"/>
            </a:endParaRPr>
          </a:p>
          <a:p>
            <a:pPr defTabSz="457200">
              <a:lnSpc>
                <a:spcPct val="100000"/>
              </a:lnSpc>
              <a:spcAft>
                <a:spcPts val="799"/>
              </a:spcAft>
            </a:pPr>
            <a:r>
              <a:rPr lang="en-US" sz="1600" b="0" u="none" strike="noStrike">
                <a:solidFill>
                  <a:srgbClr val="111827"/>
                </a:solidFill>
                <a:effectLst/>
                <a:uFillTx/>
                <a:latin typeface="Segoe UI"/>
              </a:rPr>
              <a:t>•  Erreurs graves corrigées : 0 restante</a:t>
            </a:r>
            <a:endParaRPr lang="fr-FR" sz="1600" b="0" u="none" strike="noStrike">
              <a:solidFill>
                <a:srgbClr val="000000"/>
              </a:solidFill>
              <a:effectLst/>
              <a:uFillTx/>
              <a:latin typeface="Arial"/>
            </a:endParaRPr>
          </a:p>
          <a:p>
            <a:pPr defTabSz="457200">
              <a:lnSpc>
                <a:spcPct val="100000"/>
              </a:lnSpc>
              <a:spcAft>
                <a:spcPts val="799"/>
              </a:spcAft>
            </a:pPr>
            <a:r>
              <a:rPr lang="en-US" sz="1600" b="0" u="none" strike="noStrike">
                <a:solidFill>
                  <a:srgbClr val="111827"/>
                </a:solidFill>
                <a:effectLst/>
                <a:uFillTx/>
                <a:latin typeface="Segoe UI"/>
              </a:rPr>
              <a:t>•  Application rapide, sur tous les écrans</a:t>
            </a:r>
            <a:endParaRPr lang="fr-FR" sz="1600" b="0" u="none" strike="noStrike">
              <a:solidFill>
                <a:srgbClr val="000000"/>
              </a:solidFill>
              <a:effectLst/>
              <a:uFillTx/>
              <a:latin typeface="Arial"/>
            </a:endParaRPr>
          </a:p>
        </p:txBody>
      </p:sp>
      <p:sp>
        <p:nvSpPr>
          <p:cNvPr id="356" name="Rounded Rectangle 9"/>
          <p:cNvSpPr/>
          <p:nvPr/>
        </p:nvSpPr>
        <p:spPr>
          <a:xfrm>
            <a:off x="4343400" y="1280160"/>
            <a:ext cx="3565800" cy="731160"/>
          </a:xfrm>
          <a:prstGeom prst="roundRect">
            <a:avLst>
              <a:gd name="adj" fmla="val 15000"/>
            </a:avLst>
          </a:prstGeom>
          <a:solidFill>
            <a:srgbClr val="EA58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2000" b="1" u="none" strike="noStrike">
                <a:solidFill>
                  <a:srgbClr val="FFFFFF"/>
                </a:solidFill>
                <a:effectLst/>
                <a:uFillTx/>
                <a:latin typeface="Segoe UI"/>
              </a:rPr>
              <a:t>Les limites</a:t>
            </a:r>
            <a:endParaRPr lang="fr-FR" sz="2000" b="0" u="none" strike="noStrike">
              <a:solidFill>
                <a:srgbClr val="FFFFFF"/>
              </a:solidFill>
              <a:effectLst/>
              <a:uFillTx/>
              <a:latin typeface="Arial"/>
            </a:endParaRPr>
          </a:p>
        </p:txBody>
      </p:sp>
      <p:sp>
        <p:nvSpPr>
          <p:cNvPr id="357" name="TextBox 10"/>
          <p:cNvSpPr/>
          <p:nvPr/>
        </p:nvSpPr>
        <p:spPr>
          <a:xfrm>
            <a:off x="4434840" y="2194560"/>
            <a:ext cx="347436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600" b="0" u="none" strike="noStrike">
                <a:solidFill>
                  <a:srgbClr val="111827"/>
                </a:solidFill>
                <a:effectLst/>
                <a:uFillTx/>
                <a:latin typeface="Segoe UI"/>
              </a:rPr>
              <a:t>•  Un quart des offres sans salaire</a:t>
            </a:r>
            <a:endParaRPr lang="fr-FR" sz="1600" b="0" u="none" strike="noStrike">
              <a:solidFill>
                <a:srgbClr val="000000"/>
              </a:solidFill>
              <a:effectLst/>
              <a:uFillTx/>
              <a:latin typeface="Arial"/>
            </a:endParaRPr>
          </a:p>
          <a:p>
            <a:pPr defTabSz="457200">
              <a:lnSpc>
                <a:spcPct val="100000"/>
              </a:lnSpc>
              <a:spcAft>
                <a:spcPts val="799"/>
              </a:spcAft>
            </a:pPr>
            <a:r>
              <a:rPr lang="en-US" sz="1600" b="0" u="none" strike="noStrike">
                <a:solidFill>
                  <a:srgbClr val="111827"/>
                </a:solidFill>
                <a:effectLst/>
                <a:uFillTx/>
                <a:latin typeface="Segoe UI"/>
              </a:rPr>
              <a:t>•  Dépend de ce que publient les recruteurs</a:t>
            </a:r>
            <a:endParaRPr lang="fr-FR" sz="1600" b="0" u="none" strike="noStrike">
              <a:solidFill>
                <a:srgbClr val="000000"/>
              </a:solidFill>
              <a:effectLst/>
              <a:uFillTx/>
              <a:latin typeface="Arial"/>
            </a:endParaRPr>
          </a:p>
          <a:p>
            <a:pPr defTabSz="457200">
              <a:lnSpc>
                <a:spcPct val="100000"/>
              </a:lnSpc>
              <a:spcAft>
                <a:spcPts val="799"/>
              </a:spcAft>
            </a:pPr>
            <a:r>
              <a:rPr lang="en-US" sz="1600" b="0" u="none" strike="noStrike">
                <a:solidFill>
                  <a:srgbClr val="111827"/>
                </a:solidFill>
                <a:effectLst/>
                <a:uFillTx/>
                <a:latin typeface="Segoe UI"/>
              </a:rPr>
              <a:t>•  Salaire estimé quand il est donné à l'heure</a:t>
            </a:r>
            <a:endParaRPr lang="fr-FR" sz="1600" b="0" u="none" strike="noStrike">
              <a:solidFill>
                <a:srgbClr val="000000"/>
              </a:solidFill>
              <a:effectLst/>
              <a:uFillTx/>
              <a:latin typeface="Arial"/>
            </a:endParaRPr>
          </a:p>
        </p:txBody>
      </p:sp>
      <p:sp>
        <p:nvSpPr>
          <p:cNvPr id="358" name="Rounded Rectangle 11"/>
          <p:cNvSpPr/>
          <p:nvPr/>
        </p:nvSpPr>
        <p:spPr>
          <a:xfrm>
            <a:off x="8138160" y="1280160"/>
            <a:ext cx="3565800" cy="731160"/>
          </a:xfrm>
          <a:prstGeom prst="roundRect">
            <a:avLst>
              <a:gd name="adj" fmla="val 15000"/>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2000" b="1" u="none" strike="noStrike">
                <a:solidFill>
                  <a:srgbClr val="FFFFFF"/>
                </a:solidFill>
                <a:effectLst/>
                <a:uFillTx/>
                <a:latin typeface="Segoe UI"/>
              </a:rPr>
              <a:t>Pour aller plus loin</a:t>
            </a:r>
            <a:endParaRPr lang="fr-FR" sz="2000" b="0" u="none" strike="noStrike">
              <a:solidFill>
                <a:srgbClr val="FFFFFF"/>
              </a:solidFill>
              <a:effectLst/>
              <a:uFillTx/>
              <a:latin typeface="Arial"/>
            </a:endParaRPr>
          </a:p>
        </p:txBody>
      </p:sp>
      <p:sp>
        <p:nvSpPr>
          <p:cNvPr id="359" name="TextBox 12"/>
          <p:cNvSpPr/>
          <p:nvPr/>
        </p:nvSpPr>
        <p:spPr>
          <a:xfrm>
            <a:off x="8229600" y="2194560"/>
            <a:ext cx="347436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600" b="0" u="none" strike="noStrike">
                <a:solidFill>
                  <a:srgbClr val="111827"/>
                </a:solidFill>
                <a:effectLst/>
                <a:uFillTx/>
                <a:latin typeface="Segoe UI"/>
              </a:rPr>
              <a:t>•  Alertes automatiques en cas de panne</a:t>
            </a:r>
            <a:endParaRPr lang="fr-FR" sz="1600" b="0" u="none" strike="noStrike">
              <a:solidFill>
                <a:srgbClr val="000000"/>
              </a:solidFill>
              <a:effectLst/>
              <a:uFillTx/>
              <a:latin typeface="Arial"/>
            </a:endParaRPr>
          </a:p>
          <a:p>
            <a:pPr defTabSz="457200">
              <a:lnSpc>
                <a:spcPct val="100000"/>
              </a:lnSpc>
              <a:spcAft>
                <a:spcPts val="799"/>
              </a:spcAft>
            </a:pPr>
            <a:r>
              <a:rPr lang="en-US" sz="1600" b="0" u="none" strike="noStrike">
                <a:solidFill>
                  <a:srgbClr val="111827"/>
                </a:solidFill>
                <a:effectLst/>
                <a:uFillTx/>
                <a:latin typeface="Segoe UI"/>
              </a:rPr>
              <a:t>•  Historique et évolution dans le temps</a:t>
            </a:r>
            <a:endParaRPr lang="fr-FR" sz="1600" b="0" u="none" strike="noStrike">
              <a:solidFill>
                <a:srgbClr val="000000"/>
              </a:solidFill>
              <a:effectLst/>
              <a:uFillTx/>
              <a:latin typeface="Arial"/>
            </a:endParaRPr>
          </a:p>
          <a:p>
            <a:pPr defTabSz="457200">
              <a:lnSpc>
                <a:spcPct val="100000"/>
              </a:lnSpc>
              <a:spcAft>
                <a:spcPts val="799"/>
              </a:spcAft>
            </a:pPr>
            <a:r>
              <a:rPr lang="en-US" sz="1600" b="0" u="none" strike="noStrike">
                <a:solidFill>
                  <a:srgbClr val="111827"/>
                </a:solidFill>
                <a:effectLst/>
                <a:uFillTx/>
                <a:latin typeface="Segoe UI"/>
              </a:rPr>
              <a:t>•  Contrôles qualité lancés à chaque passage</a:t>
            </a:r>
            <a:endParaRPr lang="fr-FR" sz="1600" b="0" u="none" strike="noStrike">
              <a:solidFill>
                <a:srgbClr val="000000"/>
              </a:solidFill>
              <a:effectLst/>
              <a:uFillTx/>
              <a:latin typeface="Arial"/>
            </a:endParaRPr>
          </a:p>
        </p:txBody>
      </p:sp>
      <p:sp>
        <p:nvSpPr>
          <p:cNvPr id="360" name="TextBox 13"/>
          <p:cNvSpPr/>
          <p:nvPr/>
        </p:nvSpPr>
        <p:spPr>
          <a:xfrm>
            <a:off x="548640" y="5760720"/>
            <a:ext cx="11155320" cy="639720"/>
          </a:xfrm>
          <a:prstGeom prst="rect">
            <a:avLst/>
          </a:prstGeom>
          <a:noFill/>
          <a:ln w="0">
            <a:noFill/>
          </a:ln>
        </p:spPr>
        <p:style>
          <a:lnRef idx="0"/>
          <a:fillRef idx="0"/>
          <a:effectRef idx="0"/>
          <a:fontRef idx="minor"/>
        </p:style>
        <p:txBody>
          <a:bodyPr lIns="45720" tIns="45000" rIns="45720" bIns="45000" anchor="t">
            <a:spAutoFit/>
          </a:bodyPr>
          <a:p>
            <a:pPr algn="ctr" defTabSz="457200">
              <a:lnSpc>
                <a:spcPct val="100000"/>
              </a:lnSpc>
            </a:pPr>
            <a:r>
              <a:rPr lang="en-US" sz="2600" b="1" u="none" strike="noStrike">
                <a:solidFill>
                  <a:srgbClr val="1E3A8A"/>
                </a:solidFill>
                <a:effectLst/>
                <a:uFillTx/>
                <a:latin typeface="Segoe UI"/>
              </a:rPr>
              <a:t>Merci — Questions ?</a:t>
            </a:r>
            <a:endParaRPr lang="fr-FR" sz="2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itchFamily="0" charset="1"/>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128</TotalTime>
  <Application>LibreOffice/26.8.0.3$Windows_X86_64 LibreOffice_project/bce0998afefdbc355585ca324285661a2170ba77</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fr-FR</dc:language>
  <cp:lastModifiedBy/>
  <dcterms:modified xsi:type="dcterms:W3CDTF">2026-09-28T16:03:04Z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