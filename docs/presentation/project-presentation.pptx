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charts/colors3.xml" ContentType="application/vnd.ms-office.chartcolorstyle+xml"/>
  <Override PartName="/ppt/charts/style2.xml" ContentType="application/vnd.ms-office.chartstyle+xml"/>
  <Override PartName="/ppt/charts/chart1.xml" ContentType="application/vnd.openxmlformats-officedocument.drawingml.chart+xml"/>
  <Override PartName="/ppt/charts/chart2.xml" ContentType="application/vnd.openxmlformats-officedocument.drawingml.chart+xml"/>
  <Override PartName="/ppt/charts/style1.xml" ContentType="application/vnd.ms-office.chartstyle+xml"/>
  <Override PartName="/ppt/charts/chart3.xml" ContentType="application/vnd.openxmlformats-officedocument.drawingml.chart+xml"/>
  <Override PartName="/ppt/charts/colors1.xml" ContentType="application/vnd.ms-office.chartcolorstyle+xml"/>
  <Override PartName="/ppt/charts/colors2.xml" ContentType="application/vnd.ms-office.chartcolorstyle+xml"/>
  <Override PartName="/ppt/charts/style3.xml" ContentType="application/vnd.ms-office.chartstyle+xml"/>
  <Override PartName="/ppt/charts/chart4.xml" ContentType="application/vnd.openxmlformats-officedocument.drawingml.chart+xml"/>
  <Override PartName="/ppt/charts/colors5.xml" ContentType="application/vnd.ms-office.chartcolorstyle+xml"/>
  <Override PartName="/ppt/charts/style4.xml" ContentType="application/vnd.ms-office.chartstyle+xml"/>
  <Override PartName="/ppt/charts/style5.xml" ContentType="application/vnd.ms-office.chartstyle+xml"/>
  <Override PartName="/ppt/charts/colors4.xml" ContentType="application/vnd.ms-office.chartcolorstyle+xml"/>
  <Override PartName="/ppt/charts/chart5.xml" ContentType="application/vnd.openxmlformats-officedocument.drawingml.chart+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heme/theme1.xml" ContentType="application/vnd.openxmlformats-officedocument.theme+xml"/>
  <Override PartName="/ppt/theme/theme12.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_rels/chart2.xml.rels><?xml version="1.0" encoding="UTF-8"?>
<Relationships xmlns="http://schemas.openxmlformats.org/package/2006/relationships"><Relationship Id="rId1" Type="http://schemas.microsoft.com/office/2011/relationships/chartStyle" Target="style2.xml"/><Relationship Id="rId2" Type="http://schemas.microsoft.com/office/2011/relationships/chartColorStyle" Target="colors2.xml"/>
</Relationships>
</file>

<file path=ppt/charts/_rels/chart3.xml.rels><?xml version="1.0" encoding="UTF-8"?>
<Relationships xmlns="http://schemas.openxmlformats.org/package/2006/relationships"><Relationship Id="rId1" Type="http://schemas.microsoft.com/office/2011/relationships/chartStyle" Target="style3.xml"/><Relationship Id="rId2" Type="http://schemas.microsoft.com/office/2011/relationships/chartColorStyle" Target="colors3.xml"/>
</Relationships>
</file>

<file path=ppt/charts/_rels/chart4.xml.rels><?xml version="1.0" encoding="UTF-8"?>
<Relationships xmlns="http://schemas.openxmlformats.org/package/2006/relationships"><Relationship Id="rId1" Type="http://schemas.microsoft.com/office/2011/relationships/chartStyle" Target="style4.xml"/><Relationship Id="rId2" Type="http://schemas.microsoft.com/office/2011/relationships/chartColorStyle" Target="colors4.xml"/>
</Relationships>
</file>

<file path=ppt/charts/_rels/chart5.xml.rels><?xml version="1.0" encoding="UTF-8"?>
<Relationships xmlns="http://schemas.openxmlformats.org/package/2006/relationships"><Relationship Id="rId1" Type="http://schemas.microsoft.com/office/2011/relationships/chartStyle" Target="style5.xml"/><Relationship Id="rId2" Type="http://schemas.microsoft.com/office/2011/relationships/chartColorStyle" Target="colors5.xml"/>
</Relationships>
</file>

<file path=ppt/charts/_rels/chart6.xml.rels><?xml version="1.0" encoding="UTF-8"?>
<Relationships xmlns="http://schemas.openxmlformats.org/package/2006/relationships"><Relationship Id="rId1" Type="http://schemas.microsoft.com/office/2011/relationships/chartStyle" Target="style6.xml"/><Relationship Id="rId2" Type="http://schemas.microsoft.com/office/2011/relationships/chartColorStyle" Target="colors6.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1" u="none" strike="noStrike">
                <a:solidFill>
                  <a:srgbClr val="000000"/>
                </a:solidFill>
                <a:uFillTx/>
                <a:latin typeface="Calibri"/>
              </a:rPr>
              <a:t>Du brut au propre (dernier passage)</a:t>
            </a:r>
          </a:p>
        </c:rich>
      </c:tx>
      <c:overlay val="0"/>
      <c:spPr>
        <a:noFill/>
        <a:ln w="0">
          <a:noFill/>
        </a:ln>
      </c:spPr>
    </c:title>
    <c:autoTitleDeleted val="0"/>
    <c:plotArea>
      <c:barChart>
        <c:barDir val="col"/>
        <c:grouping val="clustered"/>
        <c:varyColors val="0"/>
        <c:ser>
          <c:idx val="0"/>
          <c:order val="0"/>
          <c:tx>
            <c:strRef>
              <c:f>label 0</c:f>
              <c:strCache>
                <c:ptCount val="1"/>
                <c:pt idx="0">
                  <c:v>Du brut au propre (dernier passage)</c:v>
                </c:pt>
              </c:strCache>
            </c:strRef>
          </c:tx>
          <c:spPr>
            <a:solidFill>
              <a:srgbClr val="2563EB"/>
            </a:solidFill>
            <a:ln w="0">
              <a:noFill/>
            </a:ln>
          </c:spPr>
          <c:invertIfNegative val="0"/>
          <c:dLbls>
            <c:numFmt formatCode="General" sourceLinked="0"/>
            <c:txPr>
              <a:bodyPr wrap="square"/>
              <a:lstStyle/>
              <a:p>
                <a:pPr>
                  <a:defRPr sz="1100" b="0" u="none" strike="noStrike">
                    <a:solidFill>
                      <a:srgbClr val="000000"/>
                    </a:solidFill>
                    <a:uFillTx/>
                    <a:latin typeface="Calibri"/>
                  </a:defRPr>
                </a:pPr>
              </a:p>
            </c:txPr>
            <c:dLblPos val="outEnd"/>
            <c:showLegendKey val="0"/>
            <c:showVal val="1"/>
            <c:showCatName val="0"/>
            <c:showSerName val="0"/>
            <c:showPercent val="0"/>
            <c:separator>; </c:separator>
            <c:extLst>
              <c:ext xmlns:c15="http://schemas.microsoft.com/office/drawing/2012/chart" uri="{CE6537A1-D6FC-4f65-9D91-7224C49458BB}">
                <c15:showLeaderLines val="1"/>
              </c:ext>
            </c:extLst>
          </c:dLbls>
          <c:cat>
            <c:strRef>
              <c:f>categories</c:f>
              <c:strCache>
                <c:ptCount val="4"/>
                <c:pt idx="0">
                  <c:v>Fiches reçues</c:v>
                </c:pt>
                <c:pt idx="1">
                  <c:v>Doublons retirés</c:v>
                </c:pt>
                <c:pt idx="2">
                  <c:v>Offres écartées</c:v>
                </c:pt>
                <c:pt idx="3">
                  <c:v>Offres propres</c:v>
                </c:pt>
              </c:strCache>
            </c:strRef>
          </c:cat>
          <c:val>
            <c:numRef>
              <c:f>0</c:f>
              <c:numCache>
                <c:formatCode>General</c:formatCode>
                <c:ptCount val="4"/>
                <c:pt idx="0">
                  <c:v>35802</c:v>
                </c:pt>
                <c:pt idx="1">
                  <c:v>13561</c:v>
                </c:pt>
                <c:pt idx="2">
                  <c:v>1004</c:v>
                </c:pt>
                <c:pt idx="3">
                  <c:v>21237</c:v>
                </c:pt>
              </c:numCache>
            </c:numRef>
          </c:val>
        </c:ser>
        <c:gapWidth val="60"/>
        <c:overlap val="0"/>
        <c:axId val="64751053"/>
        <c:axId val="14510476"/>
      </c:barChart>
      <c:catAx>
        <c:axId val="64751053"/>
        <c:scaling>
          <c:orientation val="minMax"/>
        </c:scaling>
        <c:delete val="0"/>
        <c:axPos val="b"/>
        <c:numFmt formatCode="[$-40C]dd/mm/yyyy" sourceLinked="1"/>
        <c:majorTickMark val="out"/>
        <c:minorTickMark val="none"/>
        <c:tickLblPos val="nextTo"/>
        <c:spPr>
          <a:ln w="9360">
            <a:solidFill>
              <a:srgbClr val="878787"/>
            </a:solidFill>
            <a:round/>
          </a:ln>
        </c:spPr>
        <c:txPr>
          <a:bodyPr/>
          <a:lstStyle/>
          <a:p>
            <a:pPr>
              <a:defRPr sz="1100" b="0" u="none" strike="noStrike">
                <a:solidFill>
                  <a:srgbClr val="000000"/>
                </a:solidFill>
                <a:uFillTx/>
                <a:latin typeface="Calibri"/>
              </a:defRPr>
            </a:pPr>
          </a:p>
        </c:txPr>
        <c:crossAx val="14510476"/>
        <c:crosses val="autoZero"/>
        <c:auto val="1"/>
        <c:lblAlgn val="ctr"/>
        <c:lblOffset val="100"/>
        <c:noMultiLvlLbl val="0"/>
      </c:catAx>
      <c:valAx>
        <c:axId val="14510476"/>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64751053"/>
        <c:crossBetween val="between"/>
      </c:valAx>
      <c:spPr>
        <a:noFill/>
        <a:ln w="0">
          <a:noFill/>
        </a:ln>
      </c:spPr>
    </c:plotArea>
    <c:plotVisOnly val="1"/>
    <c:dispBlanksAs val="gap"/>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1" u="none" strike="noStrike">
                <a:solidFill>
                  <a:srgbClr val="000000"/>
                </a:solidFill>
                <a:uFillTx/>
                <a:latin typeface="Calibri"/>
              </a:rPr>
              <a:t>Nombre d'offres par contrat</a:t>
            </a:r>
          </a:p>
        </c:rich>
      </c:tx>
      <c:overlay val="0"/>
      <c:spPr>
        <a:noFill/>
        <a:ln w="0">
          <a:noFill/>
        </a:ln>
      </c:spPr>
    </c:title>
    <c:autoTitleDeleted val="0"/>
    <c:plotArea>
      <c:barChart>
        <c:barDir val="col"/>
        <c:grouping val="clustered"/>
        <c:varyColors val="0"/>
        <c:ser>
          <c:idx val="0"/>
          <c:order val="0"/>
          <c:tx>
            <c:strRef>
              <c:f>label 0</c:f>
              <c:strCache>
                <c:ptCount val="1"/>
                <c:pt idx="0">
                  <c:v>Nombre d'offres par contrat</c:v>
                </c:pt>
              </c:strCache>
            </c:strRef>
          </c:tx>
          <c:spPr>
            <a:solidFill>
              <a:srgbClr val="1E3A8A"/>
            </a:solidFill>
            <a:ln w="0">
              <a:noFill/>
            </a:ln>
          </c:spPr>
          <c:invertIfNegative val="0"/>
          <c:dLbls>
            <c:numFmt formatCode="General" sourceLinked="0"/>
            <c:txPr>
              <a:bodyPr wrap="square"/>
              <a:lstStyle/>
              <a:p>
                <a:pPr>
                  <a:defRPr sz="1100" b="0" u="none" strike="noStrike">
                    <a:solidFill>
                      <a:srgbClr val="000000"/>
                    </a:solidFill>
                    <a:uFillTx/>
                    <a:latin typeface="Calibri"/>
                  </a:defRPr>
                </a:pPr>
              </a:p>
            </c:txPr>
            <c:dLblPos val="outEnd"/>
            <c:showLegendKey val="0"/>
            <c:showVal val="1"/>
            <c:showCatName val="0"/>
            <c:showSerName val="0"/>
            <c:showPercent val="0"/>
            <c:separator>; </c:separator>
            <c:extLst>
              <c:ext xmlns:c15="http://schemas.microsoft.com/office/drawing/2012/chart" uri="{CE6537A1-D6FC-4f65-9D91-7224C49458BB}">
                <c15:showLeaderLines val="1"/>
              </c:ext>
            </c:extLst>
          </c:dLbls>
          <c:cat>
            <c:strRef>
              <c:f>categories</c:f>
              <c:strCache>
                <c:ptCount val="5"/>
                <c:pt idx="0">
                  <c:v>CDI</c:v>
                </c:pt>
                <c:pt idx="1">
                  <c:v>CDD</c:v>
                </c:pt>
                <c:pt idx="2">
                  <c:v>Intérim</c:v>
                </c:pt>
                <c:pt idx="3">
                  <c:v>Saisonnier</c:v>
                </c:pt>
                <c:pt idx="4">
                  <c:v>Autres</c:v>
                </c:pt>
              </c:strCache>
            </c:strRef>
          </c:cat>
          <c:val>
            <c:numRef>
              <c:f>0</c:f>
              <c:numCache>
                <c:formatCode>General</c:formatCode>
                <c:ptCount val="5"/>
                <c:pt idx="0">
                  <c:v>8927</c:v>
                </c:pt>
                <c:pt idx="1">
                  <c:v>7345</c:v>
                </c:pt>
                <c:pt idx="2">
                  <c:v>4307</c:v>
                </c:pt>
                <c:pt idx="3">
                  <c:v>612</c:v>
                </c:pt>
                <c:pt idx="4">
                  <c:v>49</c:v>
                </c:pt>
              </c:numCache>
            </c:numRef>
          </c:val>
        </c:ser>
        <c:gapWidth val="60"/>
        <c:overlap val="0"/>
        <c:axId val="71930068"/>
        <c:axId val="18181751"/>
      </c:barChart>
      <c:catAx>
        <c:axId val="71930068"/>
        <c:scaling>
          <c:orientation val="minMax"/>
        </c:scaling>
        <c:delete val="0"/>
        <c:axPos val="b"/>
        <c:numFmt formatCode="[$-40C]dd/mm/yyyy" sourceLinked="1"/>
        <c:majorTickMark val="out"/>
        <c:minorTickMark val="none"/>
        <c:tickLblPos val="nextTo"/>
        <c:spPr>
          <a:ln w="9360">
            <a:solidFill>
              <a:srgbClr val="878787"/>
            </a:solidFill>
            <a:round/>
          </a:ln>
        </c:spPr>
        <c:txPr>
          <a:bodyPr/>
          <a:lstStyle/>
          <a:p>
            <a:pPr>
              <a:defRPr sz="1100" b="0" u="none" strike="noStrike">
                <a:solidFill>
                  <a:srgbClr val="000000"/>
                </a:solidFill>
                <a:uFillTx/>
                <a:latin typeface="Calibri"/>
              </a:defRPr>
            </a:pPr>
          </a:p>
        </c:txPr>
        <c:crossAx val="18181751"/>
        <c:crosses val="autoZero"/>
        <c:auto val="1"/>
        <c:lblAlgn val="ctr"/>
        <c:lblOffset val="100"/>
        <c:noMultiLvlLbl val="0"/>
      </c:catAx>
      <c:valAx>
        <c:axId val="18181751"/>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71930068"/>
        <c:crossBetween val="between"/>
      </c:valAx>
      <c:spPr>
        <a:noFill/>
        <a:ln w="0">
          <a:noFill/>
        </a:ln>
      </c:spPr>
    </c:plotArea>
    <c:plotVisOnly val="1"/>
    <c:dispBlanksAs val="gap"/>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1" u="none" strike="noStrike">
                <a:solidFill>
                  <a:srgbClr val="000000"/>
                </a:solidFill>
                <a:uFillTx/>
                <a:latin typeface="Calibri"/>
              </a:rPr>
              <a:t>Salaire brut annuel moyen (€)</a:t>
            </a:r>
          </a:p>
        </c:rich>
      </c:tx>
      <c:overlay val="0"/>
      <c:spPr>
        <a:noFill/>
        <a:ln w="0">
          <a:noFill/>
        </a:ln>
      </c:spPr>
    </c:title>
    <c:autoTitleDeleted val="0"/>
    <c:plotArea>
      <c:barChart>
        <c:barDir val="col"/>
        <c:grouping val="clustered"/>
        <c:varyColors val="0"/>
        <c:ser>
          <c:idx val="0"/>
          <c:order val="0"/>
          <c:tx>
            <c:strRef>
              <c:f>label 0</c:f>
              <c:strCache>
                <c:ptCount val="1"/>
                <c:pt idx="0">
                  <c:v>Salaire brut annuel moyen (€)</c:v>
                </c:pt>
              </c:strCache>
            </c:strRef>
          </c:tx>
          <c:spPr>
            <a:solidFill>
              <a:srgbClr val="16A34A"/>
            </a:solidFill>
            <a:ln w="0">
              <a:noFill/>
            </a:ln>
          </c:spPr>
          <c:invertIfNegative val="0"/>
          <c:dLbls>
            <c:numFmt formatCode="General" sourceLinked="0"/>
            <c:txPr>
              <a:bodyPr wrap="square"/>
              <a:lstStyle/>
              <a:p>
                <a:pPr>
                  <a:defRPr sz="1100" b="0" u="none" strike="noStrike">
                    <a:solidFill>
                      <a:srgbClr val="000000"/>
                    </a:solidFill>
                    <a:uFillTx/>
                    <a:latin typeface="Calibri"/>
                  </a:defRPr>
                </a:pPr>
              </a:p>
            </c:txPr>
            <c:dLblPos val="outEnd"/>
            <c:showLegendKey val="0"/>
            <c:showVal val="1"/>
            <c:showCatName val="0"/>
            <c:showSerName val="0"/>
            <c:showPercent val="0"/>
            <c:separator>; </c:separator>
            <c:extLst>
              <c:ext xmlns:c15="http://schemas.microsoft.com/office/drawing/2012/chart" uri="{CE6537A1-D6FC-4f65-9D91-7224C49458BB}">
                <c15:showLeaderLines val="1"/>
              </c:ext>
            </c:extLst>
          </c:dLbls>
          <c:cat>
            <c:strRef>
              <c:f>categories</c:f>
              <c:strCache>
                <c:ptCount val="4"/>
                <c:pt idx="0">
                  <c:v>CDI</c:v>
                </c:pt>
                <c:pt idx="1">
                  <c:v>Saisonnier</c:v>
                </c:pt>
                <c:pt idx="2">
                  <c:v>Intérim</c:v>
                </c:pt>
                <c:pt idx="3">
                  <c:v>CDD</c:v>
                </c:pt>
              </c:strCache>
            </c:strRef>
          </c:cat>
          <c:val>
            <c:numRef>
              <c:f>0</c:f>
              <c:numCache>
                <c:formatCode>General</c:formatCode>
                <c:ptCount val="4"/>
                <c:pt idx="0">
                  <c:v>25270</c:v>
                </c:pt>
                <c:pt idx="1">
                  <c:v>23879</c:v>
                </c:pt>
                <c:pt idx="2">
                  <c:v>23853</c:v>
                </c:pt>
                <c:pt idx="3">
                  <c:v>23330</c:v>
                </c:pt>
              </c:numCache>
            </c:numRef>
          </c:val>
        </c:ser>
        <c:gapWidth val="60"/>
        <c:overlap val="0"/>
        <c:axId val="20836435"/>
        <c:axId val="27710505"/>
      </c:barChart>
      <c:catAx>
        <c:axId val="20836435"/>
        <c:scaling>
          <c:orientation val="minMax"/>
        </c:scaling>
        <c:delete val="0"/>
        <c:axPos val="b"/>
        <c:numFmt formatCode="[$-40C]dd/mm/yyyy" sourceLinked="1"/>
        <c:majorTickMark val="out"/>
        <c:minorTickMark val="none"/>
        <c:tickLblPos val="nextTo"/>
        <c:spPr>
          <a:ln w="9360">
            <a:solidFill>
              <a:srgbClr val="878787"/>
            </a:solidFill>
            <a:round/>
          </a:ln>
        </c:spPr>
        <c:txPr>
          <a:bodyPr/>
          <a:lstStyle/>
          <a:p>
            <a:pPr>
              <a:defRPr sz="1100" b="0" u="none" strike="noStrike">
                <a:solidFill>
                  <a:srgbClr val="000000"/>
                </a:solidFill>
                <a:uFillTx/>
                <a:latin typeface="Calibri"/>
              </a:defRPr>
            </a:pPr>
          </a:p>
        </c:txPr>
        <c:crossAx val="27710505"/>
        <c:crosses val="autoZero"/>
        <c:auto val="1"/>
        <c:lblAlgn val="ctr"/>
        <c:lblOffset val="100"/>
        <c:noMultiLvlLbl val="0"/>
      </c:catAx>
      <c:valAx>
        <c:axId val="27710505"/>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20836435"/>
        <c:crossBetween val="between"/>
      </c:valAx>
      <c:spPr>
        <a:noFill/>
        <a:ln w="0">
          <a:noFill/>
        </a:ln>
      </c:spPr>
    </c:plotArea>
    <c:plotVisOnly val="1"/>
    <c:dispBlanksAs val="gap"/>
  </c:chart>
  <c:spPr>
    <a:no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1" u="none" strike="noStrike">
                <a:solidFill>
                  <a:srgbClr val="000000"/>
                </a:solidFill>
                <a:uFillTx/>
                <a:latin typeface="Calibri"/>
              </a:rPr>
              <a:t>Nombre d'offres par secteur (9 premiers)</a:t>
            </a:r>
          </a:p>
        </c:rich>
      </c:tx>
      <c:overlay val="0"/>
      <c:spPr>
        <a:noFill/>
        <a:ln w="0">
          <a:noFill/>
        </a:ln>
      </c:spPr>
    </c:title>
    <c:autoTitleDeleted val="0"/>
    <c:plotArea>
      <c:barChart>
        <c:barDir val="bar"/>
        <c:grouping val="clustered"/>
        <c:varyColors val="0"/>
        <c:ser>
          <c:idx val="0"/>
          <c:order val="0"/>
          <c:tx>
            <c:strRef>
              <c:f>label 0</c:f>
              <c:strCache>
                <c:ptCount val="1"/>
                <c:pt idx="0">
                  <c:v>Nombre d'offres par secteur (9 premiers)</c:v>
                </c:pt>
              </c:strCache>
            </c:strRef>
          </c:tx>
          <c:spPr>
            <a:solidFill>
              <a:srgbClr val="2563EB"/>
            </a:solidFill>
            <a:ln w="0">
              <a:noFill/>
            </a:ln>
          </c:spPr>
          <c:invertIfNegative val="0"/>
          <c:dLbls>
            <c:numFmt formatCode="General" sourceLinked="0"/>
            <c:txPr>
              <a:bodyPr wrap="square"/>
              <a:lstStyle/>
              <a:p>
                <a:pPr>
                  <a:defRPr sz="1100" b="0" u="none" strike="noStrike">
                    <a:solidFill>
                      <a:srgbClr val="000000"/>
                    </a:solidFill>
                    <a:uFillTx/>
                    <a:latin typeface="Calibri"/>
                  </a:defRPr>
                </a:pPr>
              </a:p>
            </c:txPr>
            <c:dLblPos val="outEnd"/>
            <c:showLegendKey val="0"/>
            <c:showVal val="1"/>
            <c:showCatName val="0"/>
            <c:showSerName val="0"/>
            <c:showPercent val="0"/>
            <c:separator>; </c:separator>
            <c:extLst>
              <c:ext xmlns:c15="http://schemas.microsoft.com/office/drawing/2012/chart" uri="{CE6537A1-D6FC-4f65-9D91-7224C49458BB}">
                <c15:showLeaderLines val="1"/>
              </c:ext>
            </c:extLst>
          </c:dLbls>
          <c:cat>
            <c:strRef>
              <c:f>categories</c:f>
              <c:strCache>
                <c:ptCount val="9"/>
                <c:pt idx="0">
                  <c:v>Commerce et grande distribution</c:v>
                </c:pt>
                <c:pt idx="1">
                  <c:v>Services à la personne</c:v>
                </c:pt>
                <c:pt idx="2">
                  <c:v>Transport et logistique</c:v>
                </c:pt>
                <c:pt idx="3">
                  <c:v>Hôtellerie, restauration, tourisme</c:v>
                </c:pt>
                <c:pt idx="4">
                  <c:v>Support à l'entreprise</c:v>
                </c:pt>
                <c:pt idx="5">
                  <c:v>Industrie</c:v>
                </c:pt>
                <c:pt idx="6">
                  <c:v>Santé</c:v>
                </c:pt>
                <c:pt idx="7">
                  <c:v>Installation et maintenance</c:v>
                </c:pt>
                <c:pt idx="8">
                  <c:v>Agriculture, espaces verts, animaux</c:v>
                </c:pt>
              </c:strCache>
            </c:strRef>
          </c:cat>
          <c:val>
            <c:numRef>
              <c:f>0</c:f>
              <c:numCache>
                <c:formatCode>General</c:formatCode>
                <c:ptCount val="9"/>
                <c:pt idx="0">
                  <c:v>4105</c:v>
                </c:pt>
                <c:pt idx="1">
                  <c:v>3941</c:v>
                </c:pt>
                <c:pt idx="2">
                  <c:v>2846</c:v>
                </c:pt>
                <c:pt idx="3">
                  <c:v>2820</c:v>
                </c:pt>
                <c:pt idx="4">
                  <c:v>2802</c:v>
                </c:pt>
                <c:pt idx="5">
                  <c:v>1687</c:v>
                </c:pt>
                <c:pt idx="6">
                  <c:v>938</c:v>
                </c:pt>
                <c:pt idx="7">
                  <c:v>819</c:v>
                </c:pt>
                <c:pt idx="8">
                  <c:v>628</c:v>
                </c:pt>
              </c:numCache>
            </c:numRef>
          </c:val>
        </c:ser>
        <c:gapWidth val="60"/>
        <c:overlap val="0"/>
        <c:axId val="93507952"/>
        <c:axId val="55094163"/>
      </c:barChart>
      <c:catAx>
        <c:axId val="93507952"/>
        <c:scaling>
          <c:orientation val="maxMin"/>
        </c:scaling>
        <c:delete val="0"/>
        <c:axPos val="b"/>
        <c:numFmt formatCode="[$-40C]dd/mm/yyyy" sourceLinked="1"/>
        <c:majorTickMark val="out"/>
        <c:minorTickMark val="none"/>
        <c:tickLblPos val="nextTo"/>
        <c:spPr>
          <a:ln w="9360">
            <a:solidFill>
              <a:srgbClr val="878787"/>
            </a:solidFill>
            <a:round/>
          </a:ln>
        </c:spPr>
        <c:txPr>
          <a:bodyPr/>
          <a:lstStyle/>
          <a:p>
            <a:pPr>
              <a:defRPr sz="1100" b="0" u="none" strike="noStrike">
                <a:solidFill>
                  <a:srgbClr val="000000"/>
                </a:solidFill>
                <a:uFillTx/>
                <a:latin typeface="Calibri"/>
              </a:defRPr>
            </a:pPr>
          </a:p>
        </c:txPr>
        <c:crossAx val="55094163"/>
        <c:crosses val="autoZero"/>
        <c:auto val="1"/>
        <c:lblAlgn val="ctr"/>
        <c:lblOffset val="100"/>
        <c:noMultiLvlLbl val="0"/>
      </c:catAx>
      <c:valAx>
        <c:axId val="55094163"/>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93507952"/>
        <c:crossBetween val="between"/>
      </c:valAx>
      <c:spPr>
        <a:noFill/>
        <a:ln w="0">
          <a:noFill/>
        </a:ln>
      </c:spPr>
    </c:plotArea>
    <c:plotVisOnly val="1"/>
    <c:dispBlanksAs val="gap"/>
  </c:chart>
  <c:spPr>
    <a:noFill/>
    <a:ln w="0">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1" u="none" strike="noStrike">
                <a:solidFill>
                  <a:srgbClr val="000000"/>
                </a:solidFill>
                <a:uFillTx/>
                <a:latin typeface="Calibri"/>
              </a:rPr>
              <a:t>Métiers les plus demandés</a:t>
            </a:r>
          </a:p>
        </c:rich>
      </c:tx>
      <c:overlay val="0"/>
      <c:spPr>
        <a:noFill/>
        <a:ln w="0">
          <a:noFill/>
        </a:ln>
      </c:spPr>
    </c:title>
    <c:autoTitleDeleted val="0"/>
    <c:plotArea>
      <c:barChart>
        <c:barDir val="bar"/>
        <c:grouping val="clustered"/>
        <c:varyColors val="0"/>
        <c:ser>
          <c:idx val="0"/>
          <c:order val="0"/>
          <c:tx>
            <c:strRef>
              <c:f>label 0</c:f>
              <c:strCache>
                <c:ptCount val="1"/>
                <c:pt idx="0">
                  <c:v>Métiers les plus demandés</c:v>
                </c:pt>
              </c:strCache>
            </c:strRef>
          </c:tx>
          <c:spPr>
            <a:solidFill>
              <a:srgbClr val="1E3A8A"/>
            </a:solidFill>
            <a:ln w="0">
              <a:noFill/>
            </a:ln>
          </c:spPr>
          <c:invertIfNegative val="0"/>
          <c:dLbls>
            <c:numFmt formatCode="General" sourceLinked="0"/>
            <c:txPr>
              <a:bodyPr wrap="square"/>
              <a:lstStyle/>
              <a:p>
                <a:pPr>
                  <a:defRPr sz="1100" b="0" u="none" strike="noStrike">
                    <a:solidFill>
                      <a:srgbClr val="000000"/>
                    </a:solidFill>
                    <a:uFillTx/>
                    <a:latin typeface="Calibri"/>
                  </a:defRPr>
                </a:pPr>
              </a:p>
            </c:txPr>
            <c:dLblPos val="outEnd"/>
            <c:showLegendKey val="0"/>
            <c:showVal val="1"/>
            <c:showCatName val="0"/>
            <c:showSerName val="0"/>
            <c:showPercent val="0"/>
            <c:separator>; </c:separator>
            <c:extLst>
              <c:ext xmlns:c15="http://schemas.microsoft.com/office/drawing/2012/chart" uri="{CE6537A1-D6FC-4f65-9D91-7224C49458BB}">
                <c15:showLeaderLines val="1"/>
              </c:ext>
            </c:extLst>
          </c:dLbls>
          <c:cat>
            <c:strRef>
              <c:f>categories</c:f>
              <c:strCache>
                <c:ptCount val="6"/>
                <c:pt idx="0">
                  <c:v>Employé de rayon</c:v>
                </c:pt>
                <c:pt idx="1">
                  <c:v>Assistant administratif</c:v>
                </c:pt>
                <c:pt idx="2">
                  <c:v>Préparateur de commandes</c:v>
                </c:pt>
                <c:pt idx="3">
                  <c:v>Vendeur en épicerie</c:v>
                </c:pt>
                <c:pt idx="4">
                  <c:v>Équipier restauration rapide</c:v>
                </c:pt>
                <c:pt idx="5">
                  <c:v>Magasinier</c:v>
                </c:pt>
              </c:strCache>
            </c:strRef>
          </c:cat>
          <c:val>
            <c:numRef>
              <c:f>0</c:f>
              <c:numCache>
                <c:formatCode>General</c:formatCode>
                <c:ptCount val="6"/>
                <c:pt idx="0">
                  <c:v>907</c:v>
                </c:pt>
                <c:pt idx="1">
                  <c:v>872</c:v>
                </c:pt>
                <c:pt idx="2">
                  <c:v>840</c:v>
                </c:pt>
                <c:pt idx="3">
                  <c:v>820</c:v>
                </c:pt>
                <c:pt idx="4">
                  <c:v>490</c:v>
                </c:pt>
                <c:pt idx="5">
                  <c:v>476</c:v>
                </c:pt>
              </c:numCache>
            </c:numRef>
          </c:val>
        </c:ser>
        <c:gapWidth val="60"/>
        <c:overlap val="0"/>
        <c:axId val="65008110"/>
        <c:axId val="45615528"/>
      </c:barChart>
      <c:catAx>
        <c:axId val="65008110"/>
        <c:scaling>
          <c:orientation val="maxMin"/>
        </c:scaling>
        <c:delete val="0"/>
        <c:axPos val="b"/>
        <c:numFmt formatCode="[$-40C]dd/mm/yyyy" sourceLinked="1"/>
        <c:majorTickMark val="out"/>
        <c:minorTickMark val="none"/>
        <c:tickLblPos val="nextTo"/>
        <c:spPr>
          <a:ln w="9360">
            <a:solidFill>
              <a:srgbClr val="878787"/>
            </a:solidFill>
            <a:round/>
          </a:ln>
        </c:spPr>
        <c:txPr>
          <a:bodyPr/>
          <a:lstStyle/>
          <a:p>
            <a:pPr>
              <a:defRPr sz="1100" b="0" u="none" strike="noStrike">
                <a:solidFill>
                  <a:srgbClr val="000000"/>
                </a:solidFill>
                <a:uFillTx/>
                <a:latin typeface="Calibri"/>
              </a:defRPr>
            </a:pPr>
          </a:p>
        </c:txPr>
        <c:crossAx val="45615528"/>
        <c:crosses val="autoZero"/>
        <c:auto val="1"/>
        <c:lblAlgn val="ctr"/>
        <c:lblOffset val="100"/>
        <c:noMultiLvlLbl val="0"/>
      </c:catAx>
      <c:valAx>
        <c:axId val="45615528"/>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65008110"/>
        <c:crossBetween val="between"/>
      </c:valAx>
      <c:spPr>
        <a:noFill/>
        <a:ln w="0">
          <a:noFill/>
        </a:ln>
      </c:spPr>
    </c:plotArea>
    <c:plotVisOnly val="1"/>
    <c:dispBlanksAs val="gap"/>
  </c:chart>
  <c:spPr>
    <a:noFill/>
    <a:ln w="0">
      <a:noFill/>
    </a:ln>
  </c:spPr>
</c:chartSpace>
</file>

<file path=ppt/charts/chart6.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400" b="1" u="none" strike="noStrike">
                <a:solidFill>
                  <a:srgbClr val="000000"/>
                </a:solidFill>
                <a:uFillTx/>
                <a:latin typeface="Calibri"/>
              </a:rPr>
              <a:t>Compétences les plus demandées</a:t>
            </a:r>
          </a:p>
        </c:rich>
      </c:tx>
      <c:overlay val="0"/>
      <c:spPr>
        <a:noFill/>
        <a:ln w="0">
          <a:noFill/>
        </a:ln>
      </c:spPr>
    </c:title>
    <c:autoTitleDeleted val="0"/>
    <c:plotArea>
      <c:barChart>
        <c:barDir val="bar"/>
        <c:grouping val="clustered"/>
        <c:varyColors val="0"/>
        <c:ser>
          <c:idx val="0"/>
          <c:order val="0"/>
          <c:tx>
            <c:strRef>
              <c:f>label 0</c:f>
              <c:strCache>
                <c:ptCount val="1"/>
                <c:pt idx="0">
                  <c:v>Compétences les plus demandées</c:v>
                </c:pt>
              </c:strCache>
            </c:strRef>
          </c:tx>
          <c:spPr>
            <a:solidFill>
              <a:srgbClr val="16A34A"/>
            </a:solidFill>
            <a:ln w="0">
              <a:noFill/>
            </a:ln>
          </c:spPr>
          <c:invertIfNegative val="0"/>
          <c:dLbls>
            <c:numFmt formatCode="General" sourceLinked="0"/>
            <c:txPr>
              <a:bodyPr wrap="square"/>
              <a:lstStyle/>
              <a:p>
                <a:pPr>
                  <a:defRPr sz="1100" b="0" u="none" strike="noStrike">
                    <a:solidFill>
                      <a:srgbClr val="000000"/>
                    </a:solidFill>
                    <a:uFillTx/>
                    <a:latin typeface="Calibri"/>
                  </a:defRPr>
                </a:pPr>
              </a:p>
            </c:txPr>
            <c:dLblPos val="outEnd"/>
            <c:showLegendKey val="0"/>
            <c:showVal val="1"/>
            <c:showCatName val="0"/>
            <c:showSerName val="0"/>
            <c:showPercent val="0"/>
            <c:separator>; </c:separator>
            <c:extLst>
              <c:ext xmlns:c15="http://schemas.microsoft.com/office/drawing/2012/chart" uri="{CE6537A1-D6FC-4f65-9D91-7224C49458BB}">
                <c15:showLeaderLines val="1"/>
              </c:ext>
            </c:extLst>
          </c:dLbls>
          <c:cat>
            <c:strRef>
              <c:f>categories</c:f>
              <c:strCache>
                <c:ptCount val="5"/>
                <c:pt idx="0">
                  <c:v>Entretenir, nettoyer un local</c:v>
                </c:pt>
                <c:pt idx="1">
                  <c:v>Charger, décharger, manutentionner</c:v>
                </c:pt>
                <c:pt idx="2">
                  <c:v>Aménager un espace de vente</c:v>
                </c:pt>
                <c:pt idx="3">
                  <c:v>Réceptionner des marchandises</c:v>
                </c:pt>
                <c:pt idx="4">
                  <c:v>Présenter et valoriser un produit</c:v>
                </c:pt>
              </c:strCache>
            </c:strRef>
          </c:cat>
          <c:val>
            <c:numRef>
              <c:f>0</c:f>
              <c:numCache>
                <c:formatCode>General</c:formatCode>
                <c:ptCount val="5"/>
                <c:pt idx="0">
                  <c:v>2724</c:v>
                </c:pt>
                <c:pt idx="1">
                  <c:v>1461</c:v>
                </c:pt>
                <c:pt idx="2">
                  <c:v>1220</c:v>
                </c:pt>
                <c:pt idx="3">
                  <c:v>1151</c:v>
                </c:pt>
                <c:pt idx="4">
                  <c:v>916</c:v>
                </c:pt>
              </c:numCache>
            </c:numRef>
          </c:val>
        </c:ser>
        <c:gapWidth val="60"/>
        <c:overlap val="0"/>
        <c:axId val="28665929"/>
        <c:axId val="46928717"/>
      </c:barChart>
      <c:catAx>
        <c:axId val="28665929"/>
        <c:scaling>
          <c:orientation val="maxMin"/>
        </c:scaling>
        <c:delete val="0"/>
        <c:axPos val="b"/>
        <c:numFmt formatCode="[$-40C]dd/mm/yyyy" sourceLinked="1"/>
        <c:majorTickMark val="out"/>
        <c:minorTickMark val="none"/>
        <c:tickLblPos val="nextTo"/>
        <c:spPr>
          <a:ln w="9360">
            <a:solidFill>
              <a:srgbClr val="878787"/>
            </a:solidFill>
            <a:round/>
          </a:ln>
        </c:spPr>
        <c:txPr>
          <a:bodyPr/>
          <a:lstStyle/>
          <a:p>
            <a:pPr>
              <a:defRPr sz="1100" b="0" u="none" strike="noStrike">
                <a:solidFill>
                  <a:srgbClr val="000000"/>
                </a:solidFill>
                <a:uFillTx/>
                <a:latin typeface="Calibri"/>
              </a:defRPr>
            </a:pPr>
          </a:p>
        </c:txPr>
        <c:crossAx val="46928717"/>
        <c:crosses val="autoZero"/>
        <c:auto val="1"/>
        <c:lblAlgn val="ctr"/>
        <c:lblOffset val="100"/>
        <c:noMultiLvlLbl val="0"/>
      </c:catAx>
      <c:valAx>
        <c:axId val="46928717"/>
        <c:scaling>
          <c:orientation val="minMax"/>
        </c:scaling>
        <c:delete val="1"/>
        <c:axPos val="l"/>
        <c:numFmt formatCode="General" sourceLinked="1"/>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28665929"/>
        <c:crossBetween val="between"/>
      </c:valAx>
      <c:spPr>
        <a:noFill/>
        <a:ln w="0">
          <a:noFill/>
        </a:ln>
      </c:spPr>
    </c:plotArea>
    <c:plotVisOnly val="1"/>
    <c:dispBlanksAs val="gap"/>
  </c:chart>
  <c:spPr>
    <a:noFill/>
    <a:ln w="0">
      <a:noFill/>
    </a:ln>
  </c:spPr>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colorStyle>
</file>

<file path=ppt/charts/style1.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2.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3.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4.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5.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6.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Cliquez pour déplacer la diapo</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fr-FR" sz="2000" b="0" u="none" strike="noStrike">
                <a:solidFill>
                  <a:srgbClr val="000000"/>
                </a:solidFill>
                <a:effectLst/>
                <a:uFillTx/>
                <a:latin typeface="Arial"/>
              </a:rPr>
              <a:t>Cliquez pour modifier le format des notes</a:t>
            </a:r>
            <a:endParaRPr lang="fr-FR"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fr-FR" sz="1400" b="0" u="none" strike="noStrike">
                <a:solidFill>
                  <a:srgbClr val="000000"/>
                </a:solidFill>
                <a:effectLst/>
                <a:uFillTx/>
                <a:latin typeface="Times New Roman"/>
              </a:rPr>
              <a:t>&lt;en-tête&gt;</a:t>
            </a:r>
            <a:endParaRPr lang="fr-FR"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fr-FR" sz="1400" b="0" u="none" strike="noStrike">
                <a:solidFill>
                  <a:srgbClr val="000000"/>
                </a:solidFill>
                <a:effectLst/>
                <a:uFillTx/>
                <a:latin typeface="Times New Roman"/>
              </a:defRPr>
            </a:lvl1pPr>
          </a:lstStyle>
          <a:p>
            <a:pPr indent="0" algn="r">
              <a:buNone/>
            </a:pPr>
            <a:r>
              <a:rPr lang="fr-FR" sz="1400" b="0" u="none" strike="noStrike">
                <a:solidFill>
                  <a:srgbClr val="000000"/>
                </a:solidFill>
                <a:effectLst/>
                <a:uFillTx/>
                <a:latin typeface="Times New Roman"/>
              </a:rPr>
              <a:t>&lt;date/heure&gt;</a:t>
            </a:r>
            <a:endParaRPr lang="fr-FR"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fr-FR" sz="1400" b="0" u="none" strike="noStrike">
                <a:solidFill>
                  <a:srgbClr val="000000"/>
                </a:solidFill>
                <a:effectLst/>
                <a:uFillTx/>
                <a:latin typeface="Times New Roman"/>
              </a:defRPr>
            </a:lvl1pPr>
          </a:lstStyle>
          <a:p>
            <a:pPr indent="0" algn="l">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fr-FR" sz="1400" b="0" u="none" strike="noStrike">
                <a:solidFill>
                  <a:srgbClr val="000000"/>
                </a:solidFill>
                <a:effectLst/>
                <a:uFillTx/>
                <a:latin typeface="Times New Roman"/>
              </a:defRPr>
            </a:lvl1pPr>
          </a:lstStyle>
          <a:p>
            <a:pPr indent="0" algn="r">
              <a:buNone/>
            </a:pPr>
            <a:fld id="{41F7C879-4270-4C7D-B9BF-989979703A79}" type="slidenum">
              <a:rPr lang="fr-FR" sz="1400" b="0" u="none" strike="noStrike">
                <a:solidFill>
                  <a:srgbClr val="000000"/>
                </a:solidFill>
                <a:effectLst/>
                <a:uFillTx/>
                <a:latin typeface="Times New Roman"/>
              </a:rPr>
              <a:t>&lt;numéro&gt;</a:t>
            </a:fld>
            <a:endParaRPr lang="fr-FR"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sldImg"/>
          </p:nvPr>
        </p:nvSpPr>
        <p:spPr>
          <a:xfrm>
            <a:off x="1143000" y="685800"/>
            <a:ext cx="4571640" cy="3428640"/>
          </a:xfrm>
          <a:prstGeom prst="rect">
            <a:avLst/>
          </a:prstGeom>
          <a:ln w="0">
            <a:noFill/>
          </a:ln>
        </p:spPr>
      </p:sp>
      <p:sp>
        <p:nvSpPr>
          <p:cNvPr id="35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Bonjour. Mon projet part d'une question simple : que peut-on apprendre des offres d'emploi publiées en France ? J'ai récupéré plus de 21 000 offres réelles, je les ai organisées, vérifiées et transformées en tableaux de bord faciles à lire. Les trois TP sont les trois étapes de ce même projet.</a:t>
            </a:r>
            <a:endParaRPr lang="fr-FR" sz="2000" b="0" u="none" strike="noStrike">
              <a:solidFill>
                <a:srgbClr val="000000"/>
              </a:solidFill>
              <a:effectLst/>
              <a:uFillTx/>
              <a:latin typeface="Arial"/>
            </a:endParaRPr>
          </a:p>
        </p:txBody>
      </p:sp>
      <p:sp>
        <p:nvSpPr>
          <p:cNvPr id="359"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E3A186-F992-4970-9862-E04EFCC054D9}"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sldImg"/>
          </p:nvPr>
        </p:nvSpPr>
        <p:spPr>
          <a:xfrm>
            <a:off x="1143000" y="685800"/>
            <a:ext cx="4571640" cy="3428640"/>
          </a:xfrm>
          <a:prstGeom prst="rect">
            <a:avLst/>
          </a:prstGeom>
          <a:ln w="0">
            <a:noFill/>
          </a:ln>
        </p:spPr>
      </p:sp>
      <p:sp>
        <p:nvSpPr>
          <p:cNvPr id="36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Des milliers d'offres d'emploi sont publiées chaque jour. Prises une par une, elles ne disent pas grand-chose. Rassemblées et bien rangées, elles montrent qui recrute, où, pour quels métiers et à quel salaire. C'est ce que je voulais rendre visible.</a:t>
            </a:r>
            <a:endParaRPr lang="fr-FR" sz="2000" b="0" u="none" strike="noStrike">
              <a:solidFill>
                <a:srgbClr val="000000"/>
              </a:solidFill>
              <a:effectLst/>
              <a:uFillTx/>
              <a:latin typeface="Arial"/>
            </a:endParaRPr>
          </a:p>
        </p:txBody>
      </p:sp>
      <p:sp>
        <p:nvSpPr>
          <p:cNvPr id="362"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CF2B3B1-6F99-454D-A058-B447325349B9}"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3" name="PlaceHolder 1"/>
          <p:cNvSpPr>
            <a:spLocks noGrp="1"/>
          </p:cNvSpPr>
          <p:nvPr>
            <p:ph type="sldImg"/>
          </p:nvPr>
        </p:nvSpPr>
        <p:spPr>
          <a:xfrm>
            <a:off x="1143000" y="685800"/>
            <a:ext cx="4571640" cy="3428640"/>
          </a:xfrm>
          <a:prstGeom prst="rect">
            <a:avLst/>
          </a:prstGeom>
          <a:ln w="0">
            <a:noFill/>
          </a:ln>
        </p:spPr>
      </p:sp>
      <p:sp>
        <p:nvSpPr>
          <p:cNvPr id="36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Le projet suit un chemin logique, comme une chaîne de fabrication. D'abord on organise les informations, ensuite on automatise leur arrivée, puis on vérifie leur qualité, et enfin on montre ce qu'elles nous apprennent.</a:t>
            </a:r>
            <a:endParaRPr lang="fr-FR" sz="2000" b="0" u="none" strike="noStrike">
              <a:solidFill>
                <a:srgbClr val="000000"/>
              </a:solidFill>
              <a:effectLst/>
              <a:uFillTx/>
              <a:latin typeface="Arial"/>
            </a:endParaRPr>
          </a:p>
        </p:txBody>
      </p:sp>
      <p:sp>
        <p:nvSpPr>
          <p:cNvPr id="365"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D102F61-5683-4BE7-A0D2-B0C866076DB9}"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sldImg"/>
          </p:nvPr>
        </p:nvSpPr>
        <p:spPr>
          <a:xfrm>
            <a:off x="1143000" y="685800"/>
            <a:ext cx="4571640" cy="3428640"/>
          </a:xfrm>
          <a:prstGeom prst="rect">
            <a:avLst/>
          </a:prstGeom>
          <a:ln w="0">
            <a:noFill/>
          </a:ln>
        </p:spPr>
      </p:sp>
      <p:sp>
        <p:nvSpPr>
          <p:cNvPr id="36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J'utilise uniquement des données publiques et officielles. La première source, France Travail, fournit les offres d'emploi. La seconde, le site officiel de l'État sur les communes, sert à vérifier la ville de chaque offre et à la placer sur une carte.</a:t>
            </a:r>
            <a:endParaRPr lang="fr-FR" sz="2000" b="0" u="none" strike="noStrike">
              <a:solidFill>
                <a:srgbClr val="000000"/>
              </a:solidFill>
              <a:effectLst/>
              <a:uFillTx/>
              <a:latin typeface="Arial"/>
            </a:endParaRPr>
          </a:p>
        </p:txBody>
      </p:sp>
      <p:sp>
        <p:nvSpPr>
          <p:cNvPr id="368"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E066E2C-527D-4829-98C2-E04BDEE1F6A9}"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9" name="PlaceHolder 1"/>
          <p:cNvSpPr>
            <a:spLocks noGrp="1"/>
          </p:cNvSpPr>
          <p:nvPr>
            <p:ph type="sldImg"/>
          </p:nvPr>
        </p:nvSpPr>
        <p:spPr>
          <a:xfrm>
            <a:off x="1143000" y="685800"/>
            <a:ext cx="4571640" cy="3428640"/>
          </a:xfrm>
          <a:prstGeom prst="rect">
            <a:avLst/>
          </a:prstGeom>
          <a:ln w="0">
            <a:noFill/>
          </a:ln>
        </p:spPr>
      </p:sp>
      <p:sp>
        <p:nvSpPr>
          <p:cNvPr id="37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Une offre brute mélange tout : le poste, l'entreprise, la ville, le métier et les compétences. J'ai rangé ces informations comme dans une armoire à tiroirs : chaque tiroir contient un seul type d'information. Une entreprise qui publie cent offres n'est enregistrée qu'une seule fois. Cela évite les doublons et les contradictions.</a:t>
            </a:r>
            <a:endParaRPr lang="fr-FR" sz="2000" b="0" u="none" strike="noStrike">
              <a:solidFill>
                <a:srgbClr val="000000"/>
              </a:solidFill>
              <a:effectLst/>
              <a:uFillTx/>
              <a:latin typeface="Arial"/>
            </a:endParaRPr>
          </a:p>
        </p:txBody>
      </p:sp>
      <p:sp>
        <p:nvSpPr>
          <p:cNvPr id="371"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C87F005-9567-4327-9031-D1EFF746D3FA}"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sldImg"/>
          </p:nvPr>
        </p:nvSpPr>
        <p:spPr>
          <a:xfrm>
            <a:off x="1143000" y="685800"/>
            <a:ext cx="4571640" cy="3428640"/>
          </a:xfrm>
          <a:prstGeom prst="rect">
            <a:avLst/>
          </a:prstGeom>
          <a:ln w="0">
            <a:noFill/>
          </a:ln>
        </p:spPr>
      </p:sp>
      <p:sp>
        <p:nvSpPr>
          <p:cNvPr id="3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Une fois l'organisation définie, j'ai construit une chaîne automatique, comme une usine. Toutes les 15 minutes, elle va chercher les nouvelles offres. Elle garde toujours une copie de l'original, puis nettoie et range les offres toutes les 30 minutes. Personne n'a besoin d'intervenir, et tout se lance en une seule commande sur n'importe quel ordinateur.</a:t>
            </a:r>
            <a:endParaRPr lang="fr-FR" sz="2000" b="0" u="none" strike="noStrike">
              <a:solidFill>
                <a:srgbClr val="000000"/>
              </a:solidFill>
              <a:effectLst/>
              <a:uFillTx/>
              <a:latin typeface="Arial"/>
            </a:endParaRPr>
          </a:p>
        </p:txBody>
      </p:sp>
      <p:sp>
        <p:nvSpPr>
          <p:cNvPr id="374"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8794629-622F-4E5B-BD0E-ABDA2ECA58A4}"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PlaceHolder 1"/>
          <p:cNvSpPr>
            <a:spLocks noGrp="1"/>
          </p:cNvSpPr>
          <p:nvPr>
            <p:ph type="sldImg"/>
          </p:nvPr>
        </p:nvSpPr>
        <p:spPr>
          <a:xfrm>
            <a:off x="1143000" y="685800"/>
            <a:ext cx="4571640" cy="3428640"/>
          </a:xfrm>
          <a:prstGeom prst="rect">
            <a:avLst/>
          </a:prstGeom>
          <a:ln w="0">
            <a:noFill/>
          </a:ln>
        </p:spPr>
      </p:sp>
      <p:sp>
        <p:nvSpPr>
          <p:cNvPr id="3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Depuis son lancement, la chaîne a reçu près de 36 000 fiches. Beaucoup sont la même offre vue plusieurs fois, car une annonce reste en ligne plusieurs jours. Après tri, il reste un peu plus de 21 000 offres uniques et propres. Environ 1 000 offres incomplètes ont été mises de côté plutôt que d'être gardées avec des erreurs.</a:t>
            </a:r>
            <a:endParaRPr lang="fr-FR" sz="2000" b="0" u="none" strike="noStrike">
              <a:solidFill>
                <a:srgbClr val="000000"/>
              </a:solidFill>
              <a:effectLst/>
              <a:uFillTx/>
              <a:latin typeface="Arial"/>
            </a:endParaRPr>
          </a:p>
        </p:txBody>
      </p:sp>
      <p:sp>
        <p:nvSpPr>
          <p:cNvPr id="377"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61BE85F-883F-4BC9-A33F-D4AA66E1DCDB}"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sldImg"/>
          </p:nvPr>
        </p:nvSpPr>
        <p:spPr>
          <a:xfrm>
            <a:off x="1143000" y="685800"/>
            <a:ext cx="4571640" cy="3428640"/>
          </a:xfrm>
          <a:prstGeom prst="rect">
            <a:avLst/>
          </a:prstGeom>
          <a:ln w="0">
            <a:noFill/>
          </a:ln>
        </p:spPr>
      </p:sp>
      <p:sp>
        <p:nvSpPr>
          <p:cNvPr id="3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Des données fausses donnent de fausses conclusions. J'ai donc posé 17 vérifications automatiques, regroupées en cinq questions simples. Je les ai lancées avant le nettoyage, puis après, pour prouver l'amélioration avec des chiffres.</a:t>
            </a:r>
            <a:endParaRPr lang="fr-FR" sz="2000" b="0" u="none" strike="noStrike">
              <a:solidFill>
                <a:srgbClr val="000000"/>
              </a:solidFill>
              <a:effectLst/>
              <a:uFillTx/>
              <a:latin typeface="Arial"/>
            </a:endParaRPr>
          </a:p>
        </p:txBody>
      </p:sp>
      <p:sp>
        <p:nvSpPr>
          <p:cNvPr id="380"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7B5AF7A-8C29-4B9A-93C0-1317CE8F7442}"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1" name="PlaceHolder 1"/>
          <p:cNvSpPr>
            <a:spLocks noGrp="1"/>
          </p:cNvSpPr>
          <p:nvPr>
            <p:ph type="sldImg"/>
          </p:nvPr>
        </p:nvSpPr>
        <p:spPr>
          <a:xfrm>
            <a:off x="1143000" y="685800"/>
            <a:ext cx="4571640" cy="3428640"/>
          </a:xfrm>
          <a:prstGeom prst="rect">
            <a:avLst/>
          </a:prstGeom>
          <a:ln w="0">
            <a:noFill/>
          </a:ln>
        </p:spPr>
      </p:sp>
      <p:sp>
        <p:nvSpPr>
          <p:cNvPr id="3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Le problème principal concernait les salaires. Beaucoup d'offres donnent un salaire à l'heure, par exemple 12 euros de l'heure, qui était lu à tort comme 12 euros par an. J'ai corrigé la règle de calcul à la source, puis recalculé les salaires à partir des offres originales. J'ai aussi fusionné des compétences et des entreprises écrites deux fois. Chaque correction est enregistrée dans un journal.</a:t>
            </a:r>
            <a:endParaRPr lang="fr-FR" sz="2000" b="0" u="none" strike="noStrike">
              <a:solidFill>
                <a:srgbClr val="000000"/>
              </a:solidFill>
              <a:effectLst/>
              <a:uFillTx/>
              <a:latin typeface="Arial"/>
            </a:endParaRPr>
          </a:p>
        </p:txBody>
      </p:sp>
      <p:sp>
        <p:nvSpPr>
          <p:cNvPr id="383"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CD76B50-9FA9-4031-AA01-1CAD26F8C3F9}"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sldImg"/>
          </p:nvPr>
        </p:nvSpPr>
        <p:spPr>
          <a:xfrm>
            <a:off x="1143000" y="685800"/>
            <a:ext cx="4571640" cy="3428640"/>
          </a:xfrm>
          <a:prstGeom prst="rect">
            <a:avLst/>
          </a:prstGeom>
          <a:ln w="0">
            <a:noFill/>
          </a:ln>
        </p:spPr>
      </p:sp>
      <p:sp>
        <p:nvSpPr>
          <p:cNvPr id="3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Certaines informations manquent vraiment dans les offres : un quart des offres n'indiquent pas de salaire, par exemple. J'aurais pu les remplir avec une moyenne, mais ce serait inventer des chiffres. J'ai préféré les laisser vides, les mesurer et les signaler comme limites. Une donnée honnête vaut mieux qu'une donnée complète mais fausse.</a:t>
            </a:r>
            <a:endParaRPr lang="fr-FR" sz="2000" b="0" u="none" strike="noStrike">
              <a:solidFill>
                <a:srgbClr val="000000"/>
              </a:solidFill>
              <a:effectLst/>
              <a:uFillTx/>
              <a:latin typeface="Arial"/>
            </a:endParaRPr>
          </a:p>
        </p:txBody>
      </p:sp>
      <p:sp>
        <p:nvSpPr>
          <p:cNvPr id="386"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2EBE2BE-A2B5-43B5-9514-0C80EF377299}"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PlaceHolder 1"/>
          <p:cNvSpPr>
            <a:spLocks noGrp="1"/>
          </p:cNvSpPr>
          <p:nvPr>
            <p:ph type="sldImg"/>
          </p:nvPr>
        </p:nvSpPr>
        <p:spPr>
          <a:xfrm>
            <a:off x="1143000" y="685800"/>
            <a:ext cx="4571640" cy="3428640"/>
          </a:xfrm>
          <a:prstGeom prst="rect">
            <a:avLst/>
          </a:prstGeom>
          <a:ln w="0">
            <a:noFill/>
          </a:ln>
        </p:spPr>
      </p:sp>
      <p:sp>
        <p:nvSpPr>
          <p:cNvPr id="3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Voici ce que représentent les données une fois nettoyées : plus de 21 000 offres, près de 10 000 entreprises et 6 000 communes, dans presque tous les départements, y compris l'outre-mer. Le salaire moyen proposé est d'environ 24 000 euros bruts par an.</a:t>
            </a:r>
            <a:endParaRPr lang="fr-FR" sz="2000" b="0" u="none" strike="noStrike">
              <a:solidFill>
                <a:srgbClr val="000000"/>
              </a:solidFill>
              <a:effectLst/>
              <a:uFillTx/>
              <a:latin typeface="Arial"/>
            </a:endParaRPr>
          </a:p>
        </p:txBody>
      </p:sp>
      <p:sp>
        <p:nvSpPr>
          <p:cNvPr id="389"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62AA440-D39A-45DD-9742-FCD5314A0F2D}"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sldImg"/>
          </p:nvPr>
        </p:nvSpPr>
        <p:spPr>
          <a:xfrm>
            <a:off x="1143000" y="685800"/>
            <a:ext cx="4571640" cy="3428640"/>
          </a:xfrm>
          <a:prstGeom prst="rect">
            <a:avLst/>
          </a:prstGeom>
          <a:ln w="0">
            <a:noFill/>
          </a:ln>
        </p:spPr>
      </p:sp>
      <p:sp>
        <p:nvSpPr>
          <p:cNvPr id="3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Le CDI reste le contrat le plus proposé, avec plus de 4 offres sur 10. Le CDD et l'intérim représentent ensemble plus de la moitié des offres. Les salaires moyens sont proches d'un contrat à l'autre, légèrement plus élevés en CDI.</a:t>
            </a:r>
            <a:endParaRPr lang="fr-FR" sz="2000" b="0" u="none" strike="noStrike">
              <a:solidFill>
                <a:srgbClr val="000000"/>
              </a:solidFill>
              <a:effectLst/>
              <a:uFillTx/>
              <a:latin typeface="Arial"/>
            </a:endParaRPr>
          </a:p>
        </p:txBody>
      </p:sp>
      <p:sp>
        <p:nvSpPr>
          <p:cNvPr id="392"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983830-FFB6-4AFF-830B-B32AD82B7368}"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3" name="PlaceHolder 1"/>
          <p:cNvSpPr>
            <a:spLocks noGrp="1"/>
          </p:cNvSpPr>
          <p:nvPr>
            <p:ph type="sldImg"/>
          </p:nvPr>
        </p:nvSpPr>
        <p:spPr>
          <a:xfrm>
            <a:off x="1143000" y="685800"/>
            <a:ext cx="4571640" cy="3428640"/>
          </a:xfrm>
          <a:prstGeom prst="rect">
            <a:avLst/>
          </a:prstGeom>
          <a:ln w="0">
            <a:noFill/>
          </a:ln>
        </p:spPr>
      </p:sp>
      <p:sp>
        <p:nvSpPr>
          <p:cNvPr id="3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Le commerce et la grande distribution arrivent en tête, suivis des services à la personne, du transport et de la logistique, et de l'hôtellerie-restauration. Ce sont des secteurs qui recrutent beaucoup et souvent.</a:t>
            </a:r>
            <a:endParaRPr lang="fr-FR" sz="2000" b="0" u="none" strike="noStrike">
              <a:solidFill>
                <a:srgbClr val="000000"/>
              </a:solidFill>
              <a:effectLst/>
              <a:uFillTx/>
              <a:latin typeface="Arial"/>
            </a:endParaRPr>
          </a:p>
        </p:txBody>
      </p:sp>
      <p:sp>
        <p:nvSpPr>
          <p:cNvPr id="395"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528EE8B-1734-4B8F-9700-DB0EDE1D9670}"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sldImg"/>
          </p:nvPr>
        </p:nvSpPr>
        <p:spPr>
          <a:xfrm>
            <a:off x="1143000" y="685800"/>
            <a:ext cx="4571640" cy="3428640"/>
          </a:xfrm>
          <a:prstGeom prst="rect">
            <a:avLst/>
          </a:prstGeom>
          <a:ln w="0">
            <a:noFill/>
          </a:ln>
        </p:spPr>
      </p:sp>
      <p:sp>
        <p:nvSpPr>
          <p:cNvPr id="3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Les métiers les plus demandés sont des métiers de terrain : employé de rayon, assistant administratif, préparateur de commandes, vendeur. Les compétences les plus recherchées vont dans le même sens : entretien des locaux, manutention, mise en rayon et réception de marchandises.</a:t>
            </a:r>
            <a:endParaRPr lang="fr-FR" sz="2000" b="0" u="none" strike="noStrike">
              <a:solidFill>
                <a:srgbClr val="000000"/>
              </a:solidFill>
              <a:effectLst/>
              <a:uFillTx/>
              <a:latin typeface="Arial"/>
            </a:endParaRPr>
          </a:p>
        </p:txBody>
      </p:sp>
      <p:sp>
        <p:nvSpPr>
          <p:cNvPr id="398"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BB00144-4FC0-4F63-BA26-40869B1CACEC}"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sldImg"/>
          </p:nvPr>
        </p:nvSpPr>
        <p:spPr>
          <a:xfrm>
            <a:off x="1143000" y="685800"/>
            <a:ext cx="4571640" cy="3428640"/>
          </a:xfrm>
          <a:prstGeom prst="rect">
            <a:avLst/>
          </a:prstGeom>
          <a:ln w="0">
            <a:noFill/>
          </a:ln>
        </p:spPr>
      </p:sp>
      <p:sp>
        <p:nvSpPr>
          <p:cNvPr id="4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Pour que tout le monde puisse explorer les données, j'ai créé un tableau de bord interactif. On choisit un contrat, un secteur ou une ville, et tous les graphiques se mettent à jour instantanément. J'ai optimisé l'affichage : il est passé d'environ 7 secondes à moins d'une seconde. C'est le moment idéal pour une courte démonstration en direct.</a:t>
            </a:r>
            <a:endParaRPr lang="fr-FR" sz="2000" b="0" u="none" strike="noStrike">
              <a:solidFill>
                <a:srgbClr val="000000"/>
              </a:solidFill>
              <a:effectLst/>
              <a:uFillTx/>
              <a:latin typeface="Arial"/>
            </a:endParaRPr>
          </a:p>
        </p:txBody>
      </p:sp>
      <p:sp>
        <p:nvSpPr>
          <p:cNvPr id="401"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A35B4F1-81F2-4E77-97F4-7F1EB26C5CE6}"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sldImg"/>
          </p:nvPr>
        </p:nvSpPr>
        <p:spPr>
          <a:xfrm>
            <a:off x="1143000" y="685800"/>
            <a:ext cx="4571640" cy="3428640"/>
          </a:xfrm>
          <a:prstGeom prst="rect">
            <a:avLst/>
          </a:prstGeom>
          <a:ln w="0">
            <a:noFill/>
          </a:ln>
        </p:spPr>
      </p:sp>
      <p:sp>
        <p:nvSpPr>
          <p:cNvPr id="4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Comme le tableau de bord d'une voiture, un écran de surveillance indique en permanence si chaque partie de la chaîne fonctionne. On voit aussi combien d'offres arrivent et combien sont propres. Si une étape s'arrête, on le voit tout de suite.</a:t>
            </a:r>
            <a:endParaRPr lang="fr-FR" sz="2000" b="0" u="none" strike="noStrike">
              <a:solidFill>
                <a:srgbClr val="000000"/>
              </a:solidFill>
              <a:effectLst/>
              <a:uFillTx/>
              <a:latin typeface="Arial"/>
            </a:endParaRPr>
          </a:p>
        </p:txBody>
      </p:sp>
      <p:sp>
        <p:nvSpPr>
          <p:cNvPr id="404"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2B3C76E-4E1B-4517-AB79-33839D5BAF98}"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sldImg"/>
          </p:nvPr>
        </p:nvSpPr>
        <p:spPr>
          <a:xfrm>
            <a:off x="1143000" y="685800"/>
            <a:ext cx="4571640" cy="3428640"/>
          </a:xfrm>
          <a:prstGeom prst="rect">
            <a:avLst/>
          </a:prstGeom>
          <a:ln w="0">
            <a:noFill/>
          </a:ln>
        </p:spPr>
      </p:sp>
      <p:sp>
        <p:nvSpPr>
          <p:cNvPr id="4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fr-FR" sz="2000" b="0" u="none" strike="noStrike">
                <a:solidFill>
                  <a:srgbClr val="000000"/>
                </a:solidFill>
                <a:effectLst/>
                <a:uFillTx/>
                <a:latin typeface="Arial"/>
              </a:rPr>
              <a:t>Pour conclure : le projet transforme des offres d'emploi dispersées en informations fiables et faciles à lire. La chaîne est automatique, les erreurs graves sont corrigées et les limites sont clairement indiquées. Pour aller plus loin, on pourrait suivre l'évolution dans le temps et ajouter des alertes automatiques. Merci, je suis prêt pour vos questions.</a:t>
            </a:r>
            <a:endParaRPr lang="fr-FR" sz="2000" b="0" u="none" strike="noStrike">
              <a:solidFill>
                <a:srgbClr val="000000"/>
              </a:solidFill>
              <a:effectLst/>
              <a:uFillTx/>
              <a:latin typeface="Arial"/>
            </a:endParaRPr>
          </a:p>
        </p:txBody>
      </p:sp>
      <p:sp>
        <p:nvSpPr>
          <p:cNvPr id="407"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8A34F9A-E701-4EF8-81AB-5E57AEDE9568}" type="slidenum">
              <a:rPr lang="en-US"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19F2C2C-2E84-4956-A214-13B3A5E0A940}"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B728E81-B854-49A2-A8DA-6362DCE2A32A}"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69818C3-2787-4719-8AE0-1E9D60561C9C}"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834477A-1641-40DE-898F-B234102F37D6}"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B1DF0CF-0FD4-47A0-82C1-DA80D69A4897}"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3405411-4226-4AE2-B599-D06FD38193AE}"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7F43B71-4376-4E39-822C-BC4F1BA462F2}"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C6E272A-C9F0-419B-A158-D621FBC57610}"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293A02BE-4F84-442E-976A-3EECB4F9383B}"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Cliquez pour éditer le format du texte-titre</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Cliquez pour éditer le format du plan de texte</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niveau de plan</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Troisième niveau de plan</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Quatrième niveau de plan</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Cinquième niveau de plan</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Sixième niveau de plan</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Septième niveau de plan</a:t>
            </a:r>
            <a:endParaRPr lang="en-US" sz="2000" b="0" u="none" strike="noStrike">
              <a:solidFill>
                <a:schemeClr val="dk1"/>
              </a:solidFill>
              <a:effectLst/>
              <a:uFillTx/>
              <a:latin typeface="Calibri"/>
            </a:endParaRPr>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B1278C4-3C05-43D6-BF8E-84FAFEA58BCE}"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pic"/>
          </p:nvPr>
        </p:nvSpPr>
        <p:spPr>
          <a:xfrm>
            <a:off x="1792440" y="612720"/>
            <a:ext cx="5486040" cy="4114440"/>
          </a:xfrm>
          <a:prstGeom prst="rect">
            <a:avLst/>
          </a:prstGeom>
          <a:noFill/>
          <a:ln w="0">
            <a:noFill/>
          </a:ln>
        </p:spPr>
        <p:txBody>
          <a:bodyPr lIns="90000" tIns="45000" rIns="90000" bIns="45000" anchor="t">
            <a:noAutofit/>
          </a:bodyPr>
          <a:p>
            <a:pPr indent="0" algn="l">
              <a:buNone/>
            </a:pPr>
            <a:r>
              <a:rPr lang="fr-FR" sz="3200" b="0" u="none" strike="noStrike">
                <a:solidFill>
                  <a:srgbClr val="000000"/>
                </a:solidFill>
                <a:effectLst/>
                <a:uFillTx/>
                <a:latin typeface="Arial"/>
              </a:rPr>
              <a:t>Double-cliquez pour insérer un diagramme</a:t>
            </a:r>
            <a:endParaRPr lang="fr-FR" sz="3200" b="0" u="none" strike="noStrike">
              <a:solidFill>
                <a:srgbClr val="000000"/>
              </a:solidFill>
              <a:effectLst/>
              <a:uFillTx/>
              <a:latin typeface="Arial"/>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&lt;date/heure&gt;</a:t>
            </a:r>
            <a:endParaRPr lang="fr-FR"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fr-FR" sz="1400" b="0" u="none" strike="noStrike">
                <a:solidFill>
                  <a:srgbClr val="000000"/>
                </a:solidFill>
                <a:effectLst/>
                <a:uFillTx/>
                <a:latin typeface="Times New Roman"/>
              </a:defRPr>
            </a:lvl1pPr>
          </a:lstStyle>
          <a:p>
            <a:pPr indent="0" algn="ctr">
              <a:buNone/>
            </a:pPr>
            <a:r>
              <a:rPr lang="fr-FR" sz="1400" b="0" u="none" strike="noStrike">
                <a:solidFill>
                  <a:srgbClr val="000000"/>
                </a:solidFill>
                <a:effectLst/>
                <a:uFillTx/>
                <a:latin typeface="Times New Roman"/>
              </a:rPr>
              <a:t>&lt;pied de page&gt;</a:t>
            </a:r>
            <a:endParaRPr lang="fr-FR"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8D7E81-EB0B-4F85-B5D0-6C0883C408D3}" type="slidenum">
              <a:rPr lang="en-US" sz="1200" b="0" u="none" strike="noStrike">
                <a:solidFill>
                  <a:schemeClr val="dk1">
                    <a:tint val="75000"/>
                  </a:schemeClr>
                </a:solidFill>
                <a:effectLst/>
                <a:uFillTx/>
                <a:latin typeface="Calibri"/>
              </a:rPr>
              <a:t>&lt;numéro&gt;</a:t>
            </a:fld>
            <a:endParaRPr lang="fr-FR"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9.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slideLayout" Target="../slideLayouts/slideLayout9.xml"/><Relationship Id="rId4"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9.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chart" Target="../charts/chart5.xml"/><Relationship Id="rId2" Type="http://schemas.openxmlformats.org/officeDocument/2006/relationships/chart" Target="../charts/chart6.xml"/><Relationship Id="rId3" Type="http://schemas.openxmlformats.org/officeDocument/2006/relationships/slideLayout" Target="../slideLayouts/slideLayout9.xml"/><Relationship Id="rId4"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Rectangle 1"/>
          <p:cNvSpPr/>
          <p:nvPr/>
        </p:nvSpPr>
        <p:spPr>
          <a:xfrm>
            <a:off x="0" y="0"/>
            <a:ext cx="12191400" cy="685764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68" name="Rectangle 2"/>
          <p:cNvSpPr/>
          <p:nvPr/>
        </p:nvSpPr>
        <p:spPr>
          <a:xfrm>
            <a:off x="731520" y="3520440"/>
            <a:ext cx="1462680" cy="72720"/>
          </a:xfrm>
          <a:prstGeom prst="rect">
            <a:avLst/>
          </a:prstGeom>
          <a:solidFill>
            <a:srgbClr val="60A5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pPr/>
            <a:endParaRPr lang="en-US" sz="1800" b="0" u="none" strike="noStrike">
              <a:solidFill>
                <a:schemeClr val="lt1"/>
              </a:solidFill>
              <a:effectLst/>
              <a:uFillTx/>
              <a:latin typeface="Calibri"/>
            </a:endParaRPr>
          </a:p>
        </p:txBody>
      </p:sp>
      <p:sp>
        <p:nvSpPr>
          <p:cNvPr id="69" name="TextBox 3"/>
          <p:cNvSpPr/>
          <p:nvPr/>
        </p:nvSpPr>
        <p:spPr>
          <a:xfrm>
            <a:off x="731520" y="822960"/>
            <a:ext cx="10789560" cy="146268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4200" b="1" u="none" strike="noStrike">
                <a:solidFill>
                  <a:srgbClr val="FFFFFF"/>
                </a:solidFill>
                <a:effectLst/>
                <a:uFillTx/>
                <a:latin typeface="Segoe UI"/>
              </a:rPr>
              <a:t>Que nous apprennent 21 000 offres d'emploi ?</a:t>
            </a:r>
            <a:endParaRPr lang="fr-FR" sz="4200" b="0" u="none" strike="noStrike">
              <a:solidFill>
                <a:srgbClr val="000000"/>
              </a:solidFill>
              <a:effectLst/>
              <a:uFillTx/>
              <a:latin typeface="Arial"/>
            </a:endParaRPr>
          </a:p>
        </p:txBody>
      </p:sp>
      <p:sp>
        <p:nvSpPr>
          <p:cNvPr id="70" name="TextBox 4"/>
          <p:cNvSpPr/>
          <p:nvPr/>
        </p:nvSpPr>
        <p:spPr>
          <a:xfrm>
            <a:off x="731520" y="2606040"/>
            <a:ext cx="10515240" cy="82260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2600" b="0" u="none" strike="noStrike">
                <a:solidFill>
                  <a:srgbClr val="BFDBFE"/>
                </a:solidFill>
                <a:effectLst/>
                <a:uFillTx/>
                <a:latin typeface="Segoe UI"/>
              </a:rPr>
              <a:t>Collecter, organiser, vérifier et montrer des données réelles</a:t>
            </a:r>
            <a:endParaRPr lang="fr-FR" sz="2600" b="0" u="none" strike="noStrike">
              <a:solidFill>
                <a:srgbClr val="000000"/>
              </a:solidFill>
              <a:effectLst/>
              <a:uFillTx/>
              <a:latin typeface="Arial"/>
            </a:endParaRPr>
          </a:p>
        </p:txBody>
      </p:sp>
      <p:sp>
        <p:nvSpPr>
          <p:cNvPr id="71" name="TextBox 5"/>
          <p:cNvSpPr/>
          <p:nvPr/>
        </p:nvSpPr>
        <p:spPr>
          <a:xfrm>
            <a:off x="731520" y="3794760"/>
            <a:ext cx="10515240" cy="146268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2000" b="0" u="none" strike="noStrike">
                <a:solidFill>
                  <a:srgbClr val="FFFFFF"/>
                </a:solidFill>
                <a:effectLst/>
                <a:uFillTx/>
                <a:latin typeface="Segoe UI"/>
              </a:rPr>
              <a:t>Étape 1 — Organiser les informations</a:t>
            </a:r>
            <a:endParaRPr lang="fr-FR" sz="2000" b="0" u="none" strike="noStrike">
              <a:solidFill>
                <a:srgbClr val="000000"/>
              </a:solidFill>
              <a:effectLst/>
              <a:uFillTx/>
              <a:latin typeface="Arial"/>
            </a:endParaRPr>
          </a:p>
          <a:p>
            <a:pPr defTabSz="457200">
              <a:lnSpc>
                <a:spcPct val="100000"/>
              </a:lnSpc>
            </a:pPr>
            <a:r>
              <a:rPr lang="en-US" sz="2000" b="0" u="none" strike="noStrike">
                <a:solidFill>
                  <a:srgbClr val="FFFFFF"/>
                </a:solidFill>
                <a:effectLst/>
                <a:uFillTx/>
                <a:latin typeface="Segoe UI"/>
              </a:rPr>
              <a:t>Étape 2 — Automatiser la collecte</a:t>
            </a:r>
            <a:endParaRPr lang="fr-FR" sz="2000" b="0" u="none" strike="noStrike">
              <a:solidFill>
                <a:srgbClr val="000000"/>
              </a:solidFill>
              <a:effectLst/>
              <a:uFillTx/>
              <a:latin typeface="Arial"/>
            </a:endParaRPr>
          </a:p>
          <a:p>
            <a:pPr defTabSz="457200">
              <a:lnSpc>
                <a:spcPct val="100000"/>
              </a:lnSpc>
            </a:pPr>
            <a:r>
              <a:rPr lang="en-US" sz="2000" b="0" u="none" strike="noStrike">
                <a:solidFill>
                  <a:srgbClr val="FFFFFF"/>
                </a:solidFill>
                <a:effectLst/>
                <a:uFillTx/>
                <a:latin typeface="Segoe UI"/>
              </a:rPr>
              <a:t>Étape 3 — Contrôler et corriger la qualité</a:t>
            </a:r>
            <a:endParaRPr lang="fr-FR" sz="2000" b="0" u="none" strike="noStrike">
              <a:solidFill>
                <a:srgbClr val="000000"/>
              </a:solidFill>
              <a:effectLst/>
              <a:uFillTx/>
              <a:latin typeface="Arial"/>
            </a:endParaRPr>
          </a:p>
        </p:txBody>
      </p:sp>
      <p:sp>
        <p:nvSpPr>
          <p:cNvPr id="72" name="TextBox 6"/>
          <p:cNvSpPr/>
          <p:nvPr/>
        </p:nvSpPr>
        <p:spPr>
          <a:xfrm>
            <a:off x="731520" y="5577840"/>
            <a:ext cx="10515240" cy="31896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spcBef>
                <a:spcPts val="1191"/>
              </a:spcBef>
              <a:spcAft>
                <a:spcPts val="992"/>
              </a:spcAft>
            </a:pPr>
            <a:r>
              <a:rPr lang="en-US" sz="1500" b="0" u="none" strike="noStrike">
                <a:solidFill>
                  <a:srgbClr val="BFDBFE"/>
                </a:solidFill>
                <a:effectLst/>
                <a:uFillTx/>
                <a:latin typeface="Segoe UI"/>
              </a:rPr>
              <a:t>Théo Mousnier  •  Arash NILOUFARY  •  Septembre 2026</a:t>
            </a:r>
            <a:endParaRPr lang="fr-FR"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4"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La question de départ</a:t>
            </a:r>
            <a:endParaRPr lang="fr-FR" sz="2800" b="0" u="none" strike="noStrike">
              <a:solidFill>
                <a:srgbClr val="000000"/>
              </a:solidFill>
              <a:effectLst/>
              <a:uFillTx/>
              <a:latin typeface="Arial"/>
            </a:endParaRPr>
          </a:p>
        </p:txBody>
      </p:sp>
      <p:sp>
        <p:nvSpPr>
          <p:cNvPr id="75"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Introduction</a:t>
            </a:r>
            <a:endParaRPr lang="fr-FR" sz="1300" b="0" u="none" strike="noStrike">
              <a:solidFill>
                <a:srgbClr val="000000"/>
              </a:solidFill>
              <a:effectLst/>
              <a:uFillTx/>
              <a:latin typeface="Arial"/>
            </a:endParaRPr>
          </a:p>
        </p:txBody>
      </p:sp>
      <p:sp>
        <p:nvSpPr>
          <p:cNvPr id="76"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7"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78"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2 / 17</a:t>
            </a:r>
            <a:endParaRPr lang="fr-FR" sz="1000" b="0" u="none" strike="noStrike">
              <a:solidFill>
                <a:srgbClr val="000000"/>
              </a:solidFill>
              <a:effectLst/>
              <a:uFillTx/>
              <a:latin typeface="Arial"/>
            </a:endParaRPr>
          </a:p>
        </p:txBody>
      </p:sp>
      <p:sp>
        <p:nvSpPr>
          <p:cNvPr id="79" name="Rounded Rectangle 7"/>
          <p:cNvSpPr/>
          <p:nvPr/>
        </p:nvSpPr>
        <p:spPr>
          <a:xfrm>
            <a:off x="731520" y="1371600"/>
            <a:ext cx="10698120" cy="1279800"/>
          </a:xfrm>
          <a:prstGeom prst="roundRect">
            <a:avLst>
              <a:gd name="adj" fmla="val 8571"/>
            </a:avLst>
          </a:prstGeom>
          <a:solidFill>
            <a:srgbClr val="EFF6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600" b="1" u="none" strike="noStrike">
                <a:solidFill>
                  <a:srgbClr val="1E3A8A"/>
                </a:solidFill>
                <a:effectLst/>
                <a:uFillTx/>
                <a:latin typeface="Segoe UI"/>
              </a:rPr>
              <a:t>Qui recrute en France, où, pour quels métiers et à quel salaire ?</a:t>
            </a:r>
            <a:endParaRPr lang="fr-FR" sz="2600" b="0" u="none" strike="noStrike">
              <a:solidFill>
                <a:srgbClr val="000000"/>
              </a:solidFill>
              <a:effectLst/>
              <a:uFillTx/>
              <a:latin typeface="Arial"/>
            </a:endParaRPr>
          </a:p>
        </p:txBody>
      </p:sp>
      <p:sp>
        <p:nvSpPr>
          <p:cNvPr id="80" name="Rounded Rectangle 8"/>
          <p:cNvSpPr/>
          <p:nvPr/>
        </p:nvSpPr>
        <p:spPr>
          <a:xfrm>
            <a:off x="731520" y="3108960"/>
            <a:ext cx="3382920" cy="3017160"/>
          </a:xfrm>
          <a:prstGeom prst="roundRect">
            <a:avLst>
              <a:gd name="adj" fmla="val 363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1" name="Rectangle 9"/>
          <p:cNvSpPr/>
          <p:nvPr/>
        </p:nvSpPr>
        <p:spPr>
          <a:xfrm>
            <a:off x="731520" y="3108960"/>
            <a:ext cx="3382920" cy="10944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2" name="TextBox 10"/>
          <p:cNvSpPr/>
          <p:nvPr/>
        </p:nvSpPr>
        <p:spPr>
          <a:xfrm>
            <a:off x="914400" y="3337560"/>
            <a:ext cx="301716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DC2626"/>
                </a:solidFill>
                <a:effectLst/>
                <a:uFillTx/>
                <a:latin typeface="Segoe UI"/>
              </a:rPr>
              <a:t>Le problème</a:t>
            </a:r>
            <a:endParaRPr lang="fr-FR" sz="1900" b="0" u="none" strike="noStrike">
              <a:solidFill>
                <a:srgbClr val="000000"/>
              </a:solidFill>
              <a:effectLst/>
              <a:uFillTx/>
              <a:latin typeface="Arial"/>
            </a:endParaRPr>
          </a:p>
        </p:txBody>
      </p:sp>
      <p:sp>
        <p:nvSpPr>
          <p:cNvPr id="83" name="TextBox 11"/>
          <p:cNvSpPr/>
          <p:nvPr/>
        </p:nvSpPr>
        <p:spPr>
          <a:xfrm>
            <a:off x="914400" y="3931920"/>
            <a:ext cx="3017160" cy="21027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Les offres sont nombreuses, dispersées et écrites librement : impossible de les comparer telles quelles.</a:t>
            </a:r>
            <a:endParaRPr lang="fr-FR" sz="1600" b="0" u="none" strike="noStrike">
              <a:solidFill>
                <a:srgbClr val="000000"/>
              </a:solidFill>
              <a:effectLst/>
              <a:uFillTx/>
              <a:latin typeface="Arial"/>
            </a:endParaRPr>
          </a:p>
        </p:txBody>
      </p:sp>
      <p:sp>
        <p:nvSpPr>
          <p:cNvPr id="84" name="Rounded Rectangle 12"/>
          <p:cNvSpPr/>
          <p:nvPr/>
        </p:nvSpPr>
        <p:spPr>
          <a:xfrm>
            <a:off x="4389120" y="3108960"/>
            <a:ext cx="3382920" cy="3017160"/>
          </a:xfrm>
          <a:prstGeom prst="roundRect">
            <a:avLst>
              <a:gd name="adj" fmla="val 363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5" name="Rectangle 13"/>
          <p:cNvSpPr/>
          <p:nvPr/>
        </p:nvSpPr>
        <p:spPr>
          <a:xfrm>
            <a:off x="4389120" y="3108960"/>
            <a:ext cx="3382920" cy="10944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6" name="TextBox 14"/>
          <p:cNvSpPr/>
          <p:nvPr/>
        </p:nvSpPr>
        <p:spPr>
          <a:xfrm>
            <a:off x="4572000" y="3337560"/>
            <a:ext cx="301716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2563EB"/>
                </a:solidFill>
                <a:effectLst/>
                <a:uFillTx/>
                <a:latin typeface="Segoe UI"/>
              </a:rPr>
              <a:t>Mon objectif</a:t>
            </a:r>
            <a:endParaRPr lang="fr-FR" sz="1900" b="0" u="none" strike="noStrike">
              <a:solidFill>
                <a:srgbClr val="000000"/>
              </a:solidFill>
              <a:effectLst/>
              <a:uFillTx/>
              <a:latin typeface="Arial"/>
            </a:endParaRPr>
          </a:p>
        </p:txBody>
      </p:sp>
      <p:sp>
        <p:nvSpPr>
          <p:cNvPr id="87" name="TextBox 15"/>
          <p:cNvSpPr/>
          <p:nvPr/>
        </p:nvSpPr>
        <p:spPr>
          <a:xfrm>
            <a:off x="4572000" y="3931920"/>
            <a:ext cx="3017160" cy="21027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Les rassembler automatiquement, les rendre fiables et les présenter simplement.</a:t>
            </a:r>
            <a:endParaRPr lang="fr-FR" sz="1600" b="0" u="none" strike="noStrike">
              <a:solidFill>
                <a:srgbClr val="000000"/>
              </a:solidFill>
              <a:effectLst/>
              <a:uFillTx/>
              <a:latin typeface="Arial"/>
            </a:endParaRPr>
          </a:p>
        </p:txBody>
      </p:sp>
      <p:sp>
        <p:nvSpPr>
          <p:cNvPr id="88" name="Rounded Rectangle 16"/>
          <p:cNvSpPr/>
          <p:nvPr/>
        </p:nvSpPr>
        <p:spPr>
          <a:xfrm>
            <a:off x="8046720" y="3108960"/>
            <a:ext cx="3382920" cy="3017160"/>
          </a:xfrm>
          <a:prstGeom prst="roundRect">
            <a:avLst>
              <a:gd name="adj" fmla="val 363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9" name="Rectangle 17"/>
          <p:cNvSpPr/>
          <p:nvPr/>
        </p:nvSpPr>
        <p:spPr>
          <a:xfrm>
            <a:off x="8046720" y="3108960"/>
            <a:ext cx="3382920" cy="109440"/>
          </a:xfrm>
          <a:prstGeom prst="rect">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0" name="TextBox 18"/>
          <p:cNvSpPr/>
          <p:nvPr/>
        </p:nvSpPr>
        <p:spPr>
          <a:xfrm>
            <a:off x="8229600" y="3337560"/>
            <a:ext cx="301716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16A34A"/>
                </a:solidFill>
                <a:effectLst/>
                <a:uFillTx/>
                <a:latin typeface="Segoe UI"/>
              </a:rPr>
              <a:t>À qui ça sert</a:t>
            </a:r>
            <a:endParaRPr lang="fr-FR" sz="1900" b="0" u="none" strike="noStrike">
              <a:solidFill>
                <a:srgbClr val="000000"/>
              </a:solidFill>
              <a:effectLst/>
              <a:uFillTx/>
              <a:latin typeface="Arial"/>
            </a:endParaRPr>
          </a:p>
        </p:txBody>
      </p:sp>
      <p:sp>
        <p:nvSpPr>
          <p:cNvPr id="91" name="TextBox 19"/>
          <p:cNvSpPr/>
          <p:nvPr/>
        </p:nvSpPr>
        <p:spPr>
          <a:xfrm>
            <a:off x="8229600" y="3931920"/>
            <a:ext cx="3017160" cy="21027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Demandeurs d'emploi, organismes de formation, collectivités et recruteurs.</a:t>
            </a:r>
            <a:endParaRPr lang="fr-FR"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3"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Le projet en quatre étapes</a:t>
            </a:r>
            <a:endParaRPr lang="fr-FR" sz="2800" b="0" u="none" strike="noStrike">
              <a:solidFill>
                <a:srgbClr val="000000"/>
              </a:solidFill>
              <a:effectLst/>
              <a:uFillTx/>
              <a:latin typeface="Arial"/>
            </a:endParaRPr>
          </a:p>
        </p:txBody>
      </p:sp>
      <p:sp>
        <p:nvSpPr>
          <p:cNvPr id="94"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Introduction</a:t>
            </a:r>
            <a:endParaRPr lang="fr-FR" sz="1300" b="0" u="none" strike="noStrike">
              <a:solidFill>
                <a:srgbClr val="000000"/>
              </a:solidFill>
              <a:effectLst/>
              <a:uFillTx/>
              <a:latin typeface="Arial"/>
            </a:endParaRPr>
          </a:p>
        </p:txBody>
      </p:sp>
      <p:sp>
        <p:nvSpPr>
          <p:cNvPr id="95"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6"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97"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3 / 17</a:t>
            </a:r>
            <a:endParaRPr lang="fr-FR" sz="1000" b="0" u="none" strike="noStrike">
              <a:solidFill>
                <a:srgbClr val="000000"/>
              </a:solidFill>
              <a:effectLst/>
              <a:uFillTx/>
              <a:latin typeface="Arial"/>
            </a:endParaRPr>
          </a:p>
        </p:txBody>
      </p:sp>
      <p:sp>
        <p:nvSpPr>
          <p:cNvPr id="98" name="Oval 7"/>
          <p:cNvSpPr/>
          <p:nvPr/>
        </p:nvSpPr>
        <p:spPr>
          <a:xfrm>
            <a:off x="1371600" y="1280160"/>
            <a:ext cx="1005480" cy="1005480"/>
          </a:xfrm>
          <a:prstGeom prst="ellipse">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800" b="1" u="none" strike="noStrike">
                <a:solidFill>
                  <a:srgbClr val="FFFFFF"/>
                </a:solidFill>
                <a:effectLst/>
                <a:uFillTx/>
                <a:latin typeface="Segoe UI"/>
              </a:rPr>
              <a:t>1</a:t>
            </a:r>
            <a:endParaRPr lang="fr-FR" sz="2800" b="0" u="none" strike="noStrike">
              <a:solidFill>
                <a:srgbClr val="FFFFFF"/>
              </a:solidFill>
              <a:effectLst/>
              <a:uFillTx/>
              <a:latin typeface="Arial"/>
            </a:endParaRPr>
          </a:p>
        </p:txBody>
      </p:sp>
      <p:sp>
        <p:nvSpPr>
          <p:cNvPr id="99" name="TextBox 8"/>
          <p:cNvSpPr/>
          <p:nvPr/>
        </p:nvSpPr>
        <p:spPr>
          <a:xfrm>
            <a:off x="2743200" y="1325880"/>
            <a:ext cx="7772040" cy="50256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2600" b="1" u="none" strike="noStrike">
                <a:solidFill>
                  <a:srgbClr val="1E3A8A"/>
                </a:solidFill>
                <a:effectLst/>
                <a:uFillTx/>
                <a:latin typeface="Segoe UI"/>
              </a:rPr>
              <a:t>Organiser</a:t>
            </a:r>
            <a:endParaRPr lang="fr-FR" sz="2600" b="0" u="none" strike="noStrike">
              <a:solidFill>
                <a:srgbClr val="000000"/>
              </a:solidFill>
              <a:effectLst/>
              <a:uFillTx/>
              <a:latin typeface="Arial"/>
            </a:endParaRPr>
          </a:p>
        </p:txBody>
      </p:sp>
      <p:sp>
        <p:nvSpPr>
          <p:cNvPr id="100" name="TextBox 9"/>
          <p:cNvSpPr/>
          <p:nvPr/>
        </p:nvSpPr>
        <p:spPr>
          <a:xfrm>
            <a:off x="2743200" y="1828800"/>
            <a:ext cx="7772040" cy="45684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1800" b="0" u="none" strike="noStrike">
                <a:solidFill>
                  <a:srgbClr val="6B7280"/>
                </a:solidFill>
                <a:effectLst/>
                <a:uFillTx/>
                <a:latin typeface="Segoe UI"/>
              </a:rPr>
              <a:t>Ranger chaque information à sa place (TP1)</a:t>
            </a:r>
            <a:endParaRPr lang="fr-FR" sz="1800" b="0" u="none" strike="noStrike">
              <a:solidFill>
                <a:srgbClr val="000000"/>
              </a:solidFill>
              <a:effectLst/>
              <a:uFillTx/>
              <a:latin typeface="Arial"/>
            </a:endParaRPr>
          </a:p>
        </p:txBody>
      </p:sp>
      <p:sp>
        <p:nvSpPr>
          <p:cNvPr id="101" name="Oval 10"/>
          <p:cNvSpPr/>
          <p:nvPr/>
        </p:nvSpPr>
        <p:spPr>
          <a:xfrm>
            <a:off x="1371600" y="2560320"/>
            <a:ext cx="1005480" cy="1005480"/>
          </a:xfrm>
          <a:prstGeom prst="ellipse">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800" b="1" u="none" strike="noStrike">
                <a:solidFill>
                  <a:srgbClr val="FFFFFF"/>
                </a:solidFill>
                <a:effectLst/>
                <a:uFillTx/>
                <a:latin typeface="Segoe UI"/>
              </a:rPr>
              <a:t>2</a:t>
            </a:r>
            <a:endParaRPr lang="fr-FR" sz="2800" b="0" u="none" strike="noStrike">
              <a:solidFill>
                <a:srgbClr val="FFFFFF"/>
              </a:solidFill>
              <a:effectLst/>
              <a:uFillTx/>
              <a:latin typeface="Arial"/>
            </a:endParaRPr>
          </a:p>
        </p:txBody>
      </p:sp>
      <p:sp>
        <p:nvSpPr>
          <p:cNvPr id="102" name="TextBox 11"/>
          <p:cNvSpPr/>
          <p:nvPr/>
        </p:nvSpPr>
        <p:spPr>
          <a:xfrm>
            <a:off x="2743200" y="2606040"/>
            <a:ext cx="7772040" cy="50256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2600" b="1" u="none" strike="noStrike">
                <a:solidFill>
                  <a:srgbClr val="2563EB"/>
                </a:solidFill>
                <a:effectLst/>
                <a:uFillTx/>
                <a:latin typeface="Segoe UI"/>
              </a:rPr>
              <a:t>Automatiser</a:t>
            </a:r>
            <a:endParaRPr lang="fr-FR" sz="2600" b="0" u="none" strike="noStrike">
              <a:solidFill>
                <a:srgbClr val="000000"/>
              </a:solidFill>
              <a:effectLst/>
              <a:uFillTx/>
              <a:latin typeface="Arial"/>
            </a:endParaRPr>
          </a:p>
        </p:txBody>
      </p:sp>
      <p:sp>
        <p:nvSpPr>
          <p:cNvPr id="103" name="TextBox 12"/>
          <p:cNvSpPr/>
          <p:nvPr/>
        </p:nvSpPr>
        <p:spPr>
          <a:xfrm>
            <a:off x="2743200" y="3108960"/>
            <a:ext cx="7772040" cy="45684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1800" b="0" u="none" strike="noStrike">
                <a:solidFill>
                  <a:srgbClr val="6B7280"/>
                </a:solidFill>
                <a:effectLst/>
                <a:uFillTx/>
                <a:latin typeface="Segoe UI"/>
              </a:rPr>
              <a:t>Recevoir les nouvelles offres sans intervention (TP2)</a:t>
            </a:r>
            <a:endParaRPr lang="fr-FR" sz="1800" b="0" u="none" strike="noStrike">
              <a:solidFill>
                <a:srgbClr val="000000"/>
              </a:solidFill>
              <a:effectLst/>
              <a:uFillTx/>
              <a:latin typeface="Arial"/>
            </a:endParaRPr>
          </a:p>
        </p:txBody>
      </p:sp>
      <p:sp>
        <p:nvSpPr>
          <p:cNvPr id="104" name="Oval 13"/>
          <p:cNvSpPr/>
          <p:nvPr/>
        </p:nvSpPr>
        <p:spPr>
          <a:xfrm>
            <a:off x="1371600" y="3840480"/>
            <a:ext cx="1005480" cy="1005480"/>
          </a:xfrm>
          <a:prstGeom prst="ellipse">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800" b="1" u="none" strike="noStrike">
                <a:solidFill>
                  <a:srgbClr val="FFFFFF"/>
                </a:solidFill>
                <a:effectLst/>
                <a:uFillTx/>
                <a:latin typeface="Segoe UI"/>
              </a:rPr>
              <a:t>3</a:t>
            </a:r>
            <a:endParaRPr lang="fr-FR" sz="2800" b="0" u="none" strike="noStrike">
              <a:solidFill>
                <a:srgbClr val="FFFFFF"/>
              </a:solidFill>
              <a:effectLst/>
              <a:uFillTx/>
              <a:latin typeface="Arial"/>
            </a:endParaRPr>
          </a:p>
        </p:txBody>
      </p:sp>
      <p:sp>
        <p:nvSpPr>
          <p:cNvPr id="105" name="TextBox 14"/>
          <p:cNvSpPr/>
          <p:nvPr/>
        </p:nvSpPr>
        <p:spPr>
          <a:xfrm>
            <a:off x="2743200" y="3886200"/>
            <a:ext cx="7772040" cy="50256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2600" b="1" u="none" strike="noStrike">
                <a:solidFill>
                  <a:srgbClr val="EA580C"/>
                </a:solidFill>
                <a:effectLst/>
                <a:uFillTx/>
                <a:latin typeface="Segoe UI"/>
              </a:rPr>
              <a:t>Vérifier</a:t>
            </a:r>
            <a:endParaRPr lang="fr-FR" sz="2600" b="0" u="none" strike="noStrike">
              <a:solidFill>
                <a:srgbClr val="000000"/>
              </a:solidFill>
              <a:effectLst/>
              <a:uFillTx/>
              <a:latin typeface="Arial"/>
            </a:endParaRPr>
          </a:p>
        </p:txBody>
      </p:sp>
      <p:sp>
        <p:nvSpPr>
          <p:cNvPr id="106" name="TextBox 15"/>
          <p:cNvSpPr/>
          <p:nvPr/>
        </p:nvSpPr>
        <p:spPr>
          <a:xfrm>
            <a:off x="2743200" y="4389120"/>
            <a:ext cx="7772040" cy="45684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1800" b="0" u="none" strike="noStrike">
                <a:solidFill>
                  <a:srgbClr val="6B7280"/>
                </a:solidFill>
                <a:effectLst/>
                <a:uFillTx/>
                <a:latin typeface="Segoe UI"/>
              </a:rPr>
              <a:t>Détecter et corriger les erreurs (TP3)</a:t>
            </a:r>
            <a:endParaRPr lang="fr-FR" sz="1800" b="0" u="none" strike="noStrike">
              <a:solidFill>
                <a:srgbClr val="000000"/>
              </a:solidFill>
              <a:effectLst/>
              <a:uFillTx/>
              <a:latin typeface="Arial"/>
            </a:endParaRPr>
          </a:p>
        </p:txBody>
      </p:sp>
      <p:sp>
        <p:nvSpPr>
          <p:cNvPr id="107" name="Oval 16"/>
          <p:cNvSpPr/>
          <p:nvPr/>
        </p:nvSpPr>
        <p:spPr>
          <a:xfrm>
            <a:off x="1371600" y="5120640"/>
            <a:ext cx="1005480" cy="1005480"/>
          </a:xfrm>
          <a:prstGeom prst="ellipse">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800" b="1" u="none" strike="noStrike">
                <a:solidFill>
                  <a:srgbClr val="FFFFFF"/>
                </a:solidFill>
                <a:effectLst/>
                <a:uFillTx/>
                <a:latin typeface="Segoe UI"/>
              </a:rPr>
              <a:t>4</a:t>
            </a:r>
            <a:endParaRPr lang="fr-FR" sz="2800" b="0" u="none" strike="noStrike">
              <a:solidFill>
                <a:srgbClr val="FFFFFF"/>
              </a:solidFill>
              <a:effectLst/>
              <a:uFillTx/>
              <a:latin typeface="Arial"/>
            </a:endParaRPr>
          </a:p>
        </p:txBody>
      </p:sp>
      <p:sp>
        <p:nvSpPr>
          <p:cNvPr id="108" name="TextBox 17"/>
          <p:cNvSpPr/>
          <p:nvPr/>
        </p:nvSpPr>
        <p:spPr>
          <a:xfrm>
            <a:off x="2743200" y="5166360"/>
            <a:ext cx="7772040" cy="50256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2600" b="1" u="none" strike="noStrike">
                <a:solidFill>
                  <a:srgbClr val="16A34A"/>
                </a:solidFill>
                <a:effectLst/>
                <a:uFillTx/>
                <a:latin typeface="Segoe UI"/>
              </a:rPr>
              <a:t>Montrer</a:t>
            </a:r>
            <a:endParaRPr lang="fr-FR" sz="2600" b="0" u="none" strike="noStrike">
              <a:solidFill>
                <a:srgbClr val="000000"/>
              </a:solidFill>
              <a:effectLst/>
              <a:uFillTx/>
              <a:latin typeface="Arial"/>
            </a:endParaRPr>
          </a:p>
        </p:txBody>
      </p:sp>
      <p:sp>
        <p:nvSpPr>
          <p:cNvPr id="109" name="TextBox 18"/>
          <p:cNvSpPr/>
          <p:nvPr/>
        </p:nvSpPr>
        <p:spPr>
          <a:xfrm>
            <a:off x="2743200" y="5669280"/>
            <a:ext cx="7772040" cy="456840"/>
          </a:xfrm>
          <a:prstGeom prst="rect">
            <a:avLst/>
          </a:prstGeom>
          <a:noFill/>
          <a:ln w="0">
            <a:noFill/>
          </a:ln>
        </p:spPr>
        <p:style>
          <a:lnRef idx="0"/>
          <a:fillRef idx="0"/>
          <a:effectRef idx="0"/>
          <a:fontRef idx="minor"/>
        </p:style>
        <p:txBody>
          <a:bodyPr lIns="45720" tIns="45000" rIns="45720" bIns="45000" anchor="t">
            <a:spAutoFit/>
          </a:bodyPr>
          <a:p>
            <a:pPr defTabSz="457200">
              <a:lnSpc>
                <a:spcPct val="100000"/>
              </a:lnSpc>
            </a:pPr>
            <a:r>
              <a:rPr lang="en-US" sz="1800" b="0" u="none" strike="noStrike">
                <a:solidFill>
                  <a:srgbClr val="6B7280"/>
                </a:solidFill>
                <a:effectLst/>
                <a:uFillTx/>
                <a:latin typeface="Segoe UI"/>
              </a:rPr>
              <a:t>Ce que les données nous apprennent</a:t>
            </a:r>
            <a:endParaRPr lang="fr-FR"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1"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D'où viennent les données ?</a:t>
            </a:r>
            <a:endParaRPr lang="fr-FR" sz="2800" b="0" u="none" strike="noStrike">
              <a:solidFill>
                <a:srgbClr val="000000"/>
              </a:solidFill>
              <a:effectLst/>
              <a:uFillTx/>
              <a:latin typeface="Arial"/>
            </a:endParaRPr>
          </a:p>
        </p:txBody>
      </p:sp>
      <p:sp>
        <p:nvSpPr>
          <p:cNvPr id="112"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Les sources</a:t>
            </a:r>
            <a:endParaRPr lang="fr-FR" sz="1300" b="0" u="none" strike="noStrike">
              <a:solidFill>
                <a:srgbClr val="000000"/>
              </a:solidFill>
              <a:effectLst/>
              <a:uFillTx/>
              <a:latin typeface="Arial"/>
            </a:endParaRPr>
          </a:p>
        </p:txBody>
      </p:sp>
      <p:sp>
        <p:nvSpPr>
          <p:cNvPr id="113"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4"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115"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4 / 17</a:t>
            </a:r>
            <a:endParaRPr lang="fr-FR" sz="1000" b="0" u="none" strike="noStrike">
              <a:solidFill>
                <a:srgbClr val="000000"/>
              </a:solidFill>
              <a:effectLst/>
              <a:uFillTx/>
              <a:latin typeface="Arial"/>
            </a:endParaRPr>
          </a:p>
        </p:txBody>
      </p:sp>
      <p:sp>
        <p:nvSpPr>
          <p:cNvPr id="116" name="Rounded Rectangle 7"/>
          <p:cNvSpPr/>
          <p:nvPr/>
        </p:nvSpPr>
        <p:spPr>
          <a:xfrm>
            <a:off x="731520" y="1371600"/>
            <a:ext cx="4937400" cy="3017160"/>
          </a:xfrm>
          <a:prstGeom prst="roundRect">
            <a:avLst>
              <a:gd name="adj" fmla="val 363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7" name="Rectangle 8"/>
          <p:cNvSpPr/>
          <p:nvPr/>
        </p:nvSpPr>
        <p:spPr>
          <a:xfrm>
            <a:off x="731520" y="1371600"/>
            <a:ext cx="4937400" cy="10944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8" name="TextBox 9"/>
          <p:cNvSpPr/>
          <p:nvPr/>
        </p:nvSpPr>
        <p:spPr>
          <a:xfrm>
            <a:off x="914400" y="1600200"/>
            <a:ext cx="457164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1E3A8A"/>
                </a:solidFill>
                <a:effectLst/>
                <a:uFillTx/>
                <a:latin typeface="Segoe UI"/>
              </a:rPr>
              <a:t>France Travail</a:t>
            </a:r>
            <a:endParaRPr lang="fr-FR" sz="1900" b="0" u="none" strike="noStrike">
              <a:solidFill>
                <a:srgbClr val="000000"/>
              </a:solidFill>
              <a:effectLst/>
              <a:uFillTx/>
              <a:latin typeface="Arial"/>
            </a:endParaRPr>
          </a:p>
        </p:txBody>
      </p:sp>
      <p:sp>
        <p:nvSpPr>
          <p:cNvPr id="119" name="TextBox 10"/>
          <p:cNvSpPr/>
          <p:nvPr/>
        </p:nvSpPr>
        <p:spPr>
          <a:xfrm>
            <a:off x="914400" y="2194560"/>
            <a:ext cx="4571640" cy="21027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L'ancien Pôle emploi</a:t>
            </a:r>
            <a:endParaRPr lang="fr-FR" sz="1600" b="0" u="none" strike="noStrike">
              <a:solidFill>
                <a:srgbClr val="000000"/>
              </a:solidFill>
              <a:effectLst/>
              <a:uFillTx/>
              <a:latin typeface="Arial"/>
            </a:endParaRPr>
          </a:p>
          <a:p>
            <a:pPr algn="ctr" defTabSz="457200">
              <a:lnSpc>
                <a:spcPct val="100000"/>
              </a:lnSpc>
            </a:pPr>
            <a:endParaRPr lang="fr-FR" sz="1600" b="0" u="none" strike="noStrike">
              <a:solidFill>
                <a:srgbClr val="000000"/>
              </a:solidFill>
              <a:effectLst/>
              <a:uFillTx/>
              <a:latin typeface="Arial"/>
            </a:endParaRPr>
          </a:p>
          <a:p>
            <a:pPr algn="ctr" defTabSz="457200">
              <a:lnSpc>
                <a:spcPct val="100000"/>
              </a:lnSpc>
            </a:pPr>
            <a:r>
              <a:rPr lang="en-US" sz="1600" b="0" u="none" strike="noStrike">
                <a:solidFill>
                  <a:srgbClr val="111827"/>
                </a:solidFill>
                <a:effectLst/>
                <a:uFillTx/>
                <a:latin typeface="Segoe UI"/>
              </a:rPr>
              <a:t>Les offres d'emploi publiées partout en France : poste, contrat, salaire, entreprise, compétences demandées</a:t>
            </a:r>
            <a:endParaRPr lang="fr-FR" sz="1600" b="0" u="none" strike="noStrike">
              <a:solidFill>
                <a:srgbClr val="000000"/>
              </a:solidFill>
              <a:effectLst/>
              <a:uFillTx/>
              <a:latin typeface="Arial"/>
            </a:endParaRPr>
          </a:p>
        </p:txBody>
      </p:sp>
      <p:sp>
        <p:nvSpPr>
          <p:cNvPr id="120" name="Rounded Rectangle 11"/>
          <p:cNvSpPr/>
          <p:nvPr/>
        </p:nvSpPr>
        <p:spPr>
          <a:xfrm>
            <a:off x="6492240" y="1371600"/>
            <a:ext cx="4937400" cy="3017160"/>
          </a:xfrm>
          <a:prstGeom prst="roundRect">
            <a:avLst>
              <a:gd name="adj" fmla="val 363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1" name="Rectangle 12"/>
          <p:cNvSpPr/>
          <p:nvPr/>
        </p:nvSpPr>
        <p:spPr>
          <a:xfrm>
            <a:off x="6492240" y="1371600"/>
            <a:ext cx="4937400" cy="10944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2" name="TextBox 13"/>
          <p:cNvSpPr/>
          <p:nvPr/>
        </p:nvSpPr>
        <p:spPr>
          <a:xfrm>
            <a:off x="6675120" y="1600200"/>
            <a:ext cx="457164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2563EB"/>
                </a:solidFill>
                <a:effectLst/>
                <a:uFillTx/>
                <a:latin typeface="Segoe UI"/>
              </a:rPr>
              <a:t>Liste officielle des communes</a:t>
            </a:r>
            <a:endParaRPr lang="fr-FR" sz="1900" b="0" u="none" strike="noStrike">
              <a:solidFill>
                <a:srgbClr val="000000"/>
              </a:solidFill>
              <a:effectLst/>
              <a:uFillTx/>
              <a:latin typeface="Arial"/>
            </a:endParaRPr>
          </a:p>
        </p:txBody>
      </p:sp>
      <p:sp>
        <p:nvSpPr>
          <p:cNvPr id="123" name="TextBox 14"/>
          <p:cNvSpPr/>
          <p:nvPr/>
        </p:nvSpPr>
        <p:spPr>
          <a:xfrm>
            <a:off x="6675120" y="2194560"/>
            <a:ext cx="4571640" cy="21027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Publiée par l'État</a:t>
            </a:r>
            <a:endParaRPr lang="fr-FR" sz="1600" b="0" u="none" strike="noStrike">
              <a:solidFill>
                <a:srgbClr val="000000"/>
              </a:solidFill>
              <a:effectLst/>
              <a:uFillTx/>
              <a:latin typeface="Arial"/>
            </a:endParaRPr>
          </a:p>
          <a:p>
            <a:pPr algn="ctr" defTabSz="457200">
              <a:lnSpc>
                <a:spcPct val="100000"/>
              </a:lnSpc>
            </a:pPr>
            <a:endParaRPr lang="fr-FR" sz="1600" b="0" u="none" strike="noStrike">
              <a:solidFill>
                <a:srgbClr val="000000"/>
              </a:solidFill>
              <a:effectLst/>
              <a:uFillTx/>
              <a:latin typeface="Arial"/>
            </a:endParaRPr>
          </a:p>
          <a:p>
            <a:pPr algn="ctr" defTabSz="457200">
              <a:lnSpc>
                <a:spcPct val="100000"/>
              </a:lnSpc>
            </a:pPr>
            <a:r>
              <a:rPr lang="en-US" sz="1600" b="0" u="none" strike="noStrike">
                <a:solidFill>
                  <a:srgbClr val="111827"/>
                </a:solidFill>
                <a:effectLst/>
                <a:uFillTx/>
                <a:latin typeface="Segoe UI"/>
              </a:rPr>
              <a:t>Le nom exact et la position sur la carte de chaque commune française</a:t>
            </a:r>
            <a:endParaRPr lang="fr-FR" sz="1600" b="0" u="none" strike="noStrike">
              <a:solidFill>
                <a:srgbClr val="000000"/>
              </a:solidFill>
              <a:effectLst/>
              <a:uFillTx/>
              <a:latin typeface="Arial"/>
            </a:endParaRPr>
          </a:p>
        </p:txBody>
      </p:sp>
      <p:sp>
        <p:nvSpPr>
          <p:cNvPr id="124" name="Left-Right Arrow 15"/>
          <p:cNvSpPr/>
          <p:nvPr/>
        </p:nvSpPr>
        <p:spPr>
          <a:xfrm>
            <a:off x="5715000" y="2468880"/>
            <a:ext cx="731160" cy="731160"/>
          </a:xfrm>
          <a:prstGeom prst="leftRightArrow">
            <a:avLst>
              <a:gd name="adj1" fmla="val 50000"/>
              <a:gd name="adj2" fmla="val 50000"/>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5" name="Rounded Rectangle 16"/>
          <p:cNvSpPr/>
          <p:nvPr/>
        </p:nvSpPr>
        <p:spPr>
          <a:xfrm>
            <a:off x="548640" y="4754880"/>
            <a:ext cx="11063880" cy="1188360"/>
          </a:xfrm>
          <a:prstGeom prst="roundRect">
            <a:avLst>
              <a:gd name="adj" fmla="val 9230"/>
            </a:avLst>
          </a:prstGeom>
          <a:solidFill>
            <a:srgbClr val="EFF6FF"/>
          </a:solidFill>
          <a:ln w="15875">
            <a:solidFill>
              <a:srgbClr val="16A34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111827"/>
                </a:solidFill>
                <a:effectLst/>
                <a:uFillTx/>
                <a:latin typeface="Segoe UI"/>
              </a:rPr>
              <a:t>Les deux sources sont reliées par la commune de l'offre</a:t>
            </a:r>
            <a:endParaRPr lang="fr-FR" sz="1800" b="0" u="none" strike="noStrike">
              <a:solidFill>
                <a:srgbClr val="000000"/>
              </a:solidFill>
              <a:effectLst/>
              <a:uFillTx/>
              <a:latin typeface="Arial"/>
            </a:endParaRPr>
          </a:p>
          <a:p>
            <a:pPr algn="ctr" defTabSz="457200">
              <a:lnSpc>
                <a:spcPct val="100000"/>
              </a:lnSpc>
            </a:pPr>
            <a:r>
              <a:rPr lang="en-US" sz="1500" b="0" u="none" strike="noStrike">
                <a:solidFill>
                  <a:srgbClr val="111827"/>
                </a:solidFill>
                <a:effectLst/>
                <a:uFillTx/>
                <a:latin typeface="Segoe UI"/>
              </a:rPr>
              <a:t>Résultat : 98 % des offres placées précisément sur la carte</a:t>
            </a:r>
            <a:endParaRPr lang="fr-FR"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7"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Étape 1 : ranger chaque information à sa place</a:t>
            </a:r>
            <a:endParaRPr lang="fr-FR" sz="2800" b="0" u="none" strike="noStrike">
              <a:solidFill>
                <a:srgbClr val="000000"/>
              </a:solidFill>
              <a:effectLst/>
              <a:uFillTx/>
              <a:latin typeface="Arial"/>
            </a:endParaRPr>
          </a:p>
        </p:txBody>
      </p:sp>
      <p:sp>
        <p:nvSpPr>
          <p:cNvPr id="128"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TP1 — Organiser</a:t>
            </a:r>
            <a:endParaRPr lang="fr-FR" sz="1300" b="0" u="none" strike="noStrike">
              <a:solidFill>
                <a:srgbClr val="000000"/>
              </a:solidFill>
              <a:effectLst/>
              <a:uFillTx/>
              <a:latin typeface="Arial"/>
            </a:endParaRPr>
          </a:p>
        </p:txBody>
      </p:sp>
      <p:sp>
        <p:nvSpPr>
          <p:cNvPr id="129"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0"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131"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5 / 17</a:t>
            </a:r>
            <a:endParaRPr lang="fr-FR" sz="1000" b="0" u="none" strike="noStrike">
              <a:solidFill>
                <a:srgbClr val="000000"/>
              </a:solidFill>
              <a:effectLst/>
              <a:uFillTx/>
              <a:latin typeface="Arial"/>
            </a:endParaRPr>
          </a:p>
        </p:txBody>
      </p:sp>
      <p:sp>
        <p:nvSpPr>
          <p:cNvPr id="132" name="Rounded Rectangle 7"/>
          <p:cNvSpPr/>
          <p:nvPr/>
        </p:nvSpPr>
        <p:spPr>
          <a:xfrm>
            <a:off x="548640" y="1280160"/>
            <a:ext cx="3474360" cy="1599840"/>
          </a:xfrm>
          <a:prstGeom prst="roundRect">
            <a:avLst>
              <a:gd name="adj" fmla="val 6857"/>
            </a:avLst>
          </a:prstGeom>
          <a:solidFill>
            <a:srgbClr val="FFFFFF"/>
          </a:solidFill>
          <a:ln w="15875">
            <a:solidFill>
              <a:srgbClr val="1E3A8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3" name="Rounded Rectangle 8"/>
          <p:cNvSpPr/>
          <p:nvPr/>
        </p:nvSpPr>
        <p:spPr>
          <a:xfrm>
            <a:off x="548640" y="1280160"/>
            <a:ext cx="3474360" cy="594000"/>
          </a:xfrm>
          <a:prstGeom prst="roundRect">
            <a:avLst>
              <a:gd name="adj" fmla="val 18461"/>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Offres</a:t>
            </a:r>
            <a:endParaRPr lang="fr-FR" sz="1800" b="0" u="none" strike="noStrike">
              <a:solidFill>
                <a:srgbClr val="FFFFFF"/>
              </a:solidFill>
              <a:effectLst/>
              <a:uFillTx/>
              <a:latin typeface="Arial"/>
            </a:endParaRPr>
          </a:p>
        </p:txBody>
      </p:sp>
      <p:sp>
        <p:nvSpPr>
          <p:cNvPr id="134" name="TextBox 9"/>
          <p:cNvSpPr/>
          <p:nvPr/>
        </p:nvSpPr>
        <p:spPr>
          <a:xfrm>
            <a:off x="731520" y="20116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Le poste, le contrat, le salaire, la date</a:t>
            </a:r>
            <a:endParaRPr lang="fr-FR" sz="1500" b="0" u="none" strike="noStrike">
              <a:solidFill>
                <a:srgbClr val="000000"/>
              </a:solidFill>
              <a:effectLst/>
              <a:uFillTx/>
              <a:latin typeface="Arial"/>
            </a:endParaRPr>
          </a:p>
        </p:txBody>
      </p:sp>
      <p:sp>
        <p:nvSpPr>
          <p:cNvPr id="135" name="Rounded Rectangle 10"/>
          <p:cNvSpPr/>
          <p:nvPr/>
        </p:nvSpPr>
        <p:spPr>
          <a:xfrm>
            <a:off x="4297680" y="1280160"/>
            <a:ext cx="3474360" cy="1599840"/>
          </a:xfrm>
          <a:prstGeom prst="roundRect">
            <a:avLst>
              <a:gd name="adj" fmla="val 6857"/>
            </a:avLst>
          </a:prstGeom>
          <a:solidFill>
            <a:srgbClr val="FFFF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6" name="Rounded Rectangle 11"/>
          <p:cNvSpPr/>
          <p:nvPr/>
        </p:nvSpPr>
        <p:spPr>
          <a:xfrm>
            <a:off x="4297680" y="1280160"/>
            <a:ext cx="3474360" cy="594000"/>
          </a:xfrm>
          <a:prstGeom prst="roundRect">
            <a:avLst>
              <a:gd name="adj" fmla="val 18461"/>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Entreprises</a:t>
            </a:r>
            <a:endParaRPr lang="fr-FR" sz="1800" b="0" u="none" strike="noStrike">
              <a:solidFill>
                <a:srgbClr val="FFFFFF"/>
              </a:solidFill>
              <a:effectLst/>
              <a:uFillTx/>
              <a:latin typeface="Arial"/>
            </a:endParaRPr>
          </a:p>
        </p:txBody>
      </p:sp>
      <p:sp>
        <p:nvSpPr>
          <p:cNvPr id="137" name="TextBox 12"/>
          <p:cNvSpPr/>
          <p:nvPr/>
        </p:nvSpPr>
        <p:spPr>
          <a:xfrm>
            <a:off x="4480560" y="20116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Qui recrute</a:t>
            </a:r>
            <a:endParaRPr lang="fr-FR" sz="1500" b="0" u="none" strike="noStrike">
              <a:solidFill>
                <a:srgbClr val="000000"/>
              </a:solidFill>
              <a:effectLst/>
              <a:uFillTx/>
              <a:latin typeface="Arial"/>
            </a:endParaRPr>
          </a:p>
        </p:txBody>
      </p:sp>
      <p:sp>
        <p:nvSpPr>
          <p:cNvPr id="138" name="Rounded Rectangle 13"/>
          <p:cNvSpPr/>
          <p:nvPr/>
        </p:nvSpPr>
        <p:spPr>
          <a:xfrm>
            <a:off x="8046720" y="1280160"/>
            <a:ext cx="3474360" cy="1599840"/>
          </a:xfrm>
          <a:prstGeom prst="roundRect">
            <a:avLst>
              <a:gd name="adj" fmla="val 6857"/>
            </a:avLst>
          </a:prstGeom>
          <a:solidFill>
            <a:srgbClr val="FFFF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9" name="Rounded Rectangle 14"/>
          <p:cNvSpPr/>
          <p:nvPr/>
        </p:nvSpPr>
        <p:spPr>
          <a:xfrm>
            <a:off x="8046720" y="1280160"/>
            <a:ext cx="3474360" cy="594000"/>
          </a:xfrm>
          <a:prstGeom prst="roundRect">
            <a:avLst>
              <a:gd name="adj" fmla="val 18461"/>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Communes</a:t>
            </a:r>
            <a:endParaRPr lang="fr-FR" sz="1800" b="0" u="none" strike="noStrike">
              <a:solidFill>
                <a:srgbClr val="FFFFFF"/>
              </a:solidFill>
              <a:effectLst/>
              <a:uFillTx/>
              <a:latin typeface="Arial"/>
            </a:endParaRPr>
          </a:p>
        </p:txBody>
      </p:sp>
      <p:sp>
        <p:nvSpPr>
          <p:cNvPr id="140" name="TextBox 15"/>
          <p:cNvSpPr/>
          <p:nvPr/>
        </p:nvSpPr>
        <p:spPr>
          <a:xfrm>
            <a:off x="8229600" y="20116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Où se trouve le poste</a:t>
            </a:r>
            <a:endParaRPr lang="fr-FR" sz="1500" b="0" u="none" strike="noStrike">
              <a:solidFill>
                <a:srgbClr val="000000"/>
              </a:solidFill>
              <a:effectLst/>
              <a:uFillTx/>
              <a:latin typeface="Arial"/>
            </a:endParaRPr>
          </a:p>
        </p:txBody>
      </p:sp>
      <p:sp>
        <p:nvSpPr>
          <p:cNvPr id="141" name="Rounded Rectangle 16"/>
          <p:cNvSpPr/>
          <p:nvPr/>
        </p:nvSpPr>
        <p:spPr>
          <a:xfrm>
            <a:off x="548640" y="3108960"/>
            <a:ext cx="3474360" cy="1599840"/>
          </a:xfrm>
          <a:prstGeom prst="roundRect">
            <a:avLst>
              <a:gd name="adj" fmla="val 6857"/>
            </a:avLst>
          </a:prstGeom>
          <a:solidFill>
            <a:srgbClr val="FFFF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2" name="Rounded Rectangle 17"/>
          <p:cNvSpPr/>
          <p:nvPr/>
        </p:nvSpPr>
        <p:spPr>
          <a:xfrm>
            <a:off x="548640" y="3108960"/>
            <a:ext cx="3474360" cy="594000"/>
          </a:xfrm>
          <a:prstGeom prst="roundRect">
            <a:avLst>
              <a:gd name="adj" fmla="val 18461"/>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Métiers</a:t>
            </a:r>
            <a:endParaRPr lang="fr-FR" sz="1800" b="0" u="none" strike="noStrike">
              <a:solidFill>
                <a:srgbClr val="FFFFFF"/>
              </a:solidFill>
              <a:effectLst/>
              <a:uFillTx/>
              <a:latin typeface="Arial"/>
            </a:endParaRPr>
          </a:p>
        </p:txBody>
      </p:sp>
      <p:sp>
        <p:nvSpPr>
          <p:cNvPr id="143" name="TextBox 18"/>
          <p:cNvSpPr/>
          <p:nvPr/>
        </p:nvSpPr>
        <p:spPr>
          <a:xfrm>
            <a:off x="731520" y="38404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Le métier officiel et son secteur</a:t>
            </a:r>
            <a:endParaRPr lang="fr-FR" sz="1500" b="0" u="none" strike="noStrike">
              <a:solidFill>
                <a:srgbClr val="000000"/>
              </a:solidFill>
              <a:effectLst/>
              <a:uFillTx/>
              <a:latin typeface="Arial"/>
            </a:endParaRPr>
          </a:p>
        </p:txBody>
      </p:sp>
      <p:sp>
        <p:nvSpPr>
          <p:cNvPr id="144" name="Rounded Rectangle 19"/>
          <p:cNvSpPr/>
          <p:nvPr/>
        </p:nvSpPr>
        <p:spPr>
          <a:xfrm>
            <a:off x="4297680" y="3108960"/>
            <a:ext cx="3474360" cy="1599840"/>
          </a:xfrm>
          <a:prstGeom prst="roundRect">
            <a:avLst>
              <a:gd name="adj" fmla="val 6857"/>
            </a:avLst>
          </a:prstGeom>
          <a:solidFill>
            <a:srgbClr val="FFFF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5" name="Rounded Rectangle 20"/>
          <p:cNvSpPr/>
          <p:nvPr/>
        </p:nvSpPr>
        <p:spPr>
          <a:xfrm>
            <a:off x="4297680" y="3108960"/>
            <a:ext cx="3474360" cy="594000"/>
          </a:xfrm>
          <a:prstGeom prst="roundRect">
            <a:avLst>
              <a:gd name="adj" fmla="val 18461"/>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Compétences</a:t>
            </a:r>
            <a:endParaRPr lang="fr-FR" sz="1800" b="0" u="none" strike="noStrike">
              <a:solidFill>
                <a:srgbClr val="FFFFFF"/>
              </a:solidFill>
              <a:effectLst/>
              <a:uFillTx/>
              <a:latin typeface="Arial"/>
            </a:endParaRPr>
          </a:p>
        </p:txBody>
      </p:sp>
      <p:sp>
        <p:nvSpPr>
          <p:cNvPr id="146" name="TextBox 21"/>
          <p:cNvSpPr/>
          <p:nvPr/>
        </p:nvSpPr>
        <p:spPr>
          <a:xfrm>
            <a:off x="4480560" y="38404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Ce que le poste demande de savoir faire</a:t>
            </a:r>
            <a:endParaRPr lang="fr-FR" sz="1500" b="0" u="none" strike="noStrike">
              <a:solidFill>
                <a:srgbClr val="000000"/>
              </a:solidFill>
              <a:effectLst/>
              <a:uFillTx/>
              <a:latin typeface="Arial"/>
            </a:endParaRPr>
          </a:p>
        </p:txBody>
      </p:sp>
      <p:sp>
        <p:nvSpPr>
          <p:cNvPr id="147" name="Rounded Rectangle 22"/>
          <p:cNvSpPr/>
          <p:nvPr/>
        </p:nvSpPr>
        <p:spPr>
          <a:xfrm>
            <a:off x="8046720" y="3108960"/>
            <a:ext cx="3474360" cy="1599840"/>
          </a:xfrm>
          <a:prstGeom prst="roundRect">
            <a:avLst>
              <a:gd name="adj" fmla="val 6857"/>
            </a:avLst>
          </a:prstGeom>
          <a:solidFill>
            <a:srgbClr val="FFFFFF"/>
          </a:solidFill>
          <a:ln w="15875">
            <a:solidFill>
              <a:srgbClr val="16A34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8" name="Rounded Rectangle 23"/>
          <p:cNvSpPr/>
          <p:nvPr/>
        </p:nvSpPr>
        <p:spPr>
          <a:xfrm>
            <a:off x="8046720" y="3108960"/>
            <a:ext cx="3474360" cy="594000"/>
          </a:xfrm>
          <a:prstGeom prst="roundRect">
            <a:avLst>
              <a:gd name="adj" fmla="val 18461"/>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FFFFFF"/>
                </a:solidFill>
                <a:effectLst/>
                <a:uFillTx/>
                <a:latin typeface="Segoe UI"/>
              </a:rPr>
              <a:t>Liens offre ↔ compétence</a:t>
            </a:r>
            <a:endParaRPr lang="fr-FR" sz="1800" b="0" u="none" strike="noStrike">
              <a:solidFill>
                <a:srgbClr val="FFFFFF"/>
              </a:solidFill>
              <a:effectLst/>
              <a:uFillTx/>
              <a:latin typeface="Arial"/>
            </a:endParaRPr>
          </a:p>
        </p:txBody>
      </p:sp>
      <p:sp>
        <p:nvSpPr>
          <p:cNvPr id="149" name="TextBox 24"/>
          <p:cNvSpPr/>
          <p:nvPr/>
        </p:nvSpPr>
        <p:spPr>
          <a:xfrm>
            <a:off x="8229600" y="3840480"/>
            <a:ext cx="31086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500" b="0" u="none" strike="noStrike">
                <a:solidFill>
                  <a:srgbClr val="111827"/>
                </a:solidFill>
                <a:effectLst/>
                <a:uFillTx/>
                <a:latin typeface="Segoe UI"/>
              </a:rPr>
              <a:t>Compétence exigée ou simplement souhaitée</a:t>
            </a:r>
            <a:endParaRPr lang="fr-FR" sz="1500" b="0" u="none" strike="noStrike">
              <a:solidFill>
                <a:srgbClr val="000000"/>
              </a:solidFill>
              <a:effectLst/>
              <a:uFillTx/>
              <a:latin typeface="Arial"/>
            </a:endParaRPr>
          </a:p>
        </p:txBody>
      </p:sp>
      <p:sp>
        <p:nvSpPr>
          <p:cNvPr id="150" name="Rounded Rectangle 25"/>
          <p:cNvSpPr/>
          <p:nvPr/>
        </p:nvSpPr>
        <p:spPr>
          <a:xfrm>
            <a:off x="548640" y="5120640"/>
            <a:ext cx="11063880" cy="1188360"/>
          </a:xfrm>
          <a:prstGeom prst="roundRect">
            <a:avLst>
              <a:gd name="adj" fmla="val 9230"/>
            </a:avLst>
          </a:prstGeom>
          <a:solidFill>
            <a:srgbClr val="EFF6FF"/>
          </a:solidFill>
          <a:ln w="15875">
            <a:solidFill>
              <a:srgbClr val="16A34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111827"/>
                </a:solidFill>
                <a:effectLst/>
                <a:uFillTx/>
                <a:latin typeface="Segoe UI"/>
              </a:rPr>
              <a:t>Chaque information n'est écrite qu'une seule fois</a:t>
            </a:r>
            <a:endParaRPr lang="fr-FR" sz="1800" b="0" u="none" strike="noStrike">
              <a:solidFill>
                <a:srgbClr val="000000"/>
              </a:solidFill>
              <a:effectLst/>
              <a:uFillTx/>
              <a:latin typeface="Arial"/>
            </a:endParaRPr>
          </a:p>
          <a:p>
            <a:pPr algn="ctr" defTabSz="457200">
              <a:lnSpc>
                <a:spcPct val="100000"/>
              </a:lnSpc>
            </a:pPr>
            <a:r>
              <a:rPr lang="en-US" sz="1500" b="0" u="none" strike="noStrike">
                <a:solidFill>
                  <a:srgbClr val="111827"/>
                </a:solidFill>
                <a:effectLst/>
                <a:uFillTx/>
                <a:latin typeface="Segoe UI"/>
              </a:rPr>
              <a:t>→ pas de doublon, pas de contradiction, des recherches rapides</a:t>
            </a:r>
            <a:endParaRPr lang="fr-FR"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52"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Étape 2 : une chaîne qui tourne toute seule</a:t>
            </a:r>
            <a:endParaRPr lang="fr-FR" sz="2800" b="0" u="none" strike="noStrike">
              <a:solidFill>
                <a:srgbClr val="000000"/>
              </a:solidFill>
              <a:effectLst/>
              <a:uFillTx/>
              <a:latin typeface="Arial"/>
            </a:endParaRPr>
          </a:p>
        </p:txBody>
      </p:sp>
      <p:sp>
        <p:nvSpPr>
          <p:cNvPr id="153"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TP2 — Automatiser</a:t>
            </a:r>
            <a:endParaRPr lang="fr-FR" sz="1300" b="0" u="none" strike="noStrike">
              <a:solidFill>
                <a:srgbClr val="000000"/>
              </a:solidFill>
              <a:effectLst/>
              <a:uFillTx/>
              <a:latin typeface="Arial"/>
            </a:endParaRPr>
          </a:p>
        </p:txBody>
      </p:sp>
      <p:sp>
        <p:nvSpPr>
          <p:cNvPr id="154"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55"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156"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6 / 17</a:t>
            </a:r>
            <a:endParaRPr lang="fr-FR" sz="1000" b="0" u="none" strike="noStrike">
              <a:solidFill>
                <a:srgbClr val="000000"/>
              </a:solidFill>
              <a:effectLst/>
              <a:uFillTx/>
              <a:latin typeface="Arial"/>
            </a:endParaRPr>
          </a:p>
        </p:txBody>
      </p:sp>
      <p:sp>
        <p:nvSpPr>
          <p:cNvPr id="157" name="Rounded Rectangle 7"/>
          <p:cNvSpPr/>
          <p:nvPr/>
        </p:nvSpPr>
        <p:spPr>
          <a:xfrm>
            <a:off x="457200" y="1463040"/>
            <a:ext cx="1607400" cy="1188360"/>
          </a:xfrm>
          <a:prstGeom prst="roundRect">
            <a:avLst>
              <a:gd name="adj" fmla="val 9230"/>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Récupérer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les nouvelles offres</a:t>
            </a:r>
            <a:endParaRPr lang="fr-FR" sz="1200" b="0" u="none" strike="noStrike">
              <a:solidFill>
                <a:srgbClr val="FFFFFF"/>
              </a:solidFill>
              <a:effectLst/>
              <a:uFillTx/>
              <a:latin typeface="Arial"/>
            </a:endParaRPr>
          </a:p>
        </p:txBody>
      </p:sp>
      <p:sp>
        <p:nvSpPr>
          <p:cNvPr id="158" name="Rounded Rectangle 8"/>
          <p:cNvSpPr/>
          <p:nvPr/>
        </p:nvSpPr>
        <p:spPr>
          <a:xfrm>
            <a:off x="2385000" y="1463040"/>
            <a:ext cx="1607400" cy="1188360"/>
          </a:xfrm>
          <a:prstGeom prst="roundRect">
            <a:avLst>
              <a:gd name="adj" fmla="val 923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Transporter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sans rien perdre</a:t>
            </a:r>
            <a:endParaRPr lang="fr-FR" sz="1200" b="0" u="none" strike="noStrike">
              <a:solidFill>
                <a:srgbClr val="FFFFFF"/>
              </a:solidFill>
              <a:effectLst/>
              <a:uFillTx/>
              <a:latin typeface="Arial"/>
            </a:endParaRPr>
          </a:p>
        </p:txBody>
      </p:sp>
      <p:cxnSp>
        <p:nvCxnSpPr>
          <p:cNvPr id="159" name="Connector 9"/>
          <p:cNvCxnSpPr/>
          <p:nvPr/>
        </p:nvCxnSpPr>
        <p:spPr>
          <a:xfrm>
            <a:off x="2082960" y="2057400"/>
            <a:ext cx="284040" cy="360"/>
          </a:xfrm>
          <a:prstGeom prst="straightConnector1">
            <a:avLst/>
          </a:prstGeom>
          <a:ln>
            <a:solidFill>
              <a:srgbClr val="6B7280"/>
            </a:solidFill>
            <a:round/>
            <a:tailEnd len="med" type="triangle" w="med"/>
          </a:ln>
        </p:spPr>
      </p:cxnSp>
      <p:sp>
        <p:nvSpPr>
          <p:cNvPr id="160" name="Rounded Rectangle 10"/>
          <p:cNvSpPr/>
          <p:nvPr/>
        </p:nvSpPr>
        <p:spPr>
          <a:xfrm>
            <a:off x="4312800" y="1463040"/>
            <a:ext cx="1607400" cy="1188360"/>
          </a:xfrm>
          <a:prstGeom prst="roundRect">
            <a:avLst>
              <a:gd name="adj" fmla="val 9230"/>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Archiver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une copie de l'original</a:t>
            </a:r>
            <a:endParaRPr lang="fr-FR" sz="1200" b="0" u="none" strike="noStrike">
              <a:solidFill>
                <a:srgbClr val="FFFFFF"/>
              </a:solidFill>
              <a:effectLst/>
              <a:uFillTx/>
              <a:latin typeface="Arial"/>
            </a:endParaRPr>
          </a:p>
        </p:txBody>
      </p:sp>
      <p:cxnSp>
        <p:nvCxnSpPr>
          <p:cNvPr id="161" name="Connector 11"/>
          <p:cNvCxnSpPr/>
          <p:nvPr/>
        </p:nvCxnSpPr>
        <p:spPr>
          <a:xfrm>
            <a:off x="4011120" y="2057400"/>
            <a:ext cx="283680" cy="360"/>
          </a:xfrm>
          <a:prstGeom prst="straightConnector1">
            <a:avLst/>
          </a:prstGeom>
          <a:ln>
            <a:solidFill>
              <a:srgbClr val="6B7280"/>
            </a:solidFill>
            <a:round/>
            <a:tailEnd len="med" type="triangle" w="med"/>
          </a:ln>
        </p:spPr>
      </p:cxnSp>
      <p:sp>
        <p:nvSpPr>
          <p:cNvPr id="162" name="Rounded Rectangle 12"/>
          <p:cNvSpPr/>
          <p:nvPr/>
        </p:nvSpPr>
        <p:spPr>
          <a:xfrm>
            <a:off x="6240960" y="1463040"/>
            <a:ext cx="1607400" cy="1188360"/>
          </a:xfrm>
          <a:prstGeom prst="roundRect">
            <a:avLst>
              <a:gd name="adj" fmla="val 9230"/>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Nettoyer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et vérifier</a:t>
            </a:r>
            <a:endParaRPr lang="fr-FR" sz="1200" b="0" u="none" strike="noStrike">
              <a:solidFill>
                <a:srgbClr val="FFFFFF"/>
              </a:solidFill>
              <a:effectLst/>
              <a:uFillTx/>
              <a:latin typeface="Arial"/>
            </a:endParaRPr>
          </a:p>
        </p:txBody>
      </p:sp>
      <p:cxnSp>
        <p:nvCxnSpPr>
          <p:cNvPr id="163" name="Connector 13"/>
          <p:cNvCxnSpPr/>
          <p:nvPr/>
        </p:nvCxnSpPr>
        <p:spPr>
          <a:xfrm>
            <a:off x="5938920" y="2057400"/>
            <a:ext cx="283680" cy="360"/>
          </a:xfrm>
          <a:prstGeom prst="straightConnector1">
            <a:avLst/>
          </a:prstGeom>
          <a:ln>
            <a:solidFill>
              <a:srgbClr val="6B7280"/>
            </a:solidFill>
            <a:round/>
            <a:tailEnd len="med" type="triangle" w="med"/>
          </a:ln>
        </p:spPr>
      </p:cxnSp>
      <p:sp>
        <p:nvSpPr>
          <p:cNvPr id="164" name="Rounded Rectangle 14"/>
          <p:cNvSpPr/>
          <p:nvPr/>
        </p:nvSpPr>
        <p:spPr>
          <a:xfrm>
            <a:off x="8168760" y="1463040"/>
            <a:ext cx="1607400" cy="1188360"/>
          </a:xfrm>
          <a:prstGeom prst="roundRect">
            <a:avLst>
              <a:gd name="adj" fmla="val 9230"/>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Ranger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dans la base</a:t>
            </a:r>
            <a:endParaRPr lang="fr-FR" sz="1200" b="0" u="none" strike="noStrike">
              <a:solidFill>
                <a:srgbClr val="FFFFFF"/>
              </a:solidFill>
              <a:effectLst/>
              <a:uFillTx/>
              <a:latin typeface="Arial"/>
            </a:endParaRPr>
          </a:p>
        </p:txBody>
      </p:sp>
      <p:cxnSp>
        <p:nvCxnSpPr>
          <p:cNvPr id="165" name="Connector 15"/>
          <p:cNvCxnSpPr/>
          <p:nvPr/>
        </p:nvCxnSpPr>
        <p:spPr>
          <a:xfrm>
            <a:off x="7866720" y="2057400"/>
            <a:ext cx="283680" cy="360"/>
          </a:xfrm>
          <a:prstGeom prst="straightConnector1">
            <a:avLst/>
          </a:prstGeom>
          <a:ln>
            <a:solidFill>
              <a:srgbClr val="6B7280"/>
            </a:solidFill>
            <a:round/>
            <a:tailEnd len="med" type="triangle" w="med"/>
          </a:ln>
        </p:spPr>
      </p:cxnSp>
      <p:sp>
        <p:nvSpPr>
          <p:cNvPr id="166" name="Rounded Rectangle 16"/>
          <p:cNvSpPr/>
          <p:nvPr/>
        </p:nvSpPr>
        <p:spPr>
          <a:xfrm>
            <a:off x="10096560" y="1463040"/>
            <a:ext cx="1607400" cy="1188360"/>
          </a:xfrm>
          <a:prstGeom prst="roundRect">
            <a:avLst>
              <a:gd name="adj" fmla="val 9230"/>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Afficher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tableaux de bord</a:t>
            </a:r>
            <a:endParaRPr lang="fr-FR" sz="1200" b="0" u="none" strike="noStrike">
              <a:solidFill>
                <a:srgbClr val="FFFFFF"/>
              </a:solidFill>
              <a:effectLst/>
              <a:uFillTx/>
              <a:latin typeface="Arial"/>
            </a:endParaRPr>
          </a:p>
        </p:txBody>
      </p:sp>
      <p:cxnSp>
        <p:nvCxnSpPr>
          <p:cNvPr id="167" name="Connector 17"/>
          <p:cNvCxnSpPr/>
          <p:nvPr/>
        </p:nvCxnSpPr>
        <p:spPr>
          <a:xfrm>
            <a:off x="9794520" y="2057400"/>
            <a:ext cx="284040" cy="360"/>
          </a:xfrm>
          <a:prstGeom prst="straightConnector1">
            <a:avLst/>
          </a:prstGeom>
          <a:ln>
            <a:solidFill>
              <a:srgbClr val="6B7280"/>
            </a:solidFill>
            <a:round/>
            <a:tailEnd len="med" type="triangle" w="med"/>
          </a:ln>
        </p:spPr>
      </p:cxnSp>
      <p:sp>
        <p:nvSpPr>
          <p:cNvPr id="168" name="Rounded Rectangle 18"/>
          <p:cNvSpPr/>
          <p:nvPr/>
        </p:nvSpPr>
        <p:spPr>
          <a:xfrm>
            <a:off x="548640" y="3200400"/>
            <a:ext cx="2605680" cy="1462680"/>
          </a:xfrm>
          <a:prstGeom prst="roundRect">
            <a:avLst>
              <a:gd name="adj" fmla="val 7500"/>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9" name="TextBox 19"/>
          <p:cNvSpPr/>
          <p:nvPr/>
        </p:nvSpPr>
        <p:spPr>
          <a:xfrm>
            <a:off x="548640" y="3337560"/>
            <a:ext cx="260568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200" b="1" u="none" strike="noStrike">
                <a:solidFill>
                  <a:srgbClr val="1E3A8A"/>
                </a:solidFill>
                <a:effectLst/>
                <a:uFillTx/>
                <a:latin typeface="Segoe UI"/>
              </a:rPr>
              <a:t>15 min</a:t>
            </a:r>
            <a:endParaRPr lang="fr-FR" sz="3200" b="0" u="none" strike="noStrike">
              <a:solidFill>
                <a:srgbClr val="000000"/>
              </a:solidFill>
              <a:effectLst/>
              <a:uFillTx/>
              <a:latin typeface="Arial"/>
            </a:endParaRPr>
          </a:p>
        </p:txBody>
      </p:sp>
      <p:sp>
        <p:nvSpPr>
          <p:cNvPr id="170" name="TextBox 20"/>
          <p:cNvSpPr/>
          <p:nvPr/>
        </p:nvSpPr>
        <p:spPr>
          <a:xfrm>
            <a:off x="640080" y="4069080"/>
            <a:ext cx="24228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une nouvelle collecte d'offres</a:t>
            </a:r>
            <a:endParaRPr lang="fr-FR" sz="1400" b="0" u="none" strike="noStrike">
              <a:solidFill>
                <a:srgbClr val="000000"/>
              </a:solidFill>
              <a:effectLst/>
              <a:uFillTx/>
              <a:latin typeface="Arial"/>
            </a:endParaRPr>
          </a:p>
        </p:txBody>
      </p:sp>
      <p:sp>
        <p:nvSpPr>
          <p:cNvPr id="171" name="Rounded Rectangle 21"/>
          <p:cNvSpPr/>
          <p:nvPr/>
        </p:nvSpPr>
        <p:spPr>
          <a:xfrm>
            <a:off x="3383280" y="3200400"/>
            <a:ext cx="2605680" cy="1462680"/>
          </a:xfrm>
          <a:prstGeom prst="roundRect">
            <a:avLst>
              <a:gd name="adj" fmla="val 7500"/>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72" name="TextBox 22"/>
          <p:cNvSpPr/>
          <p:nvPr/>
        </p:nvSpPr>
        <p:spPr>
          <a:xfrm>
            <a:off x="3383280" y="3337560"/>
            <a:ext cx="260568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200" b="1" u="none" strike="noStrike">
                <a:solidFill>
                  <a:srgbClr val="DC2626"/>
                </a:solidFill>
                <a:effectLst/>
                <a:uFillTx/>
                <a:latin typeface="Segoe UI"/>
              </a:rPr>
              <a:t>30 min</a:t>
            </a:r>
            <a:endParaRPr lang="fr-FR" sz="3200" b="0" u="none" strike="noStrike">
              <a:solidFill>
                <a:srgbClr val="000000"/>
              </a:solidFill>
              <a:effectLst/>
              <a:uFillTx/>
              <a:latin typeface="Arial"/>
            </a:endParaRPr>
          </a:p>
        </p:txBody>
      </p:sp>
      <p:sp>
        <p:nvSpPr>
          <p:cNvPr id="173" name="TextBox 23"/>
          <p:cNvSpPr/>
          <p:nvPr/>
        </p:nvSpPr>
        <p:spPr>
          <a:xfrm>
            <a:off x="3474720" y="4069080"/>
            <a:ext cx="24228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un nouveau nettoyage des données</a:t>
            </a:r>
            <a:endParaRPr lang="fr-FR" sz="1400" b="0" u="none" strike="noStrike">
              <a:solidFill>
                <a:srgbClr val="000000"/>
              </a:solidFill>
              <a:effectLst/>
              <a:uFillTx/>
              <a:latin typeface="Arial"/>
            </a:endParaRPr>
          </a:p>
        </p:txBody>
      </p:sp>
      <p:sp>
        <p:nvSpPr>
          <p:cNvPr id="174" name="Rounded Rectangle 24"/>
          <p:cNvSpPr/>
          <p:nvPr/>
        </p:nvSpPr>
        <p:spPr>
          <a:xfrm>
            <a:off x="6217920" y="3200400"/>
            <a:ext cx="2605680" cy="1462680"/>
          </a:xfrm>
          <a:prstGeom prst="roundRect">
            <a:avLst>
              <a:gd name="adj" fmla="val 7500"/>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75" name="TextBox 25"/>
          <p:cNvSpPr/>
          <p:nvPr/>
        </p:nvSpPr>
        <p:spPr>
          <a:xfrm>
            <a:off x="6217920" y="3337560"/>
            <a:ext cx="260568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200" b="1" u="none" strike="noStrike">
                <a:solidFill>
                  <a:srgbClr val="16A34A"/>
                </a:solidFill>
                <a:effectLst/>
                <a:uFillTx/>
                <a:latin typeface="Segoe UI"/>
              </a:rPr>
              <a:t>24 h / 24</a:t>
            </a:r>
            <a:endParaRPr lang="fr-FR" sz="3200" b="0" u="none" strike="noStrike">
              <a:solidFill>
                <a:srgbClr val="000000"/>
              </a:solidFill>
              <a:effectLst/>
              <a:uFillTx/>
              <a:latin typeface="Arial"/>
            </a:endParaRPr>
          </a:p>
        </p:txBody>
      </p:sp>
      <p:sp>
        <p:nvSpPr>
          <p:cNvPr id="176" name="TextBox 26"/>
          <p:cNvSpPr/>
          <p:nvPr/>
        </p:nvSpPr>
        <p:spPr>
          <a:xfrm>
            <a:off x="6309360" y="4069080"/>
            <a:ext cx="24228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sans intervention humaine</a:t>
            </a:r>
            <a:endParaRPr lang="fr-FR" sz="1400" b="0" u="none" strike="noStrike">
              <a:solidFill>
                <a:srgbClr val="000000"/>
              </a:solidFill>
              <a:effectLst/>
              <a:uFillTx/>
              <a:latin typeface="Arial"/>
            </a:endParaRPr>
          </a:p>
        </p:txBody>
      </p:sp>
      <p:sp>
        <p:nvSpPr>
          <p:cNvPr id="177" name="Rounded Rectangle 27"/>
          <p:cNvSpPr/>
          <p:nvPr/>
        </p:nvSpPr>
        <p:spPr>
          <a:xfrm>
            <a:off x="9052560" y="3200400"/>
            <a:ext cx="2605680" cy="1462680"/>
          </a:xfrm>
          <a:prstGeom prst="roundRect">
            <a:avLst>
              <a:gd name="adj" fmla="val 7500"/>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78" name="TextBox 28"/>
          <p:cNvSpPr/>
          <p:nvPr/>
        </p:nvSpPr>
        <p:spPr>
          <a:xfrm>
            <a:off x="9052560" y="3337560"/>
            <a:ext cx="260568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200" b="1" u="none" strike="noStrike">
                <a:solidFill>
                  <a:srgbClr val="2563EB"/>
                </a:solidFill>
                <a:effectLst/>
                <a:uFillTx/>
                <a:latin typeface="Segoe UI"/>
              </a:rPr>
              <a:t>1 commande</a:t>
            </a:r>
            <a:endParaRPr lang="fr-FR" sz="3200" b="0" u="none" strike="noStrike">
              <a:solidFill>
                <a:srgbClr val="000000"/>
              </a:solidFill>
              <a:effectLst/>
              <a:uFillTx/>
              <a:latin typeface="Arial"/>
            </a:endParaRPr>
          </a:p>
        </p:txBody>
      </p:sp>
      <p:sp>
        <p:nvSpPr>
          <p:cNvPr id="179" name="TextBox 29"/>
          <p:cNvSpPr/>
          <p:nvPr/>
        </p:nvSpPr>
        <p:spPr>
          <a:xfrm>
            <a:off x="9144000" y="4069080"/>
            <a:ext cx="24228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pour tout démarrer</a:t>
            </a:r>
            <a:endParaRPr lang="fr-FR" sz="1400" b="0" u="none" strike="noStrike">
              <a:solidFill>
                <a:srgbClr val="000000"/>
              </a:solidFill>
              <a:effectLst/>
              <a:uFillTx/>
              <a:latin typeface="Arial"/>
            </a:endParaRPr>
          </a:p>
        </p:txBody>
      </p:sp>
      <p:sp>
        <p:nvSpPr>
          <p:cNvPr id="180" name="Rounded Rectangle 30"/>
          <p:cNvSpPr/>
          <p:nvPr/>
        </p:nvSpPr>
        <p:spPr>
          <a:xfrm>
            <a:off x="548640" y="5120640"/>
            <a:ext cx="11063880" cy="1096920"/>
          </a:xfrm>
          <a:prstGeom prst="roundRect">
            <a:avLst>
              <a:gd name="adj" fmla="val 10000"/>
            </a:avLst>
          </a:prstGeom>
          <a:solidFill>
            <a:srgbClr val="EFF6FF"/>
          </a:solidFill>
          <a:ln w="15875">
            <a:solidFill>
              <a:srgbClr val="16A34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111827"/>
                </a:solidFill>
                <a:effectLst/>
                <a:uFillTx/>
                <a:latin typeface="Segoe UI"/>
              </a:rPr>
              <a:t>Aucune offre n'est perdue ni enregistrée deux fois,</a:t>
            </a:r>
            <a:endParaRPr lang="fr-FR" sz="1800" b="0" u="none" strike="noStrike">
              <a:solidFill>
                <a:srgbClr val="000000"/>
              </a:solidFill>
              <a:effectLst/>
              <a:uFillTx/>
              <a:latin typeface="Arial"/>
            </a:endParaRPr>
          </a:p>
          <a:p>
            <a:pPr algn="ctr" defTabSz="457200">
              <a:lnSpc>
                <a:spcPct val="100000"/>
              </a:lnSpc>
            </a:pPr>
            <a:r>
              <a:rPr lang="en-US" sz="1500" b="0" u="none" strike="noStrike">
                <a:solidFill>
                  <a:srgbClr val="111827"/>
                </a:solidFill>
                <a:effectLst/>
                <a:uFillTx/>
                <a:latin typeface="Segoe UI"/>
              </a:rPr>
              <a:t>même si une étape s'arrête puis redémarre</a:t>
            </a:r>
            <a:endParaRPr lang="fr-FR"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82"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Ce que la chaîne a produit</a:t>
            </a:r>
            <a:endParaRPr lang="fr-FR" sz="2800" b="0" u="none" strike="noStrike">
              <a:solidFill>
                <a:srgbClr val="000000"/>
              </a:solidFill>
              <a:effectLst/>
              <a:uFillTx/>
              <a:latin typeface="Arial"/>
            </a:endParaRPr>
          </a:p>
        </p:txBody>
      </p:sp>
      <p:sp>
        <p:nvSpPr>
          <p:cNvPr id="183"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TP2 — Automatiser</a:t>
            </a:r>
            <a:endParaRPr lang="fr-FR" sz="1300" b="0" u="none" strike="noStrike">
              <a:solidFill>
                <a:srgbClr val="000000"/>
              </a:solidFill>
              <a:effectLst/>
              <a:uFillTx/>
              <a:latin typeface="Arial"/>
            </a:endParaRPr>
          </a:p>
        </p:txBody>
      </p:sp>
      <p:sp>
        <p:nvSpPr>
          <p:cNvPr id="184"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85"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186"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7 / 17</a:t>
            </a:r>
            <a:endParaRPr lang="fr-FR" sz="1000" b="0" u="none" strike="noStrike">
              <a:solidFill>
                <a:srgbClr val="000000"/>
              </a:solidFill>
              <a:effectLst/>
              <a:uFillTx/>
              <a:latin typeface="Arial"/>
            </a:endParaRPr>
          </a:p>
        </p:txBody>
      </p:sp>
      <p:graphicFrame>
        <p:nvGraphicFramePr>
          <p:cNvPr id="187" name="Chart 7"/>
          <p:cNvGraphicFramePr/>
          <p:nvPr/>
        </p:nvGraphicFramePr>
        <p:xfrm>
          <a:off x="548640" y="1188720"/>
          <a:ext cx="6400440" cy="5211720"/>
        </p:xfrm>
        <a:graphic>
          <a:graphicData uri="http://schemas.openxmlformats.org/drawingml/2006/chart">
            <c:chart xmlns:c="http://schemas.openxmlformats.org/drawingml/2006/chart" xmlns:r="http://schemas.openxmlformats.org/officeDocument/2006/relationships" r:id="rId1"/>
          </a:graphicData>
        </a:graphic>
      </p:graphicFrame>
      <p:sp>
        <p:nvSpPr>
          <p:cNvPr id="188" name="TextBox 8"/>
          <p:cNvSpPr/>
          <p:nvPr/>
        </p:nvSpPr>
        <p:spPr>
          <a:xfrm>
            <a:off x="7315200" y="1463040"/>
            <a:ext cx="4480200" cy="47545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700" b="0" u="none" strike="noStrike">
                <a:solidFill>
                  <a:srgbClr val="111827"/>
                </a:solidFill>
                <a:effectLst/>
                <a:uFillTx/>
                <a:latin typeface="Segoe UI"/>
              </a:rPr>
              <a:t>•  35 802 fiches reçues au total</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13 561 doublons : la même annonce vue plusieurs fois</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1 004 offres écartées car incomplètes (mises de côté, pas supprimées)</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21 237 offres uniques prêtes à être analysées</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23 passages de nettoyage automatiques</a:t>
            </a:r>
            <a:endParaRPr lang="fr-FR"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0"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Étape 3 : vérifier que les données sont fiables</a:t>
            </a:r>
            <a:endParaRPr lang="fr-FR" sz="2800" b="0" u="none" strike="noStrike">
              <a:solidFill>
                <a:srgbClr val="000000"/>
              </a:solidFill>
              <a:effectLst/>
              <a:uFillTx/>
              <a:latin typeface="Arial"/>
            </a:endParaRPr>
          </a:p>
        </p:txBody>
      </p:sp>
      <p:sp>
        <p:nvSpPr>
          <p:cNvPr id="191"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TP3 — Vérifier</a:t>
            </a:r>
            <a:endParaRPr lang="fr-FR" sz="1300" b="0" u="none" strike="noStrike">
              <a:solidFill>
                <a:srgbClr val="000000"/>
              </a:solidFill>
              <a:effectLst/>
              <a:uFillTx/>
              <a:latin typeface="Arial"/>
            </a:endParaRPr>
          </a:p>
        </p:txBody>
      </p:sp>
      <p:sp>
        <p:nvSpPr>
          <p:cNvPr id="192"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3"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194"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8 / 17</a:t>
            </a:r>
            <a:endParaRPr lang="fr-FR" sz="1000" b="0" u="none" strike="noStrike">
              <a:solidFill>
                <a:srgbClr val="000000"/>
              </a:solidFill>
              <a:effectLst/>
              <a:uFillTx/>
              <a:latin typeface="Arial"/>
            </a:endParaRPr>
          </a:p>
        </p:txBody>
      </p:sp>
      <p:sp>
        <p:nvSpPr>
          <p:cNvPr id="195" name="Rounded Rectangle 7"/>
          <p:cNvSpPr/>
          <p:nvPr/>
        </p:nvSpPr>
        <p:spPr>
          <a:xfrm>
            <a:off x="457200" y="1371600"/>
            <a:ext cx="2102760" cy="2651400"/>
          </a:xfrm>
          <a:prstGeom prst="roundRect">
            <a:avLst>
              <a:gd name="adj" fmla="val 5217"/>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6" name="Rectangle 8"/>
          <p:cNvSpPr/>
          <p:nvPr/>
        </p:nvSpPr>
        <p:spPr>
          <a:xfrm>
            <a:off x="457200" y="1371600"/>
            <a:ext cx="2102760" cy="10944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7" name="TextBox 9"/>
          <p:cNvSpPr/>
          <p:nvPr/>
        </p:nvSpPr>
        <p:spPr>
          <a:xfrm>
            <a:off x="640080" y="1600200"/>
            <a:ext cx="17370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1E3A8A"/>
                </a:solidFill>
                <a:effectLst/>
                <a:uFillTx/>
                <a:latin typeface="Segoe UI"/>
              </a:rPr>
              <a:t>Complet ?</a:t>
            </a:r>
            <a:endParaRPr lang="fr-FR" sz="1800" b="0" u="none" strike="noStrike">
              <a:solidFill>
                <a:srgbClr val="000000"/>
              </a:solidFill>
              <a:effectLst/>
              <a:uFillTx/>
              <a:latin typeface="Arial"/>
            </a:endParaRPr>
          </a:p>
        </p:txBody>
      </p:sp>
      <p:sp>
        <p:nvSpPr>
          <p:cNvPr id="198" name="TextBox 10"/>
          <p:cNvSpPr/>
          <p:nvPr/>
        </p:nvSpPr>
        <p:spPr>
          <a:xfrm>
            <a:off x="640080" y="2194560"/>
            <a:ext cx="1737000" cy="17370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111827"/>
                </a:solidFill>
                <a:effectLst/>
                <a:uFillTx/>
                <a:latin typeface="Segoe UI"/>
              </a:rPr>
              <a:t>Rien d'important ne manque</a:t>
            </a:r>
            <a:endParaRPr lang="fr-FR" sz="1400" b="0" u="none" strike="noStrike">
              <a:solidFill>
                <a:srgbClr val="000000"/>
              </a:solidFill>
              <a:effectLst/>
              <a:uFillTx/>
              <a:latin typeface="Arial"/>
            </a:endParaRPr>
          </a:p>
        </p:txBody>
      </p:sp>
      <p:sp>
        <p:nvSpPr>
          <p:cNvPr id="199" name="Rounded Rectangle 11"/>
          <p:cNvSpPr/>
          <p:nvPr/>
        </p:nvSpPr>
        <p:spPr>
          <a:xfrm>
            <a:off x="2743200" y="1371600"/>
            <a:ext cx="2102760" cy="2651400"/>
          </a:xfrm>
          <a:prstGeom prst="roundRect">
            <a:avLst>
              <a:gd name="adj" fmla="val 5217"/>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0" name="Rectangle 12"/>
          <p:cNvSpPr/>
          <p:nvPr/>
        </p:nvSpPr>
        <p:spPr>
          <a:xfrm>
            <a:off x="2743200" y="1371600"/>
            <a:ext cx="2102760" cy="10944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1" name="TextBox 13"/>
          <p:cNvSpPr/>
          <p:nvPr/>
        </p:nvSpPr>
        <p:spPr>
          <a:xfrm>
            <a:off x="2926080" y="1600200"/>
            <a:ext cx="17370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2563EB"/>
                </a:solidFill>
                <a:effectLst/>
                <a:uFillTx/>
                <a:latin typeface="Segoe UI"/>
              </a:rPr>
              <a:t>Unique ?</a:t>
            </a:r>
            <a:endParaRPr lang="fr-FR" sz="1800" b="0" u="none" strike="noStrike">
              <a:solidFill>
                <a:srgbClr val="000000"/>
              </a:solidFill>
              <a:effectLst/>
              <a:uFillTx/>
              <a:latin typeface="Arial"/>
            </a:endParaRPr>
          </a:p>
        </p:txBody>
      </p:sp>
      <p:sp>
        <p:nvSpPr>
          <p:cNvPr id="202" name="TextBox 14"/>
          <p:cNvSpPr/>
          <p:nvPr/>
        </p:nvSpPr>
        <p:spPr>
          <a:xfrm>
            <a:off x="2926080" y="2194560"/>
            <a:ext cx="1737000" cy="17370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111827"/>
                </a:solidFill>
                <a:effectLst/>
                <a:uFillTx/>
                <a:latin typeface="Segoe UI"/>
              </a:rPr>
              <a:t>Rien n'est en double</a:t>
            </a:r>
            <a:endParaRPr lang="fr-FR" sz="1400" b="0" u="none" strike="noStrike">
              <a:solidFill>
                <a:srgbClr val="000000"/>
              </a:solidFill>
              <a:effectLst/>
              <a:uFillTx/>
              <a:latin typeface="Arial"/>
            </a:endParaRPr>
          </a:p>
        </p:txBody>
      </p:sp>
      <p:sp>
        <p:nvSpPr>
          <p:cNvPr id="203" name="Rounded Rectangle 15"/>
          <p:cNvSpPr/>
          <p:nvPr/>
        </p:nvSpPr>
        <p:spPr>
          <a:xfrm>
            <a:off x="5029200" y="1371600"/>
            <a:ext cx="2102760" cy="2651400"/>
          </a:xfrm>
          <a:prstGeom prst="roundRect">
            <a:avLst>
              <a:gd name="adj" fmla="val 5217"/>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4" name="Rectangle 16"/>
          <p:cNvSpPr/>
          <p:nvPr/>
        </p:nvSpPr>
        <p:spPr>
          <a:xfrm>
            <a:off x="5029200" y="1371600"/>
            <a:ext cx="2102760" cy="109440"/>
          </a:xfrm>
          <a:prstGeom prst="rect">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5" name="TextBox 17"/>
          <p:cNvSpPr/>
          <p:nvPr/>
        </p:nvSpPr>
        <p:spPr>
          <a:xfrm>
            <a:off x="5212080" y="1600200"/>
            <a:ext cx="17370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EA580C"/>
                </a:solidFill>
                <a:effectLst/>
                <a:uFillTx/>
                <a:latin typeface="Segoe UI"/>
              </a:rPr>
              <a:t>Plausible ?</a:t>
            </a:r>
            <a:endParaRPr lang="fr-FR" sz="1800" b="0" u="none" strike="noStrike">
              <a:solidFill>
                <a:srgbClr val="000000"/>
              </a:solidFill>
              <a:effectLst/>
              <a:uFillTx/>
              <a:latin typeface="Arial"/>
            </a:endParaRPr>
          </a:p>
        </p:txBody>
      </p:sp>
      <p:sp>
        <p:nvSpPr>
          <p:cNvPr id="206" name="TextBox 18"/>
          <p:cNvSpPr/>
          <p:nvPr/>
        </p:nvSpPr>
        <p:spPr>
          <a:xfrm>
            <a:off x="5212080" y="2194560"/>
            <a:ext cx="1737000" cy="17370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111827"/>
                </a:solidFill>
                <a:effectLst/>
                <a:uFillTx/>
                <a:latin typeface="Segoe UI"/>
              </a:rPr>
              <a:t>Les valeurs sont réalistes</a:t>
            </a:r>
            <a:endParaRPr lang="fr-FR" sz="1400" b="0" u="none" strike="noStrike">
              <a:solidFill>
                <a:srgbClr val="000000"/>
              </a:solidFill>
              <a:effectLst/>
              <a:uFillTx/>
              <a:latin typeface="Arial"/>
            </a:endParaRPr>
          </a:p>
        </p:txBody>
      </p:sp>
      <p:sp>
        <p:nvSpPr>
          <p:cNvPr id="207" name="Rounded Rectangle 19"/>
          <p:cNvSpPr/>
          <p:nvPr/>
        </p:nvSpPr>
        <p:spPr>
          <a:xfrm>
            <a:off x="7315200" y="1371600"/>
            <a:ext cx="2102760" cy="2651400"/>
          </a:xfrm>
          <a:prstGeom prst="roundRect">
            <a:avLst>
              <a:gd name="adj" fmla="val 5217"/>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8" name="Rectangle 20"/>
          <p:cNvSpPr/>
          <p:nvPr/>
        </p:nvSpPr>
        <p:spPr>
          <a:xfrm>
            <a:off x="7315200" y="1371600"/>
            <a:ext cx="2102760" cy="109440"/>
          </a:xfrm>
          <a:prstGeom prst="rect">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9" name="TextBox 21"/>
          <p:cNvSpPr/>
          <p:nvPr/>
        </p:nvSpPr>
        <p:spPr>
          <a:xfrm>
            <a:off x="7498080" y="1600200"/>
            <a:ext cx="17370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16A34A"/>
                </a:solidFill>
                <a:effectLst/>
                <a:uFillTx/>
                <a:latin typeface="Segoe UI"/>
              </a:rPr>
              <a:t>Cohérent ?</a:t>
            </a:r>
            <a:endParaRPr lang="fr-FR" sz="1800" b="0" u="none" strike="noStrike">
              <a:solidFill>
                <a:srgbClr val="000000"/>
              </a:solidFill>
              <a:effectLst/>
              <a:uFillTx/>
              <a:latin typeface="Arial"/>
            </a:endParaRPr>
          </a:p>
        </p:txBody>
      </p:sp>
      <p:sp>
        <p:nvSpPr>
          <p:cNvPr id="210" name="TextBox 22"/>
          <p:cNvSpPr/>
          <p:nvPr/>
        </p:nvSpPr>
        <p:spPr>
          <a:xfrm>
            <a:off x="7498080" y="2194560"/>
            <a:ext cx="1737000" cy="17370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111827"/>
                </a:solidFill>
                <a:effectLst/>
                <a:uFillTx/>
                <a:latin typeface="Segoe UI"/>
              </a:rPr>
              <a:t>Les informations ne se contredisent pas</a:t>
            </a:r>
            <a:endParaRPr lang="fr-FR" sz="1400" b="0" u="none" strike="noStrike">
              <a:solidFill>
                <a:srgbClr val="000000"/>
              </a:solidFill>
              <a:effectLst/>
              <a:uFillTx/>
              <a:latin typeface="Arial"/>
            </a:endParaRPr>
          </a:p>
        </p:txBody>
      </p:sp>
      <p:sp>
        <p:nvSpPr>
          <p:cNvPr id="211" name="Rounded Rectangle 23"/>
          <p:cNvSpPr/>
          <p:nvPr/>
        </p:nvSpPr>
        <p:spPr>
          <a:xfrm>
            <a:off x="9601200" y="1371600"/>
            <a:ext cx="2102760" cy="2651400"/>
          </a:xfrm>
          <a:prstGeom prst="roundRect">
            <a:avLst>
              <a:gd name="adj" fmla="val 5217"/>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2" name="Rectangle 24"/>
          <p:cNvSpPr/>
          <p:nvPr/>
        </p:nvSpPr>
        <p:spPr>
          <a:xfrm>
            <a:off x="9601200" y="1371600"/>
            <a:ext cx="2102760" cy="10944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3" name="TextBox 25"/>
          <p:cNvSpPr/>
          <p:nvPr/>
        </p:nvSpPr>
        <p:spPr>
          <a:xfrm>
            <a:off x="9784080" y="1600200"/>
            <a:ext cx="17370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DC2626"/>
                </a:solidFill>
                <a:effectLst/>
                <a:uFillTx/>
                <a:latin typeface="Segoe UI"/>
              </a:rPr>
              <a:t>Bien relié ?</a:t>
            </a:r>
            <a:endParaRPr lang="fr-FR" sz="1800" b="0" u="none" strike="noStrike">
              <a:solidFill>
                <a:srgbClr val="000000"/>
              </a:solidFill>
              <a:effectLst/>
              <a:uFillTx/>
              <a:latin typeface="Arial"/>
            </a:endParaRPr>
          </a:p>
        </p:txBody>
      </p:sp>
      <p:sp>
        <p:nvSpPr>
          <p:cNvPr id="214" name="TextBox 26"/>
          <p:cNvSpPr/>
          <p:nvPr/>
        </p:nvSpPr>
        <p:spPr>
          <a:xfrm>
            <a:off x="9784080" y="2194560"/>
            <a:ext cx="1737000" cy="17370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111827"/>
                </a:solidFill>
                <a:effectLst/>
                <a:uFillTx/>
                <a:latin typeface="Segoe UI"/>
              </a:rPr>
              <a:t>Chaque offre pointe vers une vraie commune, entreprise et métier</a:t>
            </a:r>
            <a:endParaRPr lang="fr-FR" sz="1400" b="0" u="none" strike="noStrike">
              <a:solidFill>
                <a:srgbClr val="000000"/>
              </a:solidFill>
              <a:effectLst/>
              <a:uFillTx/>
              <a:latin typeface="Arial"/>
            </a:endParaRPr>
          </a:p>
        </p:txBody>
      </p:sp>
      <p:sp>
        <p:nvSpPr>
          <p:cNvPr id="215" name="Rounded Rectangle 27"/>
          <p:cNvSpPr/>
          <p:nvPr/>
        </p:nvSpPr>
        <p:spPr>
          <a:xfrm>
            <a:off x="457200" y="4389120"/>
            <a:ext cx="2571480" cy="1005480"/>
          </a:xfrm>
          <a:prstGeom prst="roundRect">
            <a:avLst>
              <a:gd name="adj" fmla="val 10909"/>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Mesurer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avant</a:t>
            </a:r>
            <a:endParaRPr lang="fr-FR" sz="1200" b="0" u="none" strike="noStrike">
              <a:solidFill>
                <a:srgbClr val="FFFFFF"/>
              </a:solidFill>
              <a:effectLst/>
              <a:uFillTx/>
              <a:latin typeface="Arial"/>
            </a:endParaRPr>
          </a:p>
        </p:txBody>
      </p:sp>
      <p:sp>
        <p:nvSpPr>
          <p:cNvPr id="216" name="Rounded Rectangle 28"/>
          <p:cNvSpPr/>
          <p:nvPr/>
        </p:nvSpPr>
        <p:spPr>
          <a:xfrm>
            <a:off x="3349080" y="4389120"/>
            <a:ext cx="2571480" cy="1005480"/>
          </a:xfrm>
          <a:prstGeom prst="roundRect">
            <a:avLst>
              <a:gd name="adj" fmla="val 10909"/>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Corriger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avec des règles claires</a:t>
            </a:r>
            <a:endParaRPr lang="fr-FR" sz="1200" b="0" u="none" strike="noStrike">
              <a:solidFill>
                <a:srgbClr val="FFFFFF"/>
              </a:solidFill>
              <a:effectLst/>
              <a:uFillTx/>
              <a:latin typeface="Arial"/>
            </a:endParaRPr>
          </a:p>
        </p:txBody>
      </p:sp>
      <p:cxnSp>
        <p:nvCxnSpPr>
          <p:cNvPr id="217" name="Connector 29"/>
          <p:cNvCxnSpPr/>
          <p:nvPr/>
        </p:nvCxnSpPr>
        <p:spPr>
          <a:xfrm>
            <a:off x="3047040" y="4892040"/>
            <a:ext cx="283680" cy="360"/>
          </a:xfrm>
          <a:prstGeom prst="straightConnector1">
            <a:avLst/>
          </a:prstGeom>
          <a:ln>
            <a:solidFill>
              <a:srgbClr val="6B7280"/>
            </a:solidFill>
            <a:round/>
            <a:tailEnd len="med" type="triangle" w="med"/>
          </a:ln>
        </p:spPr>
      </p:cxnSp>
      <p:sp>
        <p:nvSpPr>
          <p:cNvPr id="218" name="Rounded Rectangle 30"/>
          <p:cNvSpPr/>
          <p:nvPr/>
        </p:nvSpPr>
        <p:spPr>
          <a:xfrm>
            <a:off x="6240960" y="4389120"/>
            <a:ext cx="2571480" cy="1005480"/>
          </a:xfrm>
          <a:prstGeom prst="roundRect">
            <a:avLst>
              <a:gd name="adj" fmla="val 10909"/>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Mesurer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après</a:t>
            </a:r>
            <a:endParaRPr lang="fr-FR" sz="1200" b="0" u="none" strike="noStrike">
              <a:solidFill>
                <a:srgbClr val="FFFFFF"/>
              </a:solidFill>
              <a:effectLst/>
              <a:uFillTx/>
              <a:latin typeface="Arial"/>
            </a:endParaRPr>
          </a:p>
        </p:txBody>
      </p:sp>
      <p:cxnSp>
        <p:nvCxnSpPr>
          <p:cNvPr id="219" name="Connector 31"/>
          <p:cNvCxnSpPr/>
          <p:nvPr/>
        </p:nvCxnSpPr>
        <p:spPr>
          <a:xfrm>
            <a:off x="5938920" y="4892040"/>
            <a:ext cx="283680" cy="360"/>
          </a:xfrm>
          <a:prstGeom prst="straightConnector1">
            <a:avLst/>
          </a:prstGeom>
          <a:ln>
            <a:solidFill>
              <a:srgbClr val="6B7280"/>
            </a:solidFill>
            <a:round/>
            <a:tailEnd len="med" type="triangle" w="med"/>
          </a:ln>
        </p:spPr>
      </p:cxnSp>
      <p:sp>
        <p:nvSpPr>
          <p:cNvPr id="220" name="Rounded Rectangle 32"/>
          <p:cNvSpPr/>
          <p:nvPr/>
        </p:nvSpPr>
        <p:spPr>
          <a:xfrm>
            <a:off x="9132480" y="4389120"/>
            <a:ext cx="2571480" cy="1005480"/>
          </a:xfrm>
          <a:prstGeom prst="roundRect">
            <a:avLst>
              <a:gd name="adj" fmla="val 10909"/>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500" b="1" u="none" strike="noStrike">
                <a:solidFill>
                  <a:srgbClr val="FFFFFF"/>
                </a:solidFill>
                <a:effectLst/>
                <a:uFillTx/>
                <a:latin typeface="Segoe UI"/>
              </a:rPr>
              <a:t>Comparer</a:t>
            </a:r>
            <a:endParaRPr lang="fr-FR" sz="1500" b="0" u="none" strike="noStrike">
              <a:solidFill>
                <a:srgbClr val="FFFFFF"/>
              </a:solidFill>
              <a:effectLst/>
              <a:uFillTx/>
              <a:latin typeface="Arial"/>
            </a:endParaRPr>
          </a:p>
          <a:p>
            <a:pPr algn="ctr" defTabSz="457200">
              <a:lnSpc>
                <a:spcPct val="100000"/>
              </a:lnSpc>
            </a:pPr>
            <a:r>
              <a:rPr lang="en-US" sz="1200" b="0" u="none" strike="noStrike">
                <a:solidFill>
                  <a:srgbClr val="FFFFFF"/>
                </a:solidFill>
                <a:effectLst/>
                <a:uFillTx/>
                <a:latin typeface="Segoe UI"/>
              </a:rPr>
              <a:t>et documenter</a:t>
            </a:r>
            <a:endParaRPr lang="fr-FR" sz="1200" b="0" u="none" strike="noStrike">
              <a:solidFill>
                <a:srgbClr val="FFFFFF"/>
              </a:solidFill>
              <a:effectLst/>
              <a:uFillTx/>
              <a:latin typeface="Arial"/>
            </a:endParaRPr>
          </a:p>
        </p:txBody>
      </p:sp>
      <p:cxnSp>
        <p:nvCxnSpPr>
          <p:cNvPr id="221" name="Connector 33"/>
          <p:cNvCxnSpPr/>
          <p:nvPr/>
        </p:nvCxnSpPr>
        <p:spPr>
          <a:xfrm>
            <a:off x="8830800" y="4892040"/>
            <a:ext cx="283680" cy="360"/>
          </a:xfrm>
          <a:prstGeom prst="straightConnector1">
            <a:avLst/>
          </a:prstGeom>
          <a:ln>
            <a:solidFill>
              <a:srgbClr val="6B7280"/>
            </a:solidFill>
            <a:round/>
            <a:tailEnd len="med" type="triangle" w="med"/>
          </a:ln>
        </p:spPr>
      </p:cxnSp>
      <p:sp>
        <p:nvSpPr>
          <p:cNvPr id="222" name="TextBox 34"/>
          <p:cNvSpPr/>
          <p:nvPr/>
        </p:nvSpPr>
        <p:spPr>
          <a:xfrm>
            <a:off x="548640" y="5669280"/>
            <a:ext cx="1106388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700" b="1" u="none" strike="noStrike">
                <a:solidFill>
                  <a:srgbClr val="1E3A8A"/>
                </a:solidFill>
                <a:effectLst/>
                <a:uFillTx/>
                <a:latin typeface="Segoe UI"/>
              </a:rPr>
              <a:t>17 vérifications automatiques, relancées à chaque contrôle</a:t>
            </a:r>
            <a:endParaRPr lang="fr-FR"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4"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Ce que j'ai trouvé et corrigé</a:t>
            </a:r>
            <a:endParaRPr lang="fr-FR" sz="2800" b="0" u="none" strike="noStrike">
              <a:solidFill>
                <a:srgbClr val="000000"/>
              </a:solidFill>
              <a:effectLst/>
              <a:uFillTx/>
              <a:latin typeface="Arial"/>
            </a:endParaRPr>
          </a:p>
        </p:txBody>
      </p:sp>
      <p:sp>
        <p:nvSpPr>
          <p:cNvPr id="225"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TP3 — Vérifier</a:t>
            </a:r>
            <a:endParaRPr lang="fr-FR" sz="1300" b="0" u="none" strike="noStrike">
              <a:solidFill>
                <a:srgbClr val="000000"/>
              </a:solidFill>
              <a:effectLst/>
              <a:uFillTx/>
              <a:latin typeface="Arial"/>
            </a:endParaRPr>
          </a:p>
        </p:txBody>
      </p:sp>
      <p:sp>
        <p:nvSpPr>
          <p:cNvPr id="226"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7"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228"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9 / 17</a:t>
            </a:r>
            <a:endParaRPr lang="fr-FR" sz="1000" b="0" u="none" strike="noStrike">
              <a:solidFill>
                <a:srgbClr val="000000"/>
              </a:solidFill>
              <a:effectLst/>
              <a:uFillTx/>
              <a:latin typeface="Arial"/>
            </a:endParaRPr>
          </a:p>
        </p:txBody>
      </p:sp>
      <p:graphicFrame>
        <p:nvGraphicFramePr>
          <p:cNvPr id="229" name="Table 7"/>
          <p:cNvGraphicFramePr/>
          <p:nvPr/>
        </p:nvGraphicFramePr>
        <p:xfrm>
          <a:off x="457200" y="1280160"/>
          <a:ext cx="6949080" cy="3566160"/>
        </p:xfrm>
        <a:graphic>
          <a:graphicData uri="http://schemas.openxmlformats.org/drawingml/2006/table">
            <a:tbl>
              <a:tblPr/>
              <a:tblGrid>
                <a:gridCol w="3840480"/>
                <a:gridCol w="1554480"/>
                <a:gridCol w="1554480"/>
              </a:tblGrid>
              <a:tr h="594360">
                <a:tc>
                  <a:txBody>
                    <a:bodyPr lIns="73080" rIns="73080" anchor="ctr">
                      <a:noAutofit/>
                    </a:bodyPr>
                    <a:p>
                      <a:pPr defTabSz="457200">
                        <a:lnSpc>
                          <a:spcPct val="100000"/>
                        </a:lnSpc>
                      </a:pPr>
                      <a:r>
                        <a:rPr lang="en-US" sz="1700" b="1" u="none" strike="noStrike">
                          <a:solidFill>
                            <a:srgbClr val="FFFFFF"/>
                          </a:solidFill>
                          <a:effectLst/>
                          <a:uFillTx/>
                          <a:latin typeface="Segoe UI"/>
                        </a:rPr>
                        <a:t>Problème détecté</a:t>
                      </a:r>
                      <a:endParaRPr lang="fr-FR" sz="1700" b="0" u="none" strike="noStrike">
                        <a:solidFill>
                          <a:srgbClr val="FFFFFF"/>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3A8A"/>
                    </a:solidFill>
                  </a:tcPr>
                </a:tc>
                <a:tc>
                  <a:txBody>
                    <a:bodyPr lIns="73080" rIns="73080" anchor="ctr">
                      <a:noAutofit/>
                    </a:bodyPr>
                    <a:p>
                      <a:pPr defTabSz="457200">
                        <a:lnSpc>
                          <a:spcPct val="100000"/>
                        </a:lnSpc>
                      </a:pPr>
                      <a:r>
                        <a:rPr lang="en-US" sz="1700" b="1" u="none" strike="noStrike">
                          <a:solidFill>
                            <a:srgbClr val="FFFFFF"/>
                          </a:solidFill>
                          <a:effectLst/>
                          <a:uFillTx/>
                          <a:latin typeface="Segoe UI"/>
                        </a:rPr>
                        <a:t>Avant</a:t>
                      </a:r>
                      <a:endParaRPr lang="fr-FR" sz="1700" b="0" u="none" strike="noStrike">
                        <a:solidFill>
                          <a:srgbClr val="FFFFFF"/>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3A8A"/>
                    </a:solidFill>
                  </a:tcPr>
                </a:tc>
                <a:tc>
                  <a:txBody>
                    <a:bodyPr lIns="73080" rIns="73080" anchor="ctr">
                      <a:noAutofit/>
                    </a:bodyPr>
                    <a:p>
                      <a:pPr defTabSz="457200">
                        <a:lnSpc>
                          <a:spcPct val="100000"/>
                        </a:lnSpc>
                      </a:pPr>
                      <a:r>
                        <a:rPr lang="en-US" sz="1700" b="1" u="none" strike="noStrike">
                          <a:solidFill>
                            <a:srgbClr val="FFFFFF"/>
                          </a:solidFill>
                          <a:effectLst/>
                          <a:uFillTx/>
                          <a:latin typeface="Segoe UI"/>
                        </a:rPr>
                        <a:t>Après</a:t>
                      </a:r>
                      <a:endParaRPr lang="fr-FR" sz="1700" b="0" u="none" strike="noStrike">
                        <a:solidFill>
                          <a:srgbClr val="FFFFFF"/>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3A8A"/>
                    </a:solidFill>
                  </a:tcPr>
                </a:tc>
              </a:tr>
              <a:tr h="594360">
                <a:tc>
                  <a:txBody>
                    <a:bodyPr lIns="73080" rIns="73080" anchor="ctr">
                      <a:noAutofit/>
                    </a:bodyPr>
                    <a:p>
                      <a:pPr defTabSz="457200">
                        <a:lnSpc>
                          <a:spcPct val="100000"/>
                        </a:lnSpc>
                      </a:pPr>
                      <a:r>
                        <a:rPr lang="en-US" sz="1700" b="0" u="none" strike="noStrike">
                          <a:solidFill>
                            <a:srgbClr val="111827"/>
                          </a:solidFill>
                          <a:effectLst/>
                          <a:uFillTx/>
                          <a:latin typeface="Segoe UI"/>
                        </a:rPr>
                        <a:t>Salaires irréalistes</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7 614</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r>
              <a:tr h="594360">
                <a:tc>
                  <a:txBody>
                    <a:bodyPr lIns="73080" rIns="73080" anchor="ctr">
                      <a:noAutofit/>
                    </a:bodyPr>
                    <a:p>
                      <a:pPr defTabSz="457200">
                        <a:lnSpc>
                          <a:spcPct val="100000"/>
                        </a:lnSpc>
                      </a:pPr>
                      <a:r>
                        <a:rPr lang="en-US" sz="1700" b="0" u="none" strike="noStrike">
                          <a:solidFill>
                            <a:srgbClr val="111827"/>
                          </a:solidFill>
                          <a:effectLst/>
                          <a:uFillTx/>
                          <a:latin typeface="Segoe UI"/>
                        </a:rPr>
                        <a:t>Compétences en double</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114</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94360">
                <a:tc>
                  <a:txBody>
                    <a:bodyPr lIns="73080" rIns="73080" anchor="ctr">
                      <a:noAutofit/>
                    </a:bodyPr>
                    <a:p>
                      <a:pPr defTabSz="457200">
                        <a:lnSpc>
                          <a:spcPct val="100000"/>
                        </a:lnSpc>
                      </a:pPr>
                      <a:r>
                        <a:rPr lang="en-US" sz="1700" b="0" u="none" strike="noStrike">
                          <a:solidFill>
                            <a:srgbClr val="111827"/>
                          </a:solidFill>
                          <a:effectLst/>
                          <a:uFillTx/>
                          <a:latin typeface="Segoe UI"/>
                        </a:rPr>
                        <a:t>Entreprises en double</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20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r>
              <a:tr h="594360">
                <a:tc>
                  <a:txBody>
                    <a:bodyPr lIns="73080" rIns="73080" anchor="ctr">
                      <a:noAutofit/>
                    </a:bodyPr>
                    <a:p>
                      <a:pPr defTabSz="457200">
                        <a:lnSpc>
                          <a:spcPct val="100000"/>
                        </a:lnSpc>
                      </a:pPr>
                      <a:r>
                        <a:rPr lang="en-US" sz="1700" b="0" u="none" strike="noStrike">
                          <a:solidFill>
                            <a:srgbClr val="111827"/>
                          </a:solidFill>
                          <a:effectLst/>
                          <a:uFillTx/>
                          <a:latin typeface="Segoe UI"/>
                        </a:rPr>
                        <a:t>Offres mal reliées</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94360">
                <a:tc>
                  <a:txBody>
                    <a:bodyPr lIns="73080" rIns="73080" anchor="ctr">
                      <a:noAutofit/>
                    </a:bodyPr>
                    <a:p>
                      <a:pPr defTabSz="457200">
                        <a:lnSpc>
                          <a:spcPct val="100000"/>
                        </a:lnSpc>
                      </a:pPr>
                      <a:r>
                        <a:rPr lang="en-US" sz="1700" b="0" u="none" strike="noStrike">
                          <a:solidFill>
                            <a:srgbClr val="111827"/>
                          </a:solidFill>
                          <a:effectLst/>
                          <a:uFillTx/>
                          <a:latin typeface="Segoe UI"/>
                        </a:rPr>
                        <a:t>Offres en double</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c>
                  <a:txBody>
                    <a:bodyPr lIns="73080" rIns="73080" anchor="ctr">
                      <a:noAutofit/>
                    </a:bodyPr>
                    <a:p>
                      <a:pPr defTabSz="457200">
                        <a:lnSpc>
                          <a:spcPct val="100000"/>
                        </a:lnSpc>
                      </a:pPr>
                      <a:r>
                        <a:rPr lang="en-US" sz="1700" b="0" u="none" strike="noStrike">
                          <a:solidFill>
                            <a:srgbClr val="111827"/>
                          </a:solidFill>
                          <a:effectLst/>
                          <a:uFillTx/>
                          <a:latin typeface="Segoe UI"/>
                        </a:rPr>
                        <a:t>0</a:t>
                      </a:r>
                      <a:endParaRPr lang="fr-FR" sz="1700" b="0" u="none" strike="noStrike">
                        <a:solidFill>
                          <a:srgbClr val="000000"/>
                        </a:solidFill>
                        <a:effectLst/>
                        <a:uFillTx/>
                        <a:latin typeface="Arial"/>
                      </a:endParaRPr>
                    </a:p>
                  </a:txBody>
                  <a:tcPr anchor="ctr" marL="73080" marR="7308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FF6FF"/>
                    </a:solidFill>
                  </a:tcPr>
                </a:tc>
              </a:tr>
            </a:tbl>
          </a:graphicData>
        </a:graphic>
      </p:graphicFrame>
      <p:sp>
        <p:nvSpPr>
          <p:cNvPr id="230" name="Rounded Rectangle 8"/>
          <p:cNvSpPr/>
          <p:nvPr/>
        </p:nvSpPr>
        <p:spPr>
          <a:xfrm>
            <a:off x="7772400" y="1280160"/>
            <a:ext cx="3931560" cy="3565800"/>
          </a:xfrm>
          <a:prstGeom prst="roundRect">
            <a:avLst>
              <a:gd name="adj" fmla="val 3076"/>
            </a:avLst>
          </a:prstGeom>
          <a:solidFill>
            <a:srgbClr val="FFFFFF"/>
          </a:solidFill>
          <a:ln w="15875">
            <a:solidFill>
              <a:srgbClr val="EA580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31" name="TextBox 9"/>
          <p:cNvSpPr/>
          <p:nvPr/>
        </p:nvSpPr>
        <p:spPr>
          <a:xfrm>
            <a:off x="7955280" y="1417320"/>
            <a:ext cx="3565800" cy="45684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800" b="1" u="none" strike="noStrike">
                <a:solidFill>
                  <a:srgbClr val="EA580C"/>
                </a:solidFill>
                <a:effectLst/>
                <a:uFillTx/>
                <a:latin typeface="Segoe UI"/>
              </a:rPr>
              <a:t>Exemple réel</a:t>
            </a:r>
            <a:endParaRPr lang="fr-FR" sz="1800" b="0" u="none" strike="noStrike">
              <a:solidFill>
                <a:srgbClr val="000000"/>
              </a:solidFill>
              <a:effectLst/>
              <a:uFillTx/>
              <a:latin typeface="Arial"/>
            </a:endParaRPr>
          </a:p>
        </p:txBody>
      </p:sp>
      <p:sp>
        <p:nvSpPr>
          <p:cNvPr id="232" name="TextBox 10"/>
          <p:cNvSpPr/>
          <p:nvPr/>
        </p:nvSpPr>
        <p:spPr>
          <a:xfrm>
            <a:off x="7955280" y="1920240"/>
            <a:ext cx="356580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Chauffeur de car scolaire</a:t>
            </a:r>
            <a:endParaRPr lang="fr-FR" sz="1600" b="0" u="none" strike="noStrike">
              <a:solidFill>
                <a:srgbClr val="000000"/>
              </a:solidFill>
              <a:effectLst/>
              <a:uFillTx/>
              <a:latin typeface="Arial"/>
            </a:endParaRPr>
          </a:p>
        </p:txBody>
      </p:sp>
      <p:sp>
        <p:nvSpPr>
          <p:cNvPr id="233" name="TextBox 11"/>
          <p:cNvSpPr/>
          <p:nvPr/>
        </p:nvSpPr>
        <p:spPr>
          <a:xfrm>
            <a:off x="7955280" y="2468880"/>
            <a:ext cx="3565800" cy="63972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2800" b="1" u="none" strike="noStrike">
                <a:solidFill>
                  <a:srgbClr val="DC2626"/>
                </a:solidFill>
                <a:effectLst/>
                <a:uFillTx/>
                <a:latin typeface="Segoe UI"/>
              </a:rPr>
              <a:t>12 € par an</a:t>
            </a:r>
            <a:endParaRPr lang="fr-FR" sz="2800" b="0" u="none" strike="noStrike">
              <a:solidFill>
                <a:srgbClr val="000000"/>
              </a:solidFill>
              <a:effectLst/>
              <a:uFillTx/>
              <a:latin typeface="Arial"/>
            </a:endParaRPr>
          </a:p>
        </p:txBody>
      </p:sp>
      <p:sp>
        <p:nvSpPr>
          <p:cNvPr id="234" name="TextBox 12"/>
          <p:cNvSpPr/>
          <p:nvPr/>
        </p:nvSpPr>
        <p:spPr>
          <a:xfrm>
            <a:off x="7955280" y="3063240"/>
            <a:ext cx="3565800" cy="45684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2400" b="0" u="none" strike="noStrike">
                <a:solidFill>
                  <a:srgbClr val="6B7280"/>
                </a:solidFill>
                <a:effectLst/>
                <a:uFillTx/>
                <a:latin typeface="Segoe UI"/>
              </a:rPr>
              <a:t>↓</a:t>
            </a:r>
            <a:endParaRPr lang="fr-FR" sz="2400" b="0" u="none" strike="noStrike">
              <a:solidFill>
                <a:srgbClr val="000000"/>
              </a:solidFill>
              <a:effectLst/>
              <a:uFillTx/>
              <a:latin typeface="Arial"/>
            </a:endParaRPr>
          </a:p>
        </p:txBody>
      </p:sp>
      <p:sp>
        <p:nvSpPr>
          <p:cNvPr id="235" name="TextBox 13"/>
          <p:cNvSpPr/>
          <p:nvPr/>
        </p:nvSpPr>
        <p:spPr>
          <a:xfrm>
            <a:off x="7955280" y="3520440"/>
            <a:ext cx="3565800" cy="63972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2800" b="1" u="none" strike="noStrike">
                <a:solidFill>
                  <a:srgbClr val="16A34A"/>
                </a:solidFill>
                <a:effectLst/>
                <a:uFillTx/>
                <a:latin typeface="Segoe UI"/>
              </a:rPr>
              <a:t>25 480 € par an</a:t>
            </a:r>
            <a:endParaRPr lang="fr-FR" sz="2800" b="0" u="none" strike="noStrike">
              <a:solidFill>
                <a:srgbClr val="000000"/>
              </a:solidFill>
              <a:effectLst/>
              <a:uFillTx/>
              <a:latin typeface="Arial"/>
            </a:endParaRPr>
          </a:p>
        </p:txBody>
      </p:sp>
      <p:sp>
        <p:nvSpPr>
          <p:cNvPr id="236" name="TextBox 14"/>
          <p:cNvSpPr/>
          <p:nvPr/>
        </p:nvSpPr>
        <p:spPr>
          <a:xfrm>
            <a:off x="7955280" y="4160520"/>
            <a:ext cx="356580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300" b="0" u="none" strike="noStrike">
                <a:solidFill>
                  <a:srgbClr val="6B7280"/>
                </a:solidFill>
                <a:effectLst/>
                <a:uFillTx/>
                <a:latin typeface="Segoe UI"/>
              </a:rPr>
              <a:t>12 € de l'heure, correctement converti</a:t>
            </a:r>
            <a:endParaRPr lang="fr-FR" sz="1300" b="0" u="none" strike="noStrike">
              <a:solidFill>
                <a:srgbClr val="000000"/>
              </a:solidFill>
              <a:effectLst/>
              <a:uFillTx/>
              <a:latin typeface="Arial"/>
            </a:endParaRPr>
          </a:p>
        </p:txBody>
      </p:sp>
      <p:sp>
        <p:nvSpPr>
          <p:cNvPr id="237" name="Rounded Rectangle 15"/>
          <p:cNvSpPr/>
          <p:nvPr/>
        </p:nvSpPr>
        <p:spPr>
          <a:xfrm>
            <a:off x="548640" y="5303520"/>
            <a:ext cx="11063880" cy="1096920"/>
          </a:xfrm>
          <a:prstGeom prst="roundRect">
            <a:avLst>
              <a:gd name="adj" fmla="val 10000"/>
            </a:avLst>
          </a:prstGeom>
          <a:solidFill>
            <a:srgbClr val="EFF6FF"/>
          </a:solidFill>
          <a:ln w="15875">
            <a:solidFill>
              <a:srgbClr val="16A34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800" b="1" u="none" strike="noStrike">
                <a:solidFill>
                  <a:srgbClr val="111827"/>
                </a:solidFill>
                <a:effectLst/>
                <a:uFillTx/>
                <a:latin typeface="Segoe UI"/>
              </a:rPr>
              <a:t>Toutes les erreurs graves sont à zéro</a:t>
            </a:r>
            <a:endParaRPr lang="fr-FR" sz="1800" b="0" u="none" strike="noStrike">
              <a:solidFill>
                <a:srgbClr val="000000"/>
              </a:solidFill>
              <a:effectLst/>
              <a:uFillTx/>
              <a:latin typeface="Arial"/>
            </a:endParaRPr>
          </a:p>
          <a:p>
            <a:pPr algn="ctr" defTabSz="457200">
              <a:lnSpc>
                <a:spcPct val="100000"/>
              </a:lnSpc>
            </a:pPr>
            <a:r>
              <a:rPr lang="en-US" sz="1500" b="0" u="none" strike="noStrike">
                <a:solidFill>
                  <a:srgbClr val="111827"/>
                </a:solidFill>
                <a:effectLst/>
                <a:uFillTx/>
                <a:latin typeface="Segoe UI"/>
              </a:rPr>
              <a:t>et la règle a été corrigée à la source : elles ne reviendront pas</a:t>
            </a:r>
            <a:endParaRPr lang="fr-FR"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39"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Ce que j'ai choisi de ne pas inventer</a:t>
            </a:r>
            <a:endParaRPr lang="fr-FR" sz="2800" b="0" u="none" strike="noStrike">
              <a:solidFill>
                <a:srgbClr val="000000"/>
              </a:solidFill>
              <a:effectLst/>
              <a:uFillTx/>
              <a:latin typeface="Arial"/>
            </a:endParaRPr>
          </a:p>
        </p:txBody>
      </p:sp>
      <p:sp>
        <p:nvSpPr>
          <p:cNvPr id="240"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TP3 — Vérifier</a:t>
            </a:r>
            <a:endParaRPr lang="fr-FR" sz="1300" b="0" u="none" strike="noStrike">
              <a:solidFill>
                <a:srgbClr val="000000"/>
              </a:solidFill>
              <a:effectLst/>
              <a:uFillTx/>
              <a:latin typeface="Arial"/>
            </a:endParaRPr>
          </a:p>
        </p:txBody>
      </p:sp>
      <p:sp>
        <p:nvSpPr>
          <p:cNvPr id="241"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2"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243"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10 / 17</a:t>
            </a:r>
            <a:endParaRPr lang="fr-FR" sz="1000" b="0" u="none" strike="noStrike">
              <a:solidFill>
                <a:srgbClr val="000000"/>
              </a:solidFill>
              <a:effectLst/>
              <a:uFillTx/>
              <a:latin typeface="Arial"/>
            </a:endParaRPr>
          </a:p>
        </p:txBody>
      </p:sp>
      <p:sp>
        <p:nvSpPr>
          <p:cNvPr id="244" name="Rounded Rectangle 7"/>
          <p:cNvSpPr/>
          <p:nvPr/>
        </p:nvSpPr>
        <p:spPr>
          <a:xfrm>
            <a:off x="731520" y="1463040"/>
            <a:ext cx="3382920" cy="1737000"/>
          </a:xfrm>
          <a:prstGeom prst="roundRect">
            <a:avLst>
              <a:gd name="adj" fmla="val 631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5" name="TextBox 8"/>
          <p:cNvSpPr/>
          <p:nvPr/>
        </p:nvSpPr>
        <p:spPr>
          <a:xfrm>
            <a:off x="731520" y="1600200"/>
            <a:ext cx="33829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4400" b="1" u="none" strike="noStrike">
                <a:solidFill>
                  <a:srgbClr val="EA580C"/>
                </a:solidFill>
                <a:effectLst/>
                <a:uFillTx/>
                <a:latin typeface="Segoe UI"/>
              </a:rPr>
              <a:t>27 %</a:t>
            </a:r>
            <a:endParaRPr lang="fr-FR" sz="4400" b="0" u="none" strike="noStrike">
              <a:solidFill>
                <a:srgbClr val="000000"/>
              </a:solidFill>
              <a:effectLst/>
              <a:uFillTx/>
              <a:latin typeface="Arial"/>
            </a:endParaRPr>
          </a:p>
        </p:txBody>
      </p:sp>
      <p:sp>
        <p:nvSpPr>
          <p:cNvPr id="246" name="TextBox 9"/>
          <p:cNvSpPr/>
          <p:nvPr/>
        </p:nvSpPr>
        <p:spPr>
          <a:xfrm>
            <a:off x="822960" y="2331720"/>
            <a:ext cx="320004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des offres sans salaire indiqué</a:t>
            </a:r>
            <a:endParaRPr lang="fr-FR" sz="1400" b="0" u="none" strike="noStrike">
              <a:solidFill>
                <a:srgbClr val="000000"/>
              </a:solidFill>
              <a:effectLst/>
              <a:uFillTx/>
              <a:latin typeface="Arial"/>
            </a:endParaRPr>
          </a:p>
        </p:txBody>
      </p:sp>
      <p:sp>
        <p:nvSpPr>
          <p:cNvPr id="247" name="Rounded Rectangle 10"/>
          <p:cNvSpPr/>
          <p:nvPr/>
        </p:nvSpPr>
        <p:spPr>
          <a:xfrm>
            <a:off x="4389120" y="1463040"/>
            <a:ext cx="3382920" cy="1737000"/>
          </a:xfrm>
          <a:prstGeom prst="roundRect">
            <a:avLst>
              <a:gd name="adj" fmla="val 631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8" name="TextBox 11"/>
          <p:cNvSpPr/>
          <p:nvPr/>
        </p:nvSpPr>
        <p:spPr>
          <a:xfrm>
            <a:off x="4389120" y="1600200"/>
            <a:ext cx="33829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4400" b="1" u="none" strike="noStrike">
                <a:solidFill>
                  <a:srgbClr val="EA580C"/>
                </a:solidFill>
                <a:effectLst/>
                <a:uFillTx/>
                <a:latin typeface="Segoe UI"/>
              </a:rPr>
              <a:t>12 %</a:t>
            </a:r>
            <a:endParaRPr lang="fr-FR" sz="4400" b="0" u="none" strike="noStrike">
              <a:solidFill>
                <a:srgbClr val="000000"/>
              </a:solidFill>
              <a:effectLst/>
              <a:uFillTx/>
              <a:latin typeface="Arial"/>
            </a:endParaRPr>
          </a:p>
        </p:txBody>
      </p:sp>
      <p:sp>
        <p:nvSpPr>
          <p:cNvPr id="249" name="TextBox 12"/>
          <p:cNvSpPr/>
          <p:nvPr/>
        </p:nvSpPr>
        <p:spPr>
          <a:xfrm>
            <a:off x="4480560" y="2331720"/>
            <a:ext cx="320004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des offres sans compétence listée</a:t>
            </a:r>
            <a:endParaRPr lang="fr-FR" sz="1400" b="0" u="none" strike="noStrike">
              <a:solidFill>
                <a:srgbClr val="000000"/>
              </a:solidFill>
              <a:effectLst/>
              <a:uFillTx/>
              <a:latin typeface="Arial"/>
            </a:endParaRPr>
          </a:p>
        </p:txBody>
      </p:sp>
      <p:sp>
        <p:nvSpPr>
          <p:cNvPr id="250" name="Rounded Rectangle 13"/>
          <p:cNvSpPr/>
          <p:nvPr/>
        </p:nvSpPr>
        <p:spPr>
          <a:xfrm>
            <a:off x="8046720" y="1463040"/>
            <a:ext cx="3382920" cy="1737000"/>
          </a:xfrm>
          <a:prstGeom prst="roundRect">
            <a:avLst>
              <a:gd name="adj" fmla="val 631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1" name="TextBox 14"/>
          <p:cNvSpPr/>
          <p:nvPr/>
        </p:nvSpPr>
        <p:spPr>
          <a:xfrm>
            <a:off x="8046720" y="1600200"/>
            <a:ext cx="33829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4400" b="1" u="none" strike="noStrike">
                <a:solidFill>
                  <a:srgbClr val="EA580C"/>
                </a:solidFill>
                <a:effectLst/>
                <a:uFillTx/>
                <a:latin typeface="Segoe UI"/>
              </a:rPr>
              <a:t>1,5 %</a:t>
            </a:r>
            <a:endParaRPr lang="fr-FR" sz="4400" b="0" u="none" strike="noStrike">
              <a:solidFill>
                <a:srgbClr val="000000"/>
              </a:solidFill>
              <a:effectLst/>
              <a:uFillTx/>
              <a:latin typeface="Arial"/>
            </a:endParaRPr>
          </a:p>
        </p:txBody>
      </p:sp>
      <p:sp>
        <p:nvSpPr>
          <p:cNvPr id="252" name="TextBox 15"/>
          <p:cNvSpPr/>
          <p:nvPr/>
        </p:nvSpPr>
        <p:spPr>
          <a:xfrm>
            <a:off x="8138160" y="2331720"/>
            <a:ext cx="3200040" cy="82260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des offres dont la commune n'a pas pu être vérifiée</a:t>
            </a:r>
            <a:endParaRPr lang="fr-FR" sz="1400" b="0" u="none" strike="noStrike">
              <a:solidFill>
                <a:srgbClr val="000000"/>
              </a:solidFill>
              <a:effectLst/>
              <a:uFillTx/>
              <a:latin typeface="Arial"/>
            </a:endParaRPr>
          </a:p>
        </p:txBody>
      </p:sp>
      <p:sp>
        <p:nvSpPr>
          <p:cNvPr id="253" name="Rounded Rectangle 16"/>
          <p:cNvSpPr/>
          <p:nvPr/>
        </p:nvSpPr>
        <p:spPr>
          <a:xfrm>
            <a:off x="731520" y="3657600"/>
            <a:ext cx="10698120" cy="1279800"/>
          </a:xfrm>
          <a:prstGeom prst="roundRect">
            <a:avLst>
              <a:gd name="adj" fmla="val 8571"/>
            </a:avLst>
          </a:prstGeom>
          <a:solidFill>
            <a:srgbClr val="EFF6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200" b="1" u="none" strike="noStrike">
                <a:solidFill>
                  <a:srgbClr val="1E3A8A"/>
                </a:solidFill>
                <a:effectLst/>
                <a:uFillTx/>
                <a:latin typeface="Segoe UI"/>
              </a:rPr>
              <a:t>« Une donnée honnête vaut mieux qu'une donnée complète mais fausse »</a:t>
            </a:r>
            <a:endParaRPr lang="fr-FR" sz="2200" b="0" u="none" strike="noStrike">
              <a:solidFill>
                <a:srgbClr val="000000"/>
              </a:solidFill>
              <a:effectLst/>
              <a:uFillTx/>
              <a:latin typeface="Arial"/>
            </a:endParaRPr>
          </a:p>
        </p:txBody>
      </p:sp>
      <p:sp>
        <p:nvSpPr>
          <p:cNvPr id="254" name="TextBox 17"/>
          <p:cNvSpPr/>
          <p:nvPr/>
        </p:nvSpPr>
        <p:spPr>
          <a:xfrm>
            <a:off x="731520" y="5212080"/>
            <a:ext cx="10698120" cy="91404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700" b="0" u="none" strike="noStrike">
                <a:solidFill>
                  <a:srgbClr val="6B7280"/>
                </a:solidFill>
                <a:effectLst/>
                <a:uFillTx/>
                <a:latin typeface="Segoe UI"/>
              </a:rPr>
              <a:t>Ces manques viennent de la source. Ils sont mesurés à chaque contrôle et affichés comme limites du jeu de données.</a:t>
            </a:r>
            <a:endParaRPr lang="fr-FR"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6"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Le marché de l'emploi en chiffres</a:t>
            </a:r>
            <a:endParaRPr lang="fr-FR" sz="2800" b="0" u="none" strike="noStrike">
              <a:solidFill>
                <a:srgbClr val="000000"/>
              </a:solidFill>
              <a:effectLst/>
              <a:uFillTx/>
              <a:latin typeface="Arial"/>
            </a:endParaRPr>
          </a:p>
        </p:txBody>
      </p:sp>
      <p:sp>
        <p:nvSpPr>
          <p:cNvPr id="257"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Résultats</a:t>
            </a:r>
            <a:endParaRPr lang="fr-FR" sz="1300" b="0" u="none" strike="noStrike">
              <a:solidFill>
                <a:srgbClr val="000000"/>
              </a:solidFill>
              <a:effectLst/>
              <a:uFillTx/>
              <a:latin typeface="Arial"/>
            </a:endParaRPr>
          </a:p>
        </p:txBody>
      </p:sp>
      <p:sp>
        <p:nvSpPr>
          <p:cNvPr id="258"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9"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260"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11 / 17</a:t>
            </a:r>
            <a:endParaRPr lang="fr-FR" sz="1000" b="0" u="none" strike="noStrike">
              <a:solidFill>
                <a:srgbClr val="000000"/>
              </a:solidFill>
              <a:effectLst/>
              <a:uFillTx/>
              <a:latin typeface="Arial"/>
            </a:endParaRPr>
          </a:p>
        </p:txBody>
      </p:sp>
      <p:sp>
        <p:nvSpPr>
          <p:cNvPr id="261" name="Rounded Rectangle 7"/>
          <p:cNvSpPr/>
          <p:nvPr/>
        </p:nvSpPr>
        <p:spPr>
          <a:xfrm>
            <a:off x="548640" y="1371600"/>
            <a:ext cx="2605680" cy="1645560"/>
          </a:xfrm>
          <a:prstGeom prst="roundRect">
            <a:avLst>
              <a:gd name="adj" fmla="val 666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62" name="TextBox 8"/>
          <p:cNvSpPr/>
          <p:nvPr/>
        </p:nvSpPr>
        <p:spPr>
          <a:xfrm>
            <a:off x="548640" y="1508760"/>
            <a:ext cx="260568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800" b="1" u="none" strike="noStrike">
                <a:solidFill>
                  <a:srgbClr val="1E3A8A"/>
                </a:solidFill>
                <a:effectLst/>
                <a:uFillTx/>
                <a:latin typeface="Segoe UI"/>
              </a:rPr>
              <a:t>21 240</a:t>
            </a:r>
            <a:endParaRPr lang="fr-FR" sz="3800" b="0" u="none" strike="noStrike">
              <a:solidFill>
                <a:srgbClr val="000000"/>
              </a:solidFill>
              <a:effectLst/>
              <a:uFillTx/>
              <a:latin typeface="Arial"/>
            </a:endParaRPr>
          </a:p>
        </p:txBody>
      </p:sp>
      <p:sp>
        <p:nvSpPr>
          <p:cNvPr id="263" name="TextBox 9"/>
          <p:cNvSpPr/>
          <p:nvPr/>
        </p:nvSpPr>
        <p:spPr>
          <a:xfrm>
            <a:off x="640080" y="2240280"/>
            <a:ext cx="242280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offres d'emploi</a:t>
            </a:r>
            <a:endParaRPr lang="fr-FR" sz="1400" b="0" u="none" strike="noStrike">
              <a:solidFill>
                <a:srgbClr val="000000"/>
              </a:solidFill>
              <a:effectLst/>
              <a:uFillTx/>
              <a:latin typeface="Arial"/>
            </a:endParaRPr>
          </a:p>
        </p:txBody>
      </p:sp>
      <p:sp>
        <p:nvSpPr>
          <p:cNvPr id="264" name="Rounded Rectangle 10"/>
          <p:cNvSpPr/>
          <p:nvPr/>
        </p:nvSpPr>
        <p:spPr>
          <a:xfrm>
            <a:off x="3383280" y="1371600"/>
            <a:ext cx="2605680" cy="1645560"/>
          </a:xfrm>
          <a:prstGeom prst="roundRect">
            <a:avLst>
              <a:gd name="adj" fmla="val 666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65" name="TextBox 11"/>
          <p:cNvSpPr/>
          <p:nvPr/>
        </p:nvSpPr>
        <p:spPr>
          <a:xfrm>
            <a:off x="3383280" y="1508760"/>
            <a:ext cx="260568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800" b="1" u="none" strike="noStrike">
                <a:solidFill>
                  <a:srgbClr val="1E3A8A"/>
                </a:solidFill>
                <a:effectLst/>
                <a:uFillTx/>
                <a:latin typeface="Segoe UI"/>
              </a:rPr>
              <a:t>9 954</a:t>
            </a:r>
            <a:endParaRPr lang="fr-FR" sz="3800" b="0" u="none" strike="noStrike">
              <a:solidFill>
                <a:srgbClr val="000000"/>
              </a:solidFill>
              <a:effectLst/>
              <a:uFillTx/>
              <a:latin typeface="Arial"/>
            </a:endParaRPr>
          </a:p>
        </p:txBody>
      </p:sp>
      <p:sp>
        <p:nvSpPr>
          <p:cNvPr id="266" name="TextBox 12"/>
          <p:cNvSpPr/>
          <p:nvPr/>
        </p:nvSpPr>
        <p:spPr>
          <a:xfrm>
            <a:off x="3474720" y="2240280"/>
            <a:ext cx="242280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entreprises qui recrutent</a:t>
            </a:r>
            <a:endParaRPr lang="fr-FR" sz="1400" b="0" u="none" strike="noStrike">
              <a:solidFill>
                <a:srgbClr val="000000"/>
              </a:solidFill>
              <a:effectLst/>
              <a:uFillTx/>
              <a:latin typeface="Arial"/>
            </a:endParaRPr>
          </a:p>
        </p:txBody>
      </p:sp>
      <p:sp>
        <p:nvSpPr>
          <p:cNvPr id="267" name="Rounded Rectangle 13"/>
          <p:cNvSpPr/>
          <p:nvPr/>
        </p:nvSpPr>
        <p:spPr>
          <a:xfrm>
            <a:off x="6217920" y="1371600"/>
            <a:ext cx="2605680" cy="1645560"/>
          </a:xfrm>
          <a:prstGeom prst="roundRect">
            <a:avLst>
              <a:gd name="adj" fmla="val 666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68" name="TextBox 14"/>
          <p:cNvSpPr/>
          <p:nvPr/>
        </p:nvSpPr>
        <p:spPr>
          <a:xfrm>
            <a:off x="6217920" y="1508760"/>
            <a:ext cx="260568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800" b="1" u="none" strike="noStrike">
                <a:solidFill>
                  <a:srgbClr val="1E3A8A"/>
                </a:solidFill>
                <a:effectLst/>
                <a:uFillTx/>
                <a:latin typeface="Segoe UI"/>
              </a:rPr>
              <a:t>5 989</a:t>
            </a:r>
            <a:endParaRPr lang="fr-FR" sz="3800" b="0" u="none" strike="noStrike">
              <a:solidFill>
                <a:srgbClr val="000000"/>
              </a:solidFill>
              <a:effectLst/>
              <a:uFillTx/>
              <a:latin typeface="Arial"/>
            </a:endParaRPr>
          </a:p>
        </p:txBody>
      </p:sp>
      <p:sp>
        <p:nvSpPr>
          <p:cNvPr id="269" name="TextBox 15"/>
          <p:cNvSpPr/>
          <p:nvPr/>
        </p:nvSpPr>
        <p:spPr>
          <a:xfrm>
            <a:off x="6309360" y="2240280"/>
            <a:ext cx="242280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communes</a:t>
            </a:r>
            <a:endParaRPr lang="fr-FR" sz="1400" b="0" u="none" strike="noStrike">
              <a:solidFill>
                <a:srgbClr val="000000"/>
              </a:solidFill>
              <a:effectLst/>
              <a:uFillTx/>
              <a:latin typeface="Arial"/>
            </a:endParaRPr>
          </a:p>
        </p:txBody>
      </p:sp>
      <p:sp>
        <p:nvSpPr>
          <p:cNvPr id="270" name="Rounded Rectangle 16"/>
          <p:cNvSpPr/>
          <p:nvPr/>
        </p:nvSpPr>
        <p:spPr>
          <a:xfrm>
            <a:off x="9052560" y="1371600"/>
            <a:ext cx="2605680" cy="1645560"/>
          </a:xfrm>
          <a:prstGeom prst="roundRect">
            <a:avLst>
              <a:gd name="adj" fmla="val 666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1" name="TextBox 17"/>
          <p:cNvSpPr/>
          <p:nvPr/>
        </p:nvSpPr>
        <p:spPr>
          <a:xfrm>
            <a:off x="9052560" y="1508760"/>
            <a:ext cx="260568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800" b="1" u="none" strike="noStrike">
                <a:solidFill>
                  <a:srgbClr val="1E3A8A"/>
                </a:solidFill>
                <a:effectLst/>
                <a:uFillTx/>
                <a:latin typeface="Segoe UI"/>
              </a:rPr>
              <a:t>97</a:t>
            </a:r>
            <a:endParaRPr lang="fr-FR" sz="3800" b="0" u="none" strike="noStrike">
              <a:solidFill>
                <a:srgbClr val="000000"/>
              </a:solidFill>
              <a:effectLst/>
              <a:uFillTx/>
              <a:latin typeface="Arial"/>
            </a:endParaRPr>
          </a:p>
        </p:txBody>
      </p:sp>
      <p:sp>
        <p:nvSpPr>
          <p:cNvPr id="272" name="TextBox 18"/>
          <p:cNvSpPr/>
          <p:nvPr/>
        </p:nvSpPr>
        <p:spPr>
          <a:xfrm>
            <a:off x="9144000" y="2240280"/>
            <a:ext cx="242280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départements, outre-mer compris</a:t>
            </a:r>
            <a:endParaRPr lang="fr-FR" sz="1400" b="0" u="none" strike="noStrike">
              <a:solidFill>
                <a:srgbClr val="000000"/>
              </a:solidFill>
              <a:effectLst/>
              <a:uFillTx/>
              <a:latin typeface="Arial"/>
            </a:endParaRPr>
          </a:p>
        </p:txBody>
      </p:sp>
      <p:sp>
        <p:nvSpPr>
          <p:cNvPr id="273" name="Rounded Rectangle 19"/>
          <p:cNvSpPr/>
          <p:nvPr/>
        </p:nvSpPr>
        <p:spPr>
          <a:xfrm>
            <a:off x="731520" y="3383280"/>
            <a:ext cx="3382920" cy="1645560"/>
          </a:xfrm>
          <a:prstGeom prst="roundRect">
            <a:avLst>
              <a:gd name="adj" fmla="val 666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4" name="TextBox 20"/>
          <p:cNvSpPr/>
          <p:nvPr/>
        </p:nvSpPr>
        <p:spPr>
          <a:xfrm>
            <a:off x="731520" y="3520440"/>
            <a:ext cx="33829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800" b="1" u="none" strike="noStrike">
                <a:solidFill>
                  <a:srgbClr val="16A34A"/>
                </a:solidFill>
                <a:effectLst/>
                <a:uFillTx/>
                <a:latin typeface="Segoe UI"/>
              </a:rPr>
              <a:t>845</a:t>
            </a:r>
            <a:endParaRPr lang="fr-FR" sz="3800" b="0" u="none" strike="noStrike">
              <a:solidFill>
                <a:srgbClr val="000000"/>
              </a:solidFill>
              <a:effectLst/>
              <a:uFillTx/>
              <a:latin typeface="Arial"/>
            </a:endParaRPr>
          </a:p>
        </p:txBody>
      </p:sp>
      <p:sp>
        <p:nvSpPr>
          <p:cNvPr id="275" name="TextBox 21"/>
          <p:cNvSpPr/>
          <p:nvPr/>
        </p:nvSpPr>
        <p:spPr>
          <a:xfrm>
            <a:off x="822960" y="4251960"/>
            <a:ext cx="32000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métiers différents</a:t>
            </a:r>
            <a:endParaRPr lang="fr-FR" sz="1400" b="0" u="none" strike="noStrike">
              <a:solidFill>
                <a:srgbClr val="000000"/>
              </a:solidFill>
              <a:effectLst/>
              <a:uFillTx/>
              <a:latin typeface="Arial"/>
            </a:endParaRPr>
          </a:p>
        </p:txBody>
      </p:sp>
      <p:sp>
        <p:nvSpPr>
          <p:cNvPr id="276" name="Rounded Rectangle 22"/>
          <p:cNvSpPr/>
          <p:nvPr/>
        </p:nvSpPr>
        <p:spPr>
          <a:xfrm>
            <a:off x="4389120" y="3383280"/>
            <a:ext cx="3382920" cy="1645560"/>
          </a:xfrm>
          <a:prstGeom prst="roundRect">
            <a:avLst>
              <a:gd name="adj" fmla="val 666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7" name="TextBox 23"/>
          <p:cNvSpPr/>
          <p:nvPr/>
        </p:nvSpPr>
        <p:spPr>
          <a:xfrm>
            <a:off x="4389120" y="3520440"/>
            <a:ext cx="33829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800" b="1" u="none" strike="noStrike">
                <a:solidFill>
                  <a:srgbClr val="16A34A"/>
                </a:solidFill>
                <a:effectLst/>
                <a:uFillTx/>
                <a:latin typeface="Segoe UI"/>
              </a:rPr>
              <a:t>6 752</a:t>
            </a:r>
            <a:endParaRPr lang="fr-FR" sz="3800" b="0" u="none" strike="noStrike">
              <a:solidFill>
                <a:srgbClr val="000000"/>
              </a:solidFill>
              <a:effectLst/>
              <a:uFillTx/>
              <a:latin typeface="Arial"/>
            </a:endParaRPr>
          </a:p>
        </p:txBody>
      </p:sp>
      <p:sp>
        <p:nvSpPr>
          <p:cNvPr id="278" name="TextBox 24"/>
          <p:cNvSpPr/>
          <p:nvPr/>
        </p:nvSpPr>
        <p:spPr>
          <a:xfrm>
            <a:off x="4480560" y="4251960"/>
            <a:ext cx="32000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compétences différentes</a:t>
            </a:r>
            <a:endParaRPr lang="fr-FR" sz="1400" b="0" u="none" strike="noStrike">
              <a:solidFill>
                <a:srgbClr val="000000"/>
              </a:solidFill>
              <a:effectLst/>
              <a:uFillTx/>
              <a:latin typeface="Arial"/>
            </a:endParaRPr>
          </a:p>
        </p:txBody>
      </p:sp>
      <p:sp>
        <p:nvSpPr>
          <p:cNvPr id="279" name="Rounded Rectangle 25"/>
          <p:cNvSpPr/>
          <p:nvPr/>
        </p:nvSpPr>
        <p:spPr>
          <a:xfrm>
            <a:off x="8046720" y="3383280"/>
            <a:ext cx="3382920" cy="1645560"/>
          </a:xfrm>
          <a:prstGeom prst="roundRect">
            <a:avLst>
              <a:gd name="adj" fmla="val 6666"/>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80" name="TextBox 26"/>
          <p:cNvSpPr/>
          <p:nvPr/>
        </p:nvSpPr>
        <p:spPr>
          <a:xfrm>
            <a:off x="8046720" y="3520440"/>
            <a:ext cx="338292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800" b="1" u="none" strike="noStrike">
                <a:solidFill>
                  <a:srgbClr val="16A34A"/>
                </a:solidFill>
                <a:effectLst/>
                <a:uFillTx/>
                <a:latin typeface="Segoe UI"/>
              </a:rPr>
              <a:t>24 273 €</a:t>
            </a:r>
            <a:endParaRPr lang="fr-FR" sz="3800" b="0" u="none" strike="noStrike">
              <a:solidFill>
                <a:srgbClr val="000000"/>
              </a:solidFill>
              <a:effectLst/>
              <a:uFillTx/>
              <a:latin typeface="Arial"/>
            </a:endParaRPr>
          </a:p>
        </p:txBody>
      </p:sp>
      <p:sp>
        <p:nvSpPr>
          <p:cNvPr id="281" name="TextBox 27"/>
          <p:cNvSpPr/>
          <p:nvPr/>
        </p:nvSpPr>
        <p:spPr>
          <a:xfrm>
            <a:off x="8138160" y="4251960"/>
            <a:ext cx="3200040" cy="7311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salaire brut annuel moyen proposé</a:t>
            </a:r>
            <a:endParaRPr lang="fr-FR" sz="1400" b="0" u="none" strike="noStrike">
              <a:solidFill>
                <a:srgbClr val="000000"/>
              </a:solidFill>
              <a:effectLst/>
              <a:uFillTx/>
              <a:latin typeface="Arial"/>
            </a:endParaRPr>
          </a:p>
        </p:txBody>
      </p:sp>
      <p:sp>
        <p:nvSpPr>
          <p:cNvPr id="282" name="Rounded Rectangle 28"/>
          <p:cNvSpPr/>
          <p:nvPr/>
        </p:nvSpPr>
        <p:spPr>
          <a:xfrm>
            <a:off x="548640" y="5394960"/>
            <a:ext cx="11063880" cy="822600"/>
          </a:xfrm>
          <a:prstGeom prst="roundRect">
            <a:avLst>
              <a:gd name="adj" fmla="val 13333"/>
            </a:avLst>
          </a:prstGeom>
          <a:solidFill>
            <a:srgbClr val="EFF6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000" b="1" u="none" strike="noStrike">
                <a:solidFill>
                  <a:srgbClr val="111827"/>
                </a:solidFill>
                <a:effectLst/>
                <a:uFillTx/>
                <a:latin typeface="Segoe UI"/>
              </a:rPr>
              <a:t>Un panorama national, mis à jour automatiquement</a:t>
            </a:r>
            <a:endParaRPr lang="fr-FR"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84"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Quels contrats sont proposés ?</a:t>
            </a:r>
            <a:endParaRPr lang="fr-FR" sz="2800" b="0" u="none" strike="noStrike">
              <a:solidFill>
                <a:srgbClr val="000000"/>
              </a:solidFill>
              <a:effectLst/>
              <a:uFillTx/>
              <a:latin typeface="Arial"/>
            </a:endParaRPr>
          </a:p>
        </p:txBody>
      </p:sp>
      <p:sp>
        <p:nvSpPr>
          <p:cNvPr id="285"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Résultats</a:t>
            </a:r>
            <a:endParaRPr lang="fr-FR" sz="1300" b="0" u="none" strike="noStrike">
              <a:solidFill>
                <a:srgbClr val="000000"/>
              </a:solidFill>
              <a:effectLst/>
              <a:uFillTx/>
              <a:latin typeface="Arial"/>
            </a:endParaRPr>
          </a:p>
        </p:txBody>
      </p:sp>
      <p:sp>
        <p:nvSpPr>
          <p:cNvPr id="286"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87"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288"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12 / 17</a:t>
            </a:r>
            <a:endParaRPr lang="fr-FR" sz="1000" b="0" u="none" strike="noStrike">
              <a:solidFill>
                <a:srgbClr val="000000"/>
              </a:solidFill>
              <a:effectLst/>
              <a:uFillTx/>
              <a:latin typeface="Arial"/>
            </a:endParaRPr>
          </a:p>
        </p:txBody>
      </p:sp>
      <p:graphicFrame>
        <p:nvGraphicFramePr>
          <p:cNvPr id="289" name="Chart 7"/>
          <p:cNvGraphicFramePr/>
          <p:nvPr/>
        </p:nvGraphicFramePr>
        <p:xfrm>
          <a:off x="457200" y="1188720"/>
          <a:ext cx="5851800" cy="4571640"/>
        </p:xfrm>
        <a:graphic>
          <a:graphicData uri="http://schemas.openxmlformats.org/drawingml/2006/chart">
            <c:chart xmlns:c="http://schemas.openxmlformats.org/drawingml/2006/chart" xmlns:r="http://schemas.openxmlformats.org/officeDocument/2006/relationships" r:id="rId1"/>
          </a:graphicData>
        </a:graphic>
      </p:graphicFrame>
      <p:graphicFrame>
        <p:nvGraphicFramePr>
          <p:cNvPr id="290" name="Chart 8"/>
          <p:cNvGraphicFramePr/>
          <p:nvPr/>
        </p:nvGraphicFramePr>
        <p:xfrm>
          <a:off x="6492240" y="1188720"/>
          <a:ext cx="5303160" cy="4571640"/>
        </p:xfrm>
        <a:graphic>
          <a:graphicData uri="http://schemas.openxmlformats.org/drawingml/2006/chart">
            <c:chart xmlns:c="http://schemas.openxmlformats.org/drawingml/2006/chart" xmlns:r="http://schemas.openxmlformats.org/officeDocument/2006/relationships" r:id="rId2"/>
          </a:graphicData>
        </a:graphic>
      </p:graphicFrame>
      <p:sp>
        <p:nvSpPr>
          <p:cNvPr id="291" name="Rounded Rectangle 9"/>
          <p:cNvSpPr/>
          <p:nvPr/>
        </p:nvSpPr>
        <p:spPr>
          <a:xfrm>
            <a:off x="548640" y="5852160"/>
            <a:ext cx="11063880" cy="594000"/>
          </a:xfrm>
          <a:prstGeom prst="roundRect">
            <a:avLst>
              <a:gd name="adj" fmla="val 18461"/>
            </a:avLst>
          </a:prstGeom>
          <a:solidFill>
            <a:srgbClr val="EFF6FF"/>
          </a:solidFill>
          <a:ln w="15875">
            <a:solidFill>
              <a:srgbClr val="1E3A8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700" b="1" u="none" strike="noStrike">
                <a:solidFill>
                  <a:srgbClr val="111827"/>
                </a:solidFill>
                <a:effectLst/>
                <a:uFillTx/>
                <a:latin typeface="Segoe UI"/>
              </a:rPr>
              <a:t>42 % des offres sont des CDI  •  salaires proches entre contrats (23 000 à 25 000 €)</a:t>
            </a:r>
            <a:endParaRPr lang="fr-FR"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3"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Quels secteurs recrutent le plus ?</a:t>
            </a:r>
            <a:endParaRPr lang="fr-FR" sz="2800" b="0" u="none" strike="noStrike">
              <a:solidFill>
                <a:srgbClr val="000000"/>
              </a:solidFill>
              <a:effectLst/>
              <a:uFillTx/>
              <a:latin typeface="Arial"/>
            </a:endParaRPr>
          </a:p>
        </p:txBody>
      </p:sp>
      <p:sp>
        <p:nvSpPr>
          <p:cNvPr id="294"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Résultats</a:t>
            </a:r>
            <a:endParaRPr lang="fr-FR" sz="1300" b="0" u="none" strike="noStrike">
              <a:solidFill>
                <a:srgbClr val="000000"/>
              </a:solidFill>
              <a:effectLst/>
              <a:uFillTx/>
              <a:latin typeface="Arial"/>
            </a:endParaRPr>
          </a:p>
        </p:txBody>
      </p:sp>
      <p:sp>
        <p:nvSpPr>
          <p:cNvPr id="295"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6"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297"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13 / 17</a:t>
            </a:r>
            <a:endParaRPr lang="fr-FR" sz="1000" b="0" u="none" strike="noStrike">
              <a:solidFill>
                <a:srgbClr val="000000"/>
              </a:solidFill>
              <a:effectLst/>
              <a:uFillTx/>
              <a:latin typeface="Arial"/>
            </a:endParaRPr>
          </a:p>
        </p:txBody>
      </p:sp>
      <p:graphicFrame>
        <p:nvGraphicFramePr>
          <p:cNvPr id="298" name="Chart 7"/>
          <p:cNvGraphicFramePr/>
          <p:nvPr/>
        </p:nvGraphicFramePr>
        <p:xfrm>
          <a:off x="457200" y="1188720"/>
          <a:ext cx="11246760" cy="4663080"/>
        </p:xfrm>
        <a:graphic>
          <a:graphicData uri="http://schemas.openxmlformats.org/drawingml/2006/chart">
            <c:chart xmlns:c="http://schemas.openxmlformats.org/drawingml/2006/chart" xmlns:r="http://schemas.openxmlformats.org/officeDocument/2006/relationships" r:id="rId1"/>
          </a:graphicData>
        </a:graphic>
      </p:graphicFrame>
      <p:sp>
        <p:nvSpPr>
          <p:cNvPr id="299" name="Rounded Rectangle 8"/>
          <p:cNvSpPr/>
          <p:nvPr/>
        </p:nvSpPr>
        <p:spPr>
          <a:xfrm>
            <a:off x="548640" y="5897880"/>
            <a:ext cx="11063880" cy="594000"/>
          </a:xfrm>
          <a:prstGeom prst="roundRect">
            <a:avLst>
              <a:gd name="adj" fmla="val 18461"/>
            </a:avLst>
          </a:prstGeom>
          <a:solidFill>
            <a:srgbClr val="EFF6FF"/>
          </a:solidFill>
          <a:ln w="15875">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700" b="1" u="none" strike="noStrike">
                <a:solidFill>
                  <a:srgbClr val="111827"/>
                </a:solidFill>
                <a:effectLst/>
                <a:uFillTx/>
                <a:latin typeface="Segoe UI"/>
              </a:rPr>
              <a:t>Les 5 premiers secteurs regroupent 78 % des offres</a:t>
            </a:r>
            <a:endParaRPr lang="fr-FR"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1"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Quels métiers et quelles compétences ?</a:t>
            </a:r>
            <a:endParaRPr lang="fr-FR" sz="2800" b="0" u="none" strike="noStrike">
              <a:solidFill>
                <a:srgbClr val="000000"/>
              </a:solidFill>
              <a:effectLst/>
              <a:uFillTx/>
              <a:latin typeface="Arial"/>
            </a:endParaRPr>
          </a:p>
        </p:txBody>
      </p:sp>
      <p:sp>
        <p:nvSpPr>
          <p:cNvPr id="302"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Résultats</a:t>
            </a:r>
            <a:endParaRPr lang="fr-FR" sz="1300" b="0" u="none" strike="noStrike">
              <a:solidFill>
                <a:srgbClr val="000000"/>
              </a:solidFill>
              <a:effectLst/>
              <a:uFillTx/>
              <a:latin typeface="Arial"/>
            </a:endParaRPr>
          </a:p>
        </p:txBody>
      </p:sp>
      <p:sp>
        <p:nvSpPr>
          <p:cNvPr id="303"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4"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305"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14 / 17</a:t>
            </a:r>
            <a:endParaRPr lang="fr-FR" sz="1000" b="0" u="none" strike="noStrike">
              <a:solidFill>
                <a:srgbClr val="000000"/>
              </a:solidFill>
              <a:effectLst/>
              <a:uFillTx/>
              <a:latin typeface="Arial"/>
            </a:endParaRPr>
          </a:p>
        </p:txBody>
      </p:sp>
      <p:graphicFrame>
        <p:nvGraphicFramePr>
          <p:cNvPr id="306" name="Chart 7"/>
          <p:cNvGraphicFramePr/>
          <p:nvPr/>
        </p:nvGraphicFramePr>
        <p:xfrm>
          <a:off x="365760" y="1188720"/>
          <a:ext cx="5760360" cy="4571640"/>
        </p:xfrm>
        <a:graphic>
          <a:graphicData uri="http://schemas.openxmlformats.org/drawingml/2006/chart">
            <c:chart xmlns:c="http://schemas.openxmlformats.org/drawingml/2006/chart" xmlns:r="http://schemas.openxmlformats.org/officeDocument/2006/relationships" r:id="rId1"/>
          </a:graphicData>
        </a:graphic>
      </p:graphicFrame>
      <p:graphicFrame>
        <p:nvGraphicFramePr>
          <p:cNvPr id="307" name="Chart 8"/>
          <p:cNvGraphicFramePr/>
          <p:nvPr/>
        </p:nvGraphicFramePr>
        <p:xfrm>
          <a:off x="6217920" y="1188720"/>
          <a:ext cx="5668920" cy="4571640"/>
        </p:xfrm>
        <a:graphic>
          <a:graphicData uri="http://schemas.openxmlformats.org/drawingml/2006/chart">
            <c:chart xmlns:c="http://schemas.openxmlformats.org/drawingml/2006/chart" xmlns:r="http://schemas.openxmlformats.org/officeDocument/2006/relationships" r:id="rId2"/>
          </a:graphicData>
        </a:graphic>
      </p:graphicFrame>
      <p:sp>
        <p:nvSpPr>
          <p:cNvPr id="308" name="Rounded Rectangle 9"/>
          <p:cNvSpPr/>
          <p:nvPr/>
        </p:nvSpPr>
        <p:spPr>
          <a:xfrm>
            <a:off x="548640" y="5852160"/>
            <a:ext cx="11063880" cy="594000"/>
          </a:xfrm>
          <a:prstGeom prst="roundRect">
            <a:avLst>
              <a:gd name="adj" fmla="val 18461"/>
            </a:avLst>
          </a:prstGeom>
          <a:solidFill>
            <a:srgbClr val="EFF6FF"/>
          </a:solidFill>
          <a:ln w="15875">
            <a:solidFill>
              <a:srgbClr val="16A34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700" b="1" u="none" strike="noStrike">
                <a:solidFill>
                  <a:srgbClr val="111827"/>
                </a:solidFill>
                <a:effectLst/>
                <a:uFillTx/>
                <a:latin typeface="Segoe UI"/>
              </a:rPr>
              <a:t>Une forte demande sur les métiers de la vente, de la logistique et des services</a:t>
            </a:r>
            <a:endParaRPr lang="fr-FR"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10"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Un tableau de bord pour explorer</a:t>
            </a:r>
            <a:endParaRPr lang="fr-FR" sz="2800" b="0" u="none" strike="noStrike">
              <a:solidFill>
                <a:srgbClr val="000000"/>
              </a:solidFill>
              <a:effectLst/>
              <a:uFillTx/>
              <a:latin typeface="Arial"/>
            </a:endParaRPr>
          </a:p>
        </p:txBody>
      </p:sp>
      <p:sp>
        <p:nvSpPr>
          <p:cNvPr id="311"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Résultats</a:t>
            </a:r>
            <a:endParaRPr lang="fr-FR" sz="1300" b="0" u="none" strike="noStrike">
              <a:solidFill>
                <a:srgbClr val="000000"/>
              </a:solidFill>
              <a:effectLst/>
              <a:uFillTx/>
              <a:latin typeface="Arial"/>
            </a:endParaRPr>
          </a:p>
        </p:txBody>
      </p:sp>
      <p:sp>
        <p:nvSpPr>
          <p:cNvPr id="312"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13"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314"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15 / 17</a:t>
            </a:r>
            <a:endParaRPr lang="fr-FR" sz="1000" b="0" u="none" strike="noStrike">
              <a:solidFill>
                <a:srgbClr val="000000"/>
              </a:solidFill>
              <a:effectLst/>
              <a:uFillTx/>
              <a:latin typeface="Arial"/>
            </a:endParaRPr>
          </a:p>
        </p:txBody>
      </p:sp>
      <p:pic>
        <p:nvPicPr>
          <p:cNvPr id="315" name="Picture 7" descr="dash.png"/>
          <p:cNvPicPr/>
          <p:nvPr/>
        </p:nvPicPr>
        <p:blipFill>
          <a:blip r:embed="rId1"/>
          <a:stretch/>
        </p:blipFill>
        <p:spPr>
          <a:xfrm>
            <a:off x="365760" y="1234440"/>
            <a:ext cx="6857640" cy="4928760"/>
          </a:xfrm>
          <a:prstGeom prst="rect">
            <a:avLst/>
          </a:prstGeom>
          <a:noFill/>
          <a:ln w="0">
            <a:noFill/>
          </a:ln>
        </p:spPr>
      </p:pic>
      <p:sp>
        <p:nvSpPr>
          <p:cNvPr id="316" name="TextBox 8"/>
          <p:cNvSpPr/>
          <p:nvPr/>
        </p:nvSpPr>
        <p:spPr>
          <a:xfrm>
            <a:off x="7498080" y="1280160"/>
            <a:ext cx="448020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700" b="0" u="none" strike="noStrike">
                <a:solidFill>
                  <a:srgbClr val="111827"/>
                </a:solidFill>
                <a:effectLst/>
                <a:uFillTx/>
                <a:latin typeface="Segoe UI"/>
              </a:rPr>
              <a:t>•  Filtrer par contrat, secteur ou commune</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Carte de France des offres</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Salaires, compétences, dates de publication</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Liste des offres consultable</a:t>
            </a:r>
            <a:endParaRPr lang="fr-FR" sz="1700" b="0" u="none" strike="noStrike">
              <a:solidFill>
                <a:srgbClr val="000000"/>
              </a:solidFill>
              <a:effectLst/>
              <a:uFillTx/>
              <a:latin typeface="Arial"/>
            </a:endParaRPr>
          </a:p>
          <a:p>
            <a:pPr defTabSz="457200">
              <a:lnSpc>
                <a:spcPct val="100000"/>
              </a:lnSpc>
              <a:spcAft>
                <a:spcPts val="799"/>
              </a:spcAft>
            </a:pPr>
            <a:r>
              <a:rPr lang="en-US" sz="1700" b="0" u="none" strike="noStrike">
                <a:solidFill>
                  <a:srgbClr val="111827"/>
                </a:solidFill>
                <a:effectLst/>
                <a:uFillTx/>
                <a:latin typeface="Segoe UI"/>
              </a:rPr>
              <a:t>•  Mise à jour automatique</a:t>
            </a:r>
            <a:endParaRPr lang="fr-FR" sz="1700" b="0" u="none" strike="noStrike">
              <a:solidFill>
                <a:srgbClr val="000000"/>
              </a:solidFill>
              <a:effectLst/>
              <a:uFillTx/>
              <a:latin typeface="Arial"/>
            </a:endParaRPr>
          </a:p>
        </p:txBody>
      </p:sp>
      <p:sp>
        <p:nvSpPr>
          <p:cNvPr id="317" name="Rounded Rectangle 9"/>
          <p:cNvSpPr/>
          <p:nvPr/>
        </p:nvSpPr>
        <p:spPr>
          <a:xfrm>
            <a:off x="7680960" y="4572000"/>
            <a:ext cx="4114440" cy="1554120"/>
          </a:xfrm>
          <a:prstGeom prst="roundRect">
            <a:avLst>
              <a:gd name="adj" fmla="val 7058"/>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18" name="TextBox 10"/>
          <p:cNvSpPr/>
          <p:nvPr/>
        </p:nvSpPr>
        <p:spPr>
          <a:xfrm>
            <a:off x="7680960" y="4709160"/>
            <a:ext cx="4114440" cy="731160"/>
          </a:xfrm>
          <a:prstGeom prst="rect">
            <a:avLst/>
          </a:prstGeom>
          <a:noFill/>
          <a:ln w="0">
            <a:noFill/>
          </a:ln>
        </p:spPr>
        <p:style>
          <a:lnRef idx="0"/>
          <a:fillRef idx="0"/>
          <a:effectRef idx="0"/>
          <a:fontRef idx="minor"/>
        </p:style>
        <p:txBody>
          <a:bodyPr lIns="45720" tIns="45000" rIns="45720" bIns="45000" anchor="ctr">
            <a:spAutoFit/>
          </a:bodyPr>
          <a:p>
            <a:pPr algn="ctr" defTabSz="457200">
              <a:lnSpc>
                <a:spcPct val="100000"/>
              </a:lnSpc>
            </a:pPr>
            <a:r>
              <a:rPr lang="en-US" sz="3200" b="1" u="none" strike="noStrike">
                <a:solidFill>
                  <a:srgbClr val="16A34A"/>
                </a:solidFill>
                <a:effectLst/>
                <a:uFillTx/>
                <a:latin typeface="Segoe UI"/>
              </a:rPr>
              <a:t>7 s → &lt; 1 s</a:t>
            </a:r>
            <a:endParaRPr lang="fr-FR" sz="3200" b="0" u="none" strike="noStrike">
              <a:solidFill>
                <a:srgbClr val="000000"/>
              </a:solidFill>
              <a:effectLst/>
              <a:uFillTx/>
              <a:latin typeface="Arial"/>
            </a:endParaRPr>
          </a:p>
        </p:txBody>
      </p:sp>
      <p:sp>
        <p:nvSpPr>
          <p:cNvPr id="319" name="TextBox 11"/>
          <p:cNvSpPr/>
          <p:nvPr/>
        </p:nvSpPr>
        <p:spPr>
          <a:xfrm>
            <a:off x="7772400" y="5440680"/>
            <a:ext cx="3931560" cy="63972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400" b="0" u="none" strike="noStrike">
                <a:solidFill>
                  <a:srgbClr val="6B7280"/>
                </a:solidFill>
                <a:effectLst/>
                <a:uFillTx/>
                <a:latin typeface="Segoe UI"/>
              </a:rPr>
              <a:t>temps d'affichage après un filtre</a:t>
            </a:r>
            <a:endParaRPr lang="fr-FR"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21"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Une plateforme qui se surveille elle-même</a:t>
            </a:r>
            <a:endParaRPr lang="fr-FR" sz="2800" b="0" u="none" strike="noStrike">
              <a:solidFill>
                <a:srgbClr val="000000"/>
              </a:solidFill>
              <a:effectLst/>
              <a:uFillTx/>
              <a:latin typeface="Arial"/>
            </a:endParaRPr>
          </a:p>
        </p:txBody>
      </p:sp>
      <p:sp>
        <p:nvSpPr>
          <p:cNvPr id="322"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Fiabilité</a:t>
            </a:r>
            <a:endParaRPr lang="fr-FR" sz="1300" b="0" u="none" strike="noStrike">
              <a:solidFill>
                <a:srgbClr val="000000"/>
              </a:solidFill>
              <a:effectLst/>
              <a:uFillTx/>
              <a:latin typeface="Arial"/>
            </a:endParaRPr>
          </a:p>
        </p:txBody>
      </p:sp>
      <p:sp>
        <p:nvSpPr>
          <p:cNvPr id="323"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24"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325"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16 / 17</a:t>
            </a:r>
            <a:endParaRPr lang="fr-FR" sz="1000" b="0" u="none" strike="noStrike">
              <a:solidFill>
                <a:srgbClr val="000000"/>
              </a:solidFill>
              <a:effectLst/>
              <a:uFillTx/>
              <a:latin typeface="Arial"/>
            </a:endParaRPr>
          </a:p>
        </p:txBody>
      </p:sp>
      <p:sp>
        <p:nvSpPr>
          <p:cNvPr id="326" name="Rounded Rectangle 7"/>
          <p:cNvSpPr/>
          <p:nvPr/>
        </p:nvSpPr>
        <p:spPr>
          <a:xfrm>
            <a:off x="548640" y="1371600"/>
            <a:ext cx="3565800" cy="2559960"/>
          </a:xfrm>
          <a:prstGeom prst="roundRect">
            <a:avLst>
              <a:gd name="adj" fmla="val 428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27" name="Rectangle 8"/>
          <p:cNvSpPr/>
          <p:nvPr/>
        </p:nvSpPr>
        <p:spPr>
          <a:xfrm>
            <a:off x="548640" y="1371600"/>
            <a:ext cx="3565800" cy="10944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28" name="TextBox 9"/>
          <p:cNvSpPr/>
          <p:nvPr/>
        </p:nvSpPr>
        <p:spPr>
          <a:xfrm>
            <a:off x="731520" y="1600200"/>
            <a:ext cx="320004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1E3A8A"/>
                </a:solidFill>
                <a:effectLst/>
                <a:uFillTx/>
                <a:latin typeface="Segoe UI"/>
              </a:rPr>
              <a:t>Tout fonctionne ?</a:t>
            </a:r>
            <a:endParaRPr lang="fr-FR" sz="1900" b="0" u="none" strike="noStrike">
              <a:solidFill>
                <a:srgbClr val="000000"/>
              </a:solidFill>
              <a:effectLst/>
              <a:uFillTx/>
              <a:latin typeface="Arial"/>
            </a:endParaRPr>
          </a:p>
        </p:txBody>
      </p:sp>
      <p:sp>
        <p:nvSpPr>
          <p:cNvPr id="329" name="TextBox 10"/>
          <p:cNvSpPr/>
          <p:nvPr/>
        </p:nvSpPr>
        <p:spPr>
          <a:xfrm>
            <a:off x="731520" y="2194560"/>
            <a:ext cx="3200040" cy="16455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Chaque étape est surveillée</a:t>
            </a:r>
            <a:endParaRPr lang="fr-FR" sz="1600" b="0" u="none" strike="noStrike">
              <a:solidFill>
                <a:srgbClr val="000000"/>
              </a:solidFill>
              <a:effectLst/>
              <a:uFillTx/>
              <a:latin typeface="Arial"/>
            </a:endParaRPr>
          </a:p>
          <a:p>
            <a:pPr algn="ctr" defTabSz="457200">
              <a:lnSpc>
                <a:spcPct val="100000"/>
              </a:lnSpc>
            </a:pPr>
            <a:r>
              <a:rPr lang="en-US" sz="1600" b="0" u="none" strike="noStrike">
                <a:solidFill>
                  <a:srgbClr val="111827"/>
                </a:solidFill>
                <a:effectLst/>
                <a:uFillTx/>
                <a:latin typeface="Segoe UI"/>
              </a:rPr>
              <a:t>Une panne est visible immédiatement</a:t>
            </a:r>
            <a:endParaRPr lang="fr-FR" sz="1600" b="0" u="none" strike="noStrike">
              <a:solidFill>
                <a:srgbClr val="000000"/>
              </a:solidFill>
              <a:effectLst/>
              <a:uFillTx/>
              <a:latin typeface="Arial"/>
            </a:endParaRPr>
          </a:p>
        </p:txBody>
      </p:sp>
      <p:sp>
        <p:nvSpPr>
          <p:cNvPr id="330" name="Rounded Rectangle 11"/>
          <p:cNvSpPr/>
          <p:nvPr/>
        </p:nvSpPr>
        <p:spPr>
          <a:xfrm>
            <a:off x="4343400" y="1371600"/>
            <a:ext cx="3565800" cy="2559960"/>
          </a:xfrm>
          <a:prstGeom prst="roundRect">
            <a:avLst>
              <a:gd name="adj" fmla="val 428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31" name="Rectangle 12"/>
          <p:cNvSpPr/>
          <p:nvPr/>
        </p:nvSpPr>
        <p:spPr>
          <a:xfrm>
            <a:off x="4343400" y="1371600"/>
            <a:ext cx="3565800" cy="10944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32" name="TextBox 13"/>
          <p:cNvSpPr/>
          <p:nvPr/>
        </p:nvSpPr>
        <p:spPr>
          <a:xfrm>
            <a:off x="4526280" y="1600200"/>
            <a:ext cx="320004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2563EB"/>
                </a:solidFill>
                <a:effectLst/>
                <a:uFillTx/>
                <a:latin typeface="Segoe UI"/>
              </a:rPr>
              <a:t>Les données arrivent ?</a:t>
            </a:r>
            <a:endParaRPr lang="fr-FR" sz="1900" b="0" u="none" strike="noStrike">
              <a:solidFill>
                <a:srgbClr val="000000"/>
              </a:solidFill>
              <a:effectLst/>
              <a:uFillTx/>
              <a:latin typeface="Arial"/>
            </a:endParaRPr>
          </a:p>
        </p:txBody>
      </p:sp>
      <p:sp>
        <p:nvSpPr>
          <p:cNvPr id="333" name="TextBox 14"/>
          <p:cNvSpPr/>
          <p:nvPr/>
        </p:nvSpPr>
        <p:spPr>
          <a:xfrm>
            <a:off x="4526280" y="2194560"/>
            <a:ext cx="3200040" cy="16455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Nombre d'offres reçues</a:t>
            </a:r>
            <a:endParaRPr lang="fr-FR" sz="1600" b="0" u="none" strike="noStrike">
              <a:solidFill>
                <a:srgbClr val="000000"/>
              </a:solidFill>
              <a:effectLst/>
              <a:uFillTx/>
              <a:latin typeface="Arial"/>
            </a:endParaRPr>
          </a:p>
          <a:p>
            <a:pPr algn="ctr" defTabSz="457200">
              <a:lnSpc>
                <a:spcPct val="100000"/>
              </a:lnSpc>
            </a:pPr>
            <a:r>
              <a:rPr lang="en-US" sz="1600" b="0" u="none" strike="noStrike">
                <a:solidFill>
                  <a:srgbClr val="111827"/>
                </a:solidFill>
                <a:effectLst/>
                <a:uFillTx/>
                <a:latin typeface="Segoe UI"/>
              </a:rPr>
              <a:t>Offres encore en attente</a:t>
            </a:r>
            <a:endParaRPr lang="fr-FR" sz="1600" b="0" u="none" strike="noStrike">
              <a:solidFill>
                <a:srgbClr val="000000"/>
              </a:solidFill>
              <a:effectLst/>
              <a:uFillTx/>
              <a:latin typeface="Arial"/>
            </a:endParaRPr>
          </a:p>
        </p:txBody>
      </p:sp>
      <p:sp>
        <p:nvSpPr>
          <p:cNvPr id="334" name="Rounded Rectangle 15"/>
          <p:cNvSpPr/>
          <p:nvPr/>
        </p:nvSpPr>
        <p:spPr>
          <a:xfrm>
            <a:off x="8138160" y="1371600"/>
            <a:ext cx="3565800" cy="2559960"/>
          </a:xfrm>
          <a:prstGeom prst="roundRect">
            <a:avLst>
              <a:gd name="adj" fmla="val 4285"/>
            </a:avLst>
          </a:prstGeom>
          <a:solidFill>
            <a:srgbClr val="FFFFFF"/>
          </a:solidFill>
          <a:ln w="15875">
            <a:solidFill>
              <a:srgbClr val="D1D5D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35" name="Rectangle 16"/>
          <p:cNvSpPr/>
          <p:nvPr/>
        </p:nvSpPr>
        <p:spPr>
          <a:xfrm>
            <a:off x="8138160" y="1371600"/>
            <a:ext cx="3565800" cy="109440"/>
          </a:xfrm>
          <a:prstGeom prst="rect">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36" name="TextBox 17"/>
          <p:cNvSpPr/>
          <p:nvPr/>
        </p:nvSpPr>
        <p:spPr>
          <a:xfrm>
            <a:off x="8321040" y="1600200"/>
            <a:ext cx="320004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900" b="1" u="none" strike="noStrike">
                <a:solidFill>
                  <a:srgbClr val="16A34A"/>
                </a:solidFill>
                <a:effectLst/>
                <a:uFillTx/>
                <a:latin typeface="Segoe UI"/>
              </a:rPr>
              <a:t>La qualité tient ?</a:t>
            </a:r>
            <a:endParaRPr lang="fr-FR" sz="1900" b="0" u="none" strike="noStrike">
              <a:solidFill>
                <a:srgbClr val="000000"/>
              </a:solidFill>
              <a:effectLst/>
              <a:uFillTx/>
              <a:latin typeface="Arial"/>
            </a:endParaRPr>
          </a:p>
        </p:txBody>
      </p:sp>
      <p:sp>
        <p:nvSpPr>
          <p:cNvPr id="337" name="TextBox 18"/>
          <p:cNvSpPr/>
          <p:nvPr/>
        </p:nvSpPr>
        <p:spPr>
          <a:xfrm>
            <a:off x="8321040" y="2194560"/>
            <a:ext cx="3200040" cy="164556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111827"/>
                </a:solidFill>
                <a:effectLst/>
                <a:uFillTx/>
                <a:latin typeface="Segoe UI"/>
              </a:rPr>
              <a:t>Offres brutes, propres et écartées</a:t>
            </a:r>
            <a:endParaRPr lang="fr-FR" sz="1600" b="0" u="none" strike="noStrike">
              <a:solidFill>
                <a:srgbClr val="000000"/>
              </a:solidFill>
              <a:effectLst/>
              <a:uFillTx/>
              <a:latin typeface="Arial"/>
            </a:endParaRPr>
          </a:p>
          <a:p>
            <a:pPr algn="ctr" defTabSz="457200">
              <a:lnSpc>
                <a:spcPct val="100000"/>
              </a:lnSpc>
            </a:pPr>
            <a:r>
              <a:rPr lang="en-US" sz="1600" b="0" u="none" strike="noStrike">
                <a:solidFill>
                  <a:srgbClr val="111827"/>
                </a:solidFill>
                <a:effectLst/>
                <a:uFillTx/>
                <a:latin typeface="Segoe UI"/>
              </a:rPr>
              <a:t>Suivi à chaque nettoyage</a:t>
            </a:r>
            <a:endParaRPr lang="fr-FR" sz="1600" b="0" u="none" strike="noStrike">
              <a:solidFill>
                <a:srgbClr val="000000"/>
              </a:solidFill>
              <a:effectLst/>
              <a:uFillTx/>
              <a:latin typeface="Arial"/>
            </a:endParaRPr>
          </a:p>
        </p:txBody>
      </p:sp>
      <p:sp>
        <p:nvSpPr>
          <p:cNvPr id="338" name="Rounded Rectangle 19"/>
          <p:cNvSpPr/>
          <p:nvPr/>
        </p:nvSpPr>
        <p:spPr>
          <a:xfrm>
            <a:off x="1371600" y="4389120"/>
            <a:ext cx="2773440" cy="1096920"/>
          </a:xfrm>
          <a:prstGeom prst="roundRect">
            <a:avLst>
              <a:gd name="adj" fmla="val 10000"/>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700" b="1" u="none" strike="noStrike">
                <a:solidFill>
                  <a:srgbClr val="FFFFFF"/>
                </a:solidFill>
                <a:effectLst/>
                <a:uFillTx/>
                <a:latin typeface="Segoe UI"/>
              </a:rPr>
              <a:t>Reçues</a:t>
            </a:r>
            <a:endParaRPr lang="fr-FR" sz="1700" b="0" u="none" strike="noStrike">
              <a:solidFill>
                <a:srgbClr val="FFFFFF"/>
              </a:solidFill>
              <a:effectLst/>
              <a:uFillTx/>
              <a:latin typeface="Arial"/>
            </a:endParaRPr>
          </a:p>
          <a:p>
            <a:pPr algn="ctr" defTabSz="457200">
              <a:lnSpc>
                <a:spcPct val="100000"/>
              </a:lnSpc>
            </a:pPr>
            <a:r>
              <a:rPr lang="en-US" sz="1400" b="0" u="none" strike="noStrike">
                <a:solidFill>
                  <a:srgbClr val="FFFFFF"/>
                </a:solidFill>
                <a:effectLst/>
                <a:uFillTx/>
                <a:latin typeface="Segoe UI"/>
              </a:rPr>
              <a:t>35 802 fiches</a:t>
            </a:r>
            <a:endParaRPr lang="fr-FR" sz="1400" b="0" u="none" strike="noStrike">
              <a:solidFill>
                <a:srgbClr val="FFFFFF"/>
              </a:solidFill>
              <a:effectLst/>
              <a:uFillTx/>
              <a:latin typeface="Arial"/>
            </a:endParaRPr>
          </a:p>
        </p:txBody>
      </p:sp>
      <p:sp>
        <p:nvSpPr>
          <p:cNvPr id="339" name="Rounded Rectangle 20"/>
          <p:cNvSpPr/>
          <p:nvPr/>
        </p:nvSpPr>
        <p:spPr>
          <a:xfrm>
            <a:off x="4694040" y="4389120"/>
            <a:ext cx="2773440" cy="1096920"/>
          </a:xfrm>
          <a:prstGeom prst="roundRect">
            <a:avLst>
              <a:gd name="adj" fmla="val 1000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700" b="1" u="none" strike="noStrike">
                <a:solidFill>
                  <a:srgbClr val="FFFFFF"/>
                </a:solidFill>
                <a:effectLst/>
                <a:uFillTx/>
                <a:latin typeface="Segoe UI"/>
              </a:rPr>
              <a:t>Nettoyage</a:t>
            </a:r>
            <a:endParaRPr lang="fr-FR" sz="1700" b="0" u="none" strike="noStrike">
              <a:solidFill>
                <a:srgbClr val="FFFFFF"/>
              </a:solidFill>
              <a:effectLst/>
              <a:uFillTx/>
              <a:latin typeface="Arial"/>
            </a:endParaRPr>
          </a:p>
          <a:p>
            <a:pPr algn="ctr" defTabSz="457200">
              <a:lnSpc>
                <a:spcPct val="100000"/>
              </a:lnSpc>
            </a:pPr>
            <a:r>
              <a:rPr lang="en-US" sz="1400" b="0" u="none" strike="noStrike">
                <a:solidFill>
                  <a:srgbClr val="FFFFFF"/>
                </a:solidFill>
                <a:effectLst/>
                <a:uFillTx/>
                <a:latin typeface="Segoe UI"/>
              </a:rPr>
              <a:t>automatique</a:t>
            </a:r>
            <a:endParaRPr lang="fr-FR" sz="1400" b="0" u="none" strike="noStrike">
              <a:solidFill>
                <a:srgbClr val="FFFFFF"/>
              </a:solidFill>
              <a:effectLst/>
              <a:uFillTx/>
              <a:latin typeface="Arial"/>
            </a:endParaRPr>
          </a:p>
        </p:txBody>
      </p:sp>
      <p:cxnSp>
        <p:nvCxnSpPr>
          <p:cNvPr id="340" name="Connector 21"/>
          <p:cNvCxnSpPr/>
          <p:nvPr/>
        </p:nvCxnSpPr>
        <p:spPr>
          <a:xfrm>
            <a:off x="4163400" y="4937400"/>
            <a:ext cx="512280" cy="360"/>
          </a:xfrm>
          <a:prstGeom prst="straightConnector1">
            <a:avLst/>
          </a:prstGeom>
          <a:ln>
            <a:solidFill>
              <a:srgbClr val="6B7280"/>
            </a:solidFill>
            <a:round/>
            <a:tailEnd len="med" type="triangle" w="med"/>
          </a:ln>
        </p:spPr>
      </p:cxnSp>
      <p:sp>
        <p:nvSpPr>
          <p:cNvPr id="341" name="Rounded Rectangle 22"/>
          <p:cNvSpPr/>
          <p:nvPr/>
        </p:nvSpPr>
        <p:spPr>
          <a:xfrm>
            <a:off x="8016120" y="4389120"/>
            <a:ext cx="2773440" cy="1096920"/>
          </a:xfrm>
          <a:prstGeom prst="roundRect">
            <a:avLst>
              <a:gd name="adj" fmla="val 10000"/>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1700" b="1" u="none" strike="noStrike">
                <a:solidFill>
                  <a:srgbClr val="FFFFFF"/>
                </a:solidFill>
                <a:effectLst/>
                <a:uFillTx/>
                <a:latin typeface="Segoe UI"/>
              </a:rPr>
              <a:t>Propres</a:t>
            </a:r>
            <a:endParaRPr lang="fr-FR" sz="1700" b="0" u="none" strike="noStrike">
              <a:solidFill>
                <a:srgbClr val="FFFFFF"/>
              </a:solidFill>
              <a:effectLst/>
              <a:uFillTx/>
              <a:latin typeface="Arial"/>
            </a:endParaRPr>
          </a:p>
          <a:p>
            <a:pPr algn="ctr" defTabSz="457200">
              <a:lnSpc>
                <a:spcPct val="100000"/>
              </a:lnSpc>
            </a:pPr>
            <a:r>
              <a:rPr lang="en-US" sz="1400" b="0" u="none" strike="noStrike">
                <a:solidFill>
                  <a:srgbClr val="FFFFFF"/>
                </a:solidFill>
                <a:effectLst/>
                <a:uFillTx/>
                <a:latin typeface="Segoe UI"/>
              </a:rPr>
              <a:t>21 237 offres</a:t>
            </a:r>
            <a:endParaRPr lang="fr-FR" sz="1400" b="0" u="none" strike="noStrike">
              <a:solidFill>
                <a:srgbClr val="FFFFFF"/>
              </a:solidFill>
              <a:effectLst/>
              <a:uFillTx/>
              <a:latin typeface="Arial"/>
            </a:endParaRPr>
          </a:p>
        </p:txBody>
      </p:sp>
      <p:cxnSp>
        <p:nvCxnSpPr>
          <p:cNvPr id="342" name="Connector 23"/>
          <p:cNvCxnSpPr/>
          <p:nvPr/>
        </p:nvCxnSpPr>
        <p:spPr>
          <a:xfrm>
            <a:off x="7485840" y="4937400"/>
            <a:ext cx="512280" cy="360"/>
          </a:xfrm>
          <a:prstGeom prst="straightConnector1">
            <a:avLst/>
          </a:prstGeom>
          <a:ln>
            <a:solidFill>
              <a:srgbClr val="6B7280"/>
            </a:solidFill>
            <a:round/>
            <a:tailEnd len="med" type="triangle" w="med"/>
          </a:ln>
        </p:spPr>
      </p:cxnSp>
      <p:sp>
        <p:nvSpPr>
          <p:cNvPr id="343" name="TextBox 24"/>
          <p:cNvSpPr/>
          <p:nvPr/>
        </p:nvSpPr>
        <p:spPr>
          <a:xfrm>
            <a:off x="548640" y="5760720"/>
            <a:ext cx="11063880" cy="54828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1600" b="0" u="none" strike="noStrike">
                <a:solidFill>
                  <a:srgbClr val="6B7280"/>
                </a:solidFill>
                <a:effectLst/>
                <a:uFillTx/>
                <a:latin typeface="Segoe UI"/>
              </a:rPr>
              <a:t>Comme un tableau de bord de voiture : on sait à tout moment si tout va bien</a:t>
            </a:r>
            <a:endParaRPr lang="fr-FR"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Rectangle 1"/>
          <p:cNvSpPr/>
          <p:nvPr/>
        </p:nvSpPr>
        <p:spPr>
          <a:xfrm>
            <a:off x="0" y="0"/>
            <a:ext cx="12191400" cy="959760"/>
          </a:xfrm>
          <a:prstGeom prst="rect">
            <a:avLst/>
          </a:prstGeom>
          <a:solidFill>
            <a:srgbClr val="1E3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45" name="TextBox 2"/>
          <p:cNvSpPr/>
          <p:nvPr/>
        </p:nvSpPr>
        <p:spPr>
          <a:xfrm>
            <a:off x="457200" y="164520"/>
            <a:ext cx="8960760" cy="68544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2800" b="1" u="none" strike="noStrike">
                <a:solidFill>
                  <a:srgbClr val="FFFFFF"/>
                </a:solidFill>
                <a:effectLst/>
                <a:uFillTx/>
                <a:latin typeface="Segoe UI"/>
              </a:rPr>
              <a:t>Bilan</a:t>
            </a:r>
            <a:endParaRPr lang="fr-FR" sz="2800" b="0" u="none" strike="noStrike">
              <a:solidFill>
                <a:srgbClr val="000000"/>
              </a:solidFill>
              <a:effectLst/>
              <a:uFillTx/>
              <a:latin typeface="Arial"/>
            </a:endParaRPr>
          </a:p>
        </p:txBody>
      </p:sp>
      <p:sp>
        <p:nvSpPr>
          <p:cNvPr id="346" name="TextBox 3"/>
          <p:cNvSpPr/>
          <p:nvPr/>
        </p:nvSpPr>
        <p:spPr>
          <a:xfrm>
            <a:off x="8961120" y="274320"/>
            <a:ext cx="2925720" cy="45684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300" b="0" u="none" strike="noStrike">
                <a:solidFill>
                  <a:srgbClr val="BFDBFE"/>
                </a:solidFill>
                <a:effectLst/>
                <a:uFillTx/>
                <a:latin typeface="Segoe UI"/>
              </a:rPr>
              <a:t>Conclusion</a:t>
            </a:r>
            <a:endParaRPr lang="fr-FR" sz="1300" b="0" u="none" strike="noStrike">
              <a:solidFill>
                <a:srgbClr val="000000"/>
              </a:solidFill>
              <a:effectLst/>
              <a:uFillTx/>
              <a:latin typeface="Arial"/>
            </a:endParaRPr>
          </a:p>
        </p:txBody>
      </p:sp>
      <p:sp>
        <p:nvSpPr>
          <p:cNvPr id="347" name="Rectangle 4"/>
          <p:cNvSpPr/>
          <p:nvPr/>
        </p:nvSpPr>
        <p:spPr>
          <a:xfrm>
            <a:off x="0" y="6583680"/>
            <a:ext cx="12191400" cy="273960"/>
          </a:xfrm>
          <a:prstGeom prst="rect">
            <a:avLst/>
          </a:prstGeom>
          <a:solidFill>
            <a:srgbClr val="EFF6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48" name="TextBox 5"/>
          <p:cNvSpPr/>
          <p:nvPr/>
        </p:nvSpPr>
        <p:spPr>
          <a:xfrm>
            <a:off x="457200" y="6583680"/>
            <a:ext cx="8229240" cy="273960"/>
          </a:xfrm>
          <a:prstGeom prst="rect">
            <a:avLst/>
          </a:prstGeom>
          <a:noFill/>
          <a:ln w="0">
            <a:noFill/>
          </a:ln>
        </p:spPr>
        <p:style>
          <a:lnRef idx="0"/>
          <a:fillRef idx="0"/>
          <a:effectRef idx="0"/>
          <a:fontRef idx="minor"/>
        </p:style>
        <p:txBody>
          <a:bodyPr lIns="45720" tIns="45000" rIns="45720" bIns="45000" anchor="ctr">
            <a:spAutoFit/>
          </a:bodyPr>
          <a:p>
            <a:pPr defTabSz="457200">
              <a:lnSpc>
                <a:spcPct val="100000"/>
              </a:lnSpc>
            </a:pPr>
            <a:r>
              <a:rPr lang="en-US" sz="1000" b="0" u="none" strike="noStrike">
                <a:solidFill>
                  <a:srgbClr val="6B7280"/>
                </a:solidFill>
                <a:effectLst/>
                <a:uFillTx/>
                <a:latin typeface="Segoe UI"/>
              </a:rPr>
              <a:t>Que nous apprennent 21 000 offres d'emploi ?  •  Théo Mousnier</a:t>
            </a:r>
            <a:endParaRPr lang="fr-FR" sz="1000" b="0" u="none" strike="noStrike">
              <a:solidFill>
                <a:srgbClr val="000000"/>
              </a:solidFill>
              <a:effectLst/>
              <a:uFillTx/>
              <a:latin typeface="Arial"/>
            </a:endParaRPr>
          </a:p>
        </p:txBody>
      </p:sp>
      <p:sp>
        <p:nvSpPr>
          <p:cNvPr id="349" name="TextBox 6"/>
          <p:cNvSpPr/>
          <p:nvPr/>
        </p:nvSpPr>
        <p:spPr>
          <a:xfrm>
            <a:off x="10789920" y="6583680"/>
            <a:ext cx="1005480" cy="273960"/>
          </a:xfrm>
          <a:prstGeom prst="rect">
            <a:avLst/>
          </a:prstGeom>
          <a:noFill/>
          <a:ln w="0">
            <a:noFill/>
          </a:ln>
        </p:spPr>
        <p:style>
          <a:lnRef idx="0"/>
          <a:fillRef idx="0"/>
          <a:effectRef idx="0"/>
          <a:fontRef idx="minor"/>
        </p:style>
        <p:txBody>
          <a:bodyPr lIns="45720" tIns="45000" rIns="45720" bIns="45000" anchor="ctr">
            <a:spAutoFit/>
          </a:bodyPr>
          <a:p>
            <a:pPr algn="r" defTabSz="457200">
              <a:lnSpc>
                <a:spcPct val="100000"/>
              </a:lnSpc>
            </a:pPr>
            <a:r>
              <a:rPr lang="en-US" sz="1000" b="0" u="none" strike="noStrike">
                <a:solidFill>
                  <a:srgbClr val="6B7280"/>
                </a:solidFill>
                <a:effectLst/>
                <a:uFillTx/>
                <a:latin typeface="Segoe UI"/>
              </a:rPr>
              <a:t>17 / 17</a:t>
            </a:r>
            <a:endParaRPr lang="fr-FR" sz="1000" b="0" u="none" strike="noStrike">
              <a:solidFill>
                <a:srgbClr val="000000"/>
              </a:solidFill>
              <a:effectLst/>
              <a:uFillTx/>
              <a:latin typeface="Arial"/>
            </a:endParaRPr>
          </a:p>
        </p:txBody>
      </p:sp>
      <p:sp>
        <p:nvSpPr>
          <p:cNvPr id="350" name="Rounded Rectangle 7"/>
          <p:cNvSpPr/>
          <p:nvPr/>
        </p:nvSpPr>
        <p:spPr>
          <a:xfrm>
            <a:off x="548640" y="1280160"/>
            <a:ext cx="3565800" cy="731160"/>
          </a:xfrm>
          <a:prstGeom prst="roundRect">
            <a:avLst>
              <a:gd name="adj" fmla="val 15000"/>
            </a:avLst>
          </a:prstGeom>
          <a:solidFill>
            <a:srgbClr val="16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000" b="1" u="none" strike="noStrike">
                <a:solidFill>
                  <a:srgbClr val="FFFFFF"/>
                </a:solidFill>
                <a:effectLst/>
                <a:uFillTx/>
                <a:latin typeface="Segoe UI"/>
              </a:rPr>
              <a:t>Ce qui fonctionne</a:t>
            </a:r>
            <a:endParaRPr lang="fr-FR" sz="2000" b="0" u="none" strike="noStrike">
              <a:solidFill>
                <a:srgbClr val="FFFFFF"/>
              </a:solidFill>
              <a:effectLst/>
              <a:uFillTx/>
              <a:latin typeface="Arial"/>
            </a:endParaRPr>
          </a:p>
        </p:txBody>
      </p:sp>
      <p:sp>
        <p:nvSpPr>
          <p:cNvPr id="351" name="TextBox 8"/>
          <p:cNvSpPr/>
          <p:nvPr/>
        </p:nvSpPr>
        <p:spPr>
          <a:xfrm>
            <a:off x="640080" y="2194560"/>
            <a:ext cx="347436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600" b="0" u="none" strike="noStrike">
                <a:solidFill>
                  <a:srgbClr val="111827"/>
                </a:solidFill>
                <a:effectLst/>
                <a:uFillTx/>
                <a:latin typeface="Segoe UI"/>
              </a:rPr>
              <a:t>•  Plus de 21 000 offres réelles</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Collecte 100 % automatique</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Erreurs graves corrigées : 0 restante</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Tableau de bord rapide et simple</a:t>
            </a:r>
            <a:endParaRPr lang="fr-FR" sz="1600" b="0" u="none" strike="noStrike">
              <a:solidFill>
                <a:srgbClr val="000000"/>
              </a:solidFill>
              <a:effectLst/>
              <a:uFillTx/>
              <a:latin typeface="Arial"/>
            </a:endParaRPr>
          </a:p>
        </p:txBody>
      </p:sp>
      <p:sp>
        <p:nvSpPr>
          <p:cNvPr id="352" name="Rounded Rectangle 9"/>
          <p:cNvSpPr/>
          <p:nvPr/>
        </p:nvSpPr>
        <p:spPr>
          <a:xfrm>
            <a:off x="4343400" y="1280160"/>
            <a:ext cx="3565800" cy="731160"/>
          </a:xfrm>
          <a:prstGeom prst="roundRect">
            <a:avLst>
              <a:gd name="adj" fmla="val 15000"/>
            </a:avLst>
          </a:prstGeom>
          <a:solidFill>
            <a:srgbClr val="EA580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000" b="1" u="none" strike="noStrike">
                <a:solidFill>
                  <a:srgbClr val="FFFFFF"/>
                </a:solidFill>
                <a:effectLst/>
                <a:uFillTx/>
                <a:latin typeface="Segoe UI"/>
              </a:rPr>
              <a:t>Les limites</a:t>
            </a:r>
            <a:endParaRPr lang="fr-FR" sz="2000" b="0" u="none" strike="noStrike">
              <a:solidFill>
                <a:srgbClr val="FFFFFF"/>
              </a:solidFill>
              <a:effectLst/>
              <a:uFillTx/>
              <a:latin typeface="Arial"/>
            </a:endParaRPr>
          </a:p>
        </p:txBody>
      </p:sp>
      <p:sp>
        <p:nvSpPr>
          <p:cNvPr id="353" name="TextBox 10"/>
          <p:cNvSpPr/>
          <p:nvPr/>
        </p:nvSpPr>
        <p:spPr>
          <a:xfrm>
            <a:off x="4434840" y="2194560"/>
            <a:ext cx="347436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600" b="0" u="none" strike="noStrike">
                <a:solidFill>
                  <a:srgbClr val="111827"/>
                </a:solidFill>
                <a:effectLst/>
                <a:uFillTx/>
                <a:latin typeface="Segoe UI"/>
              </a:rPr>
              <a:t>•  Un quart des offres sans salaire</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Données dépendantes de ce que publient les recruteurs</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Salaire estimé quand il est donné à l'heure</a:t>
            </a:r>
            <a:endParaRPr lang="fr-FR" sz="1600" b="0" u="none" strike="noStrike">
              <a:solidFill>
                <a:srgbClr val="000000"/>
              </a:solidFill>
              <a:effectLst/>
              <a:uFillTx/>
              <a:latin typeface="Arial"/>
            </a:endParaRPr>
          </a:p>
        </p:txBody>
      </p:sp>
      <p:sp>
        <p:nvSpPr>
          <p:cNvPr id="354" name="Rounded Rectangle 11"/>
          <p:cNvSpPr/>
          <p:nvPr/>
        </p:nvSpPr>
        <p:spPr>
          <a:xfrm>
            <a:off x="8138160" y="1280160"/>
            <a:ext cx="3565800" cy="731160"/>
          </a:xfrm>
          <a:prstGeom prst="roundRect">
            <a:avLst>
              <a:gd name="adj" fmla="val 1500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tIns="45000" rIns="54720" bIns="45000" anchor="ctr">
            <a:noAutofit/>
          </a:bodyPr>
          <a:p>
            <a:pPr algn="ctr" defTabSz="457200">
              <a:lnSpc>
                <a:spcPct val="100000"/>
              </a:lnSpc>
            </a:pPr>
            <a:r>
              <a:rPr lang="en-US" sz="2000" b="1" u="none" strike="noStrike">
                <a:solidFill>
                  <a:srgbClr val="FFFFFF"/>
                </a:solidFill>
                <a:effectLst/>
                <a:uFillTx/>
                <a:latin typeface="Segoe UI"/>
              </a:rPr>
              <a:t>Pour aller plus loin</a:t>
            </a:r>
            <a:endParaRPr lang="fr-FR" sz="2000" b="0" u="none" strike="noStrike">
              <a:solidFill>
                <a:srgbClr val="FFFFFF"/>
              </a:solidFill>
              <a:effectLst/>
              <a:uFillTx/>
              <a:latin typeface="Arial"/>
            </a:endParaRPr>
          </a:p>
        </p:txBody>
      </p:sp>
      <p:sp>
        <p:nvSpPr>
          <p:cNvPr id="355" name="TextBox 12"/>
          <p:cNvSpPr/>
          <p:nvPr/>
        </p:nvSpPr>
        <p:spPr>
          <a:xfrm>
            <a:off x="8229600" y="2194560"/>
            <a:ext cx="347436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600" b="0" u="none" strike="noStrike">
                <a:solidFill>
                  <a:srgbClr val="111827"/>
                </a:solidFill>
                <a:effectLst/>
                <a:uFillTx/>
                <a:latin typeface="Segoe UI"/>
              </a:rPr>
              <a:t>•  Suivre l'évolution mois après mois</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Alertes en cas de panne</a:t>
            </a:r>
            <a:endParaRPr lang="fr-FR" sz="1600" b="0" u="none" strike="noStrike">
              <a:solidFill>
                <a:srgbClr val="000000"/>
              </a:solidFill>
              <a:effectLst/>
              <a:uFillTx/>
              <a:latin typeface="Arial"/>
            </a:endParaRPr>
          </a:p>
          <a:p>
            <a:pPr defTabSz="457200">
              <a:lnSpc>
                <a:spcPct val="100000"/>
              </a:lnSpc>
              <a:spcAft>
                <a:spcPts val="799"/>
              </a:spcAft>
            </a:pPr>
            <a:r>
              <a:rPr lang="en-US" sz="1600" b="0" u="none" strike="noStrike">
                <a:solidFill>
                  <a:srgbClr val="111827"/>
                </a:solidFill>
                <a:effectLst/>
                <a:uFillTx/>
                <a:latin typeface="Segoe UI"/>
              </a:rPr>
              <a:t>•  Comparer les régions entre elles</a:t>
            </a:r>
            <a:endParaRPr lang="fr-FR" sz="1600" b="0" u="none" strike="noStrike">
              <a:solidFill>
                <a:srgbClr val="000000"/>
              </a:solidFill>
              <a:effectLst/>
              <a:uFillTx/>
              <a:latin typeface="Arial"/>
            </a:endParaRPr>
          </a:p>
        </p:txBody>
      </p:sp>
      <p:sp>
        <p:nvSpPr>
          <p:cNvPr id="356" name="TextBox 13"/>
          <p:cNvSpPr/>
          <p:nvPr/>
        </p:nvSpPr>
        <p:spPr>
          <a:xfrm>
            <a:off x="548640" y="5760720"/>
            <a:ext cx="11155320" cy="639720"/>
          </a:xfrm>
          <a:prstGeom prst="rect">
            <a:avLst/>
          </a:prstGeom>
          <a:noFill/>
          <a:ln w="0">
            <a:noFill/>
          </a:ln>
        </p:spPr>
        <p:style>
          <a:lnRef idx="0"/>
          <a:fillRef idx="0"/>
          <a:effectRef idx="0"/>
          <a:fontRef idx="minor"/>
        </p:style>
        <p:txBody>
          <a:bodyPr lIns="45720" tIns="45000" rIns="45720" bIns="45000" anchor="t">
            <a:spAutoFit/>
          </a:bodyPr>
          <a:p>
            <a:pPr algn="ctr" defTabSz="457200">
              <a:lnSpc>
                <a:spcPct val="100000"/>
              </a:lnSpc>
            </a:pPr>
            <a:r>
              <a:rPr lang="en-US" sz="2600" b="1" u="none" strike="noStrike">
                <a:solidFill>
                  <a:srgbClr val="1E3A8A"/>
                </a:solidFill>
                <a:effectLst/>
                <a:uFillTx/>
                <a:latin typeface="Segoe UI"/>
              </a:rPr>
              <a:t>Merci — Questions ?</a:t>
            </a:r>
            <a:endParaRPr lang="fr-FR" sz="2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itchFamily="0" charset="1"/>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LibreOffice/26.8.0.3$Windows_X86_64 LibreOffice_project/bce0998afefdbc355585ca324285661a2170ba77</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fr-FR</dc:language>
  <cp:lastModifiedBy/>
  <dcterms:modified xsi:type="dcterms:W3CDTF">2026-09-28T11:58:13Z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